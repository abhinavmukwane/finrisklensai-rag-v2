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74" r:id="rId30"/>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 Id="rId30"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FinRiskLens — evidence-based fraud detection and risk analysis for MSME lending, built on Google Cloud by team AS FinTech Developer.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RBI figures from the RBI Annual Report 2024-25 (released May 2025), date-of-reporting basis.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Steps 2–5 run in a background worker whenever a customer shares a source or uploads a document; the Risk Lens refreshes until they finish. Step 7 runs only for a Clear customer — a confirmed finding blocks it — and only an accepted Approve can be sent.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Customer documents are stored, read and embedded in Mumbai; only Gemini Pro (investigator and credit decision) and the Flash reranker run on the global endpoint, and Pro sees extracted facts, never the files.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All figures are planning estimates for budgeting. Gemini usage scales with pages read, investigations run and credit decisions made.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Extraction accuracy: two consecutive live runs on 14 scenarios (17 documents, 1,298 rows) scored 99.8% and 100%; the 6 linked-applicant scenarios scored 428/428. The eval also caught a model drift (95.6%) that day-first date guidance and an arithmetic-triggered re-read fixed.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17.png"/><Relationship Id="rId11" Type="http://schemas.openxmlformats.org/officeDocument/2006/relationships/image" Target="../media/image15.png"/><Relationship Id="rId12" Type="http://schemas.openxmlformats.org/officeDocument/2006/relationships/image" Target="../media/image6.png"/><Relationship Id="rId13" Type="http://schemas.openxmlformats.org/officeDocument/2006/relationships/image" Target="../media/image12.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5.png"/><Relationship Id="rId6"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29.png"/><Relationship Id="rId6" Type="http://schemas.openxmlformats.org/officeDocument/2006/relationships/image" Target="../media/image9.png"/><Relationship Id="rId7" Type="http://schemas.openxmlformats.org/officeDocument/2006/relationships/image" Target="../media/image30.png"/><Relationship Id="rId8"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hyperlink" Target="https://github.com/abhinavmukwane/FinRiskLensAI-RAG-V2" TargetMode="External"/><Relationship Id="rId6" Type="http://schemas.openxmlformats.org/officeDocument/2006/relationships/hyperlink" Target="https://finrisklensai.cloud.run" TargetMode="External"/><Relationship Id="rId7" Type="http://schemas.openxmlformats.org/officeDocument/2006/relationships/image" Target="../media/image32.png"/><Relationship Id="rId8"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lang="en-GB" sz="1800" b="1">
                <a:latin typeface="Google Sans Flex"/>
                <a:ea typeface="Google Sans Flex"/>
                <a:cs typeface="Google Sans Flex"/>
                <a:sym typeface="Google Sans Flex"/>
              </a:rPr>
              <a:t>AS FinTech Developer</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lang="en-GB" sz="1800" b="1">
                <a:latin typeface="Google Sans Flex"/>
                <a:ea typeface="Google Sans Flex"/>
                <a:cs typeface="Google Sans Flex"/>
                <a:sym typeface="Google Sans Flex"/>
              </a:rPr>
              <a:t>Abhinav Mukwane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lang="en-GB" sz="1600" b="1">
                <a:latin typeface="Google Sans Flex"/>
                <a:ea typeface="Google Sans Flex"/>
                <a:cs typeface="Google Sans Flex"/>
                <a:sym typeface="Google Sans Flex"/>
              </a:rPr>
              <a:t>Intelligent Risk, Fraud &amp; Financial Experiences (BFSI). </a:t>
            </a:r>
            <a:r>
              <a:rPr lang="en-GB" sz="1600" b="0">
                <a:latin typeface="Google Sans Flex"/>
                <a:ea typeface="Google Sans Flex"/>
                <a:cs typeface="Google Sans Flex"/>
                <a:sym typeface="Google Sans Flex"/>
              </a:rPr>
              <a:t>FinRiskLens — fraud detection and risk analysis for every MSME customer, from shared data to a grounded AI credit decision</a:t>
            </a:r>
            <a:endParaRPr sz="1800">
              <a:latin typeface="Google Sans Flex"/>
              <a:ea typeface="Google Sans Flex"/>
              <a:cs typeface="Google Sans Flex"/>
              <a:sym typeface="Google Sans Flex"/>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stat_fraud"/>
          <p:cNvSpPr/>
          <p:nvPr/>
        </p:nvSpPr>
        <p:spPr>
          <a:xfrm>
            <a:off x="320040" y="1188720"/>
            <a:ext cx="2011680" cy="105156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429768" y="1280160"/>
            <a:ext cx="1792224" cy="457200"/>
          </a:xfrm>
          <a:prstGeom prst="rect">
            <a:avLst/>
          </a:prstGeom>
          <a:noFill/>
        </p:spPr>
        <p:txBody>
          <a:bodyPr wrap="square" anchor="ctr" lIns="0" rIns="0" tIns="0" bIns="0">
            <a:noAutofit/>
          </a:bodyPr>
          <a:lstStyle/>
          <a:p>
            <a:pPr algn="l">
              <a:spcBef>
                <a:spcPts val="0"/>
              </a:spcBef>
              <a:spcAft>
                <a:spcPts val="300"/>
              </a:spcAft>
            </a:pPr>
            <a:r>
              <a:rPr sz="2400" b="1" i="0">
                <a:solidFill>
                  <a:srgbClr val="C5221F"/>
                </a:solidFill>
                <a:latin typeface="Arial"/>
              </a:rPr>
              <a:t>₹36,014 cr</a:t>
            </a:r>
          </a:p>
        </p:txBody>
      </p:sp>
      <p:sp>
        <p:nvSpPr>
          <p:cNvPr id="74" name="TextBox 73"/>
          <p:cNvSpPr txBox="1"/>
          <p:nvPr/>
        </p:nvSpPr>
        <p:spPr>
          <a:xfrm>
            <a:off x="429768" y="1755648"/>
            <a:ext cx="1792224" cy="429767"/>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involved in bank frauds in FY25</a:t>
            </a:r>
          </a:p>
        </p:txBody>
      </p:sp>
      <p:sp>
        <p:nvSpPr>
          <p:cNvPr id="75" name="stat_loans"/>
          <p:cNvSpPr/>
          <p:nvPr/>
        </p:nvSpPr>
        <p:spPr>
          <a:xfrm>
            <a:off x="2468880" y="1188720"/>
            <a:ext cx="2011680" cy="105156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2578608" y="1280160"/>
            <a:ext cx="1792224" cy="457200"/>
          </a:xfrm>
          <a:prstGeom prst="rect">
            <a:avLst/>
          </a:prstGeom>
          <a:noFill/>
        </p:spPr>
        <p:txBody>
          <a:bodyPr wrap="square" anchor="ctr" lIns="0" rIns="0" tIns="0" bIns="0">
            <a:noAutofit/>
          </a:bodyPr>
          <a:lstStyle/>
          <a:p>
            <a:pPr algn="l">
              <a:spcBef>
                <a:spcPts val="0"/>
              </a:spcBef>
              <a:spcAft>
                <a:spcPts val="300"/>
              </a:spcAft>
            </a:pPr>
            <a:r>
              <a:rPr sz="2400" b="1" i="0">
                <a:solidFill>
                  <a:srgbClr val="C5221F"/>
                </a:solidFill>
                <a:latin typeface="Arial"/>
              </a:rPr>
              <a:t>₹33,148 cr</a:t>
            </a:r>
          </a:p>
        </p:txBody>
      </p:sp>
      <p:sp>
        <p:nvSpPr>
          <p:cNvPr id="77" name="TextBox 76"/>
          <p:cNvSpPr txBox="1"/>
          <p:nvPr/>
        </p:nvSpPr>
        <p:spPr>
          <a:xfrm>
            <a:off x="2578608" y="1755648"/>
            <a:ext cx="1792224" cy="429767"/>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of it in loans — the largest category</a:t>
            </a:r>
          </a:p>
        </p:txBody>
      </p:sp>
      <p:sp>
        <p:nvSpPr>
          <p:cNvPr id="78" name="TextBox 77"/>
          <p:cNvSpPr txBox="1"/>
          <p:nvPr/>
        </p:nvSpPr>
        <p:spPr>
          <a:xfrm>
            <a:off x="320040" y="2304288"/>
            <a:ext cx="4160520" cy="228600"/>
          </a:xfrm>
          <a:prstGeom prst="rect">
            <a:avLst/>
          </a:prstGeom>
          <a:noFill/>
        </p:spPr>
        <p:txBody>
          <a:bodyPr wrap="square" anchor="t" lIns="0" rIns="0" tIns="0" bIns="0">
            <a:noAutofit/>
          </a:bodyPr>
          <a:lstStyle/>
          <a:p>
            <a:pPr algn="l">
              <a:spcBef>
                <a:spcPts val="0"/>
              </a:spcBef>
              <a:spcAft>
                <a:spcPts val="300"/>
              </a:spcAft>
            </a:pPr>
            <a:r>
              <a:rPr sz="850" b="0" i="0">
                <a:solidFill>
                  <a:srgbClr val="5F6368"/>
                </a:solidFill>
                <a:latin typeface="Arial"/>
              </a:rPr>
              <a:t>Source: RBI Annual Report 2024-25 (date of reporting)</a:t>
            </a:r>
          </a:p>
        </p:txBody>
      </p:sp>
      <p:sp>
        <p:nvSpPr>
          <p:cNvPr id="79" name="brief_text"/>
          <p:cNvSpPr txBox="1"/>
          <p:nvPr/>
        </p:nvSpPr>
        <p:spPr>
          <a:xfrm>
            <a:off x="320040" y="2606040"/>
            <a:ext cx="4160520" cy="2331720"/>
          </a:xfrm>
          <a:prstGeom prst="rect">
            <a:avLst/>
          </a:prstGeom>
          <a:noFill/>
        </p:spPr>
        <p:txBody>
          <a:bodyPr wrap="square" anchor="t" lIns="0" rIns="0" tIns="0" bIns="0">
            <a:noAutofit/>
          </a:bodyPr>
          <a:lstStyle/>
          <a:p>
            <a:pPr algn="l">
              <a:spcBef>
                <a:spcPts val="0"/>
              </a:spcBef>
              <a:spcAft>
                <a:spcPts val="800"/>
              </a:spcAft>
            </a:pPr>
            <a:r>
              <a:rPr sz="1150" b="1" i="0">
                <a:solidFill>
                  <a:srgbClr val="202124"/>
                </a:solidFill>
                <a:latin typeface="Arial"/>
              </a:rPr>
              <a:t>MSME loans are decided on shared data and uploaded documents. </a:t>
            </a:r>
            <a:r>
              <a:rPr sz="1150" b="0" i="0">
                <a:solidFill>
                  <a:srgbClr val="202124"/>
                </a:solidFill>
                <a:latin typeface="Arial"/>
              </a:rPr>
              <a:t>A statement or ITR can be edited in minutes; one fabricator can supply many applicants.</a:t>
            </a:r>
          </a:p>
          <a:p>
            <a:pPr algn="l">
              <a:spcBef>
                <a:spcPts val="0"/>
              </a:spcBef>
              <a:spcAft>
                <a:spcPts val="800"/>
              </a:spcAft>
            </a:pPr>
            <a:r>
              <a:rPr sz="1150" b="1" i="0">
                <a:solidFill>
                  <a:srgbClr val="7A1230"/>
                </a:solidFill>
                <a:latin typeface="Arial"/>
              </a:rPr>
              <a:t>FinRiskLens gives the bank one fraud and risk page per customer. </a:t>
            </a:r>
            <a:r>
              <a:rPr sz="1150" b="0" i="0">
                <a:solidFill>
                  <a:srgbClr val="202124"/>
                </a:solidFill>
                <a:latin typeface="Arial"/>
              </a:rPr>
              <a:t>Customers share bank data through Account Aggregator, fetch GST, ITR and MCA, and upload documents. Gemini reads every page, code checks the arithmetic and the bank's own record, and the network lens links related customers.</a:t>
            </a:r>
          </a:p>
          <a:p>
            <a:pPr algn="l">
              <a:spcBef>
                <a:spcPts val="0"/>
              </a:spcBef>
              <a:spcAft>
                <a:spcPts val="300"/>
              </a:spcAft>
            </a:pPr>
            <a:r>
              <a:rPr sz="1150" b="0" i="0">
                <a:solidFill>
                  <a:srgbClr val="202124"/>
                </a:solidFill>
                <a:latin typeface="Arial"/>
              </a:rPr>
              <a:t>Every finding links to its evidence. A Clear customer gets </a:t>
            </a:r>
            <a:r>
              <a:rPr sz="1150" b="1" i="0">
                <a:solidFill>
                  <a:srgbClr val="202124"/>
                </a:solidFill>
                <a:latin typeface="Arial"/>
              </a:rPr>
              <a:t>a grounded AI credit decision, sent to the LOS, ULI (OCEN) or ONDC.</a:t>
            </a:r>
          </a:p>
        </p:txBody>
      </p:sp>
      <p:sp>
        <p:nvSpPr>
          <p:cNvPr id="80" name="lens_0"/>
          <p:cNvSpPr/>
          <p:nvPr/>
        </p:nvSpPr>
        <p:spPr>
          <a:xfrm>
            <a:off x="4709160" y="1188720"/>
            <a:ext cx="4114800" cy="82296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lens_0_circle"/>
          <p:cNvSpPr/>
          <p:nvPr/>
        </p:nvSpPr>
        <p:spPr>
          <a:xfrm>
            <a:off x="4846320" y="1389888"/>
            <a:ext cx="420624" cy="420624"/>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lens_0_icon" descr="doc_w.png"/>
          <p:cNvPicPr>
            <a:picLocks noChangeAspect="1"/>
          </p:cNvPicPr>
          <p:nvPr/>
        </p:nvPicPr>
        <p:blipFill>
          <a:blip r:embed="rId4"/>
          <a:stretch>
            <a:fillRect/>
          </a:stretch>
        </p:blipFill>
        <p:spPr>
          <a:xfrm>
            <a:off x="4938857" y="1482425"/>
            <a:ext cx="235549" cy="235549"/>
          </a:xfrm>
          <a:prstGeom prst="rect">
            <a:avLst/>
          </a:prstGeom>
        </p:spPr>
      </p:pic>
      <p:sp>
        <p:nvSpPr>
          <p:cNvPr id="83" name="TextBox 82"/>
          <p:cNvSpPr txBox="1"/>
          <p:nvPr/>
        </p:nvSpPr>
        <p:spPr>
          <a:xfrm>
            <a:off x="5413248" y="1298448"/>
            <a:ext cx="3291840" cy="274320"/>
          </a:xfrm>
          <a:prstGeom prst="rect">
            <a:avLst/>
          </a:prstGeom>
          <a:noFill/>
        </p:spPr>
        <p:txBody>
          <a:bodyPr wrap="square" anchor="t" lIns="0" rIns="0" tIns="0" bIns="0">
            <a:noAutofit/>
          </a:bodyPr>
          <a:lstStyle/>
          <a:p>
            <a:pPr algn="l">
              <a:spcBef>
                <a:spcPts val="0"/>
              </a:spcBef>
              <a:spcAft>
                <a:spcPts val="300"/>
              </a:spcAft>
            </a:pPr>
            <a:r>
              <a:rPr sz="1200" b="1" i="0">
                <a:solidFill>
                  <a:srgbClr val="202124"/>
                </a:solidFill>
                <a:latin typeface="Arial"/>
              </a:rPr>
              <a:t>Every source, one page</a:t>
            </a:r>
          </a:p>
        </p:txBody>
      </p:sp>
      <p:sp>
        <p:nvSpPr>
          <p:cNvPr id="84" name="TextBox 83"/>
          <p:cNvSpPr txBox="1"/>
          <p:nvPr/>
        </p:nvSpPr>
        <p:spPr>
          <a:xfrm>
            <a:off x="5413248" y="1572768"/>
            <a:ext cx="3291840" cy="384048"/>
          </a:xfrm>
          <a:prstGeom prst="rect">
            <a:avLst/>
          </a:prstGeom>
          <a:noFill/>
        </p:spPr>
        <p:txBody>
          <a:bodyPr wrap="square" anchor="t" lIns="0" rIns="0" tIns="0" bIns="0">
            <a:noAutofit/>
          </a:bodyPr>
          <a:lstStyle/>
          <a:p>
            <a:pPr algn="l">
              <a:spcBef>
                <a:spcPts val="0"/>
              </a:spcBef>
              <a:spcAft>
                <a:spcPts val="300"/>
              </a:spcAft>
            </a:pPr>
            <a:r>
              <a:rPr sz="1050" b="0" i="0">
                <a:solidFill>
                  <a:srgbClr val="5F6368"/>
                </a:solidFill>
                <a:latin typeface="Arial"/>
              </a:rPr>
              <a:t>Udyam, GST, bank, ITR, MCA and uploads, section by section</a:t>
            </a:r>
          </a:p>
        </p:txBody>
      </p:sp>
      <p:sp>
        <p:nvSpPr>
          <p:cNvPr id="85" name="lens_1"/>
          <p:cNvSpPr/>
          <p:nvPr/>
        </p:nvSpPr>
        <p:spPr>
          <a:xfrm>
            <a:off x="4709160" y="2130552"/>
            <a:ext cx="4114800" cy="82296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lens_1_circle"/>
          <p:cNvSpPr/>
          <p:nvPr/>
        </p:nvSpPr>
        <p:spPr>
          <a:xfrm>
            <a:off x="4846320" y="2331720"/>
            <a:ext cx="420624" cy="420624"/>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lens_1_icon" descr="bank_w.png"/>
          <p:cNvPicPr>
            <a:picLocks noChangeAspect="1"/>
          </p:cNvPicPr>
          <p:nvPr/>
        </p:nvPicPr>
        <p:blipFill>
          <a:blip r:embed="rId5"/>
          <a:stretch>
            <a:fillRect/>
          </a:stretch>
        </p:blipFill>
        <p:spPr>
          <a:xfrm>
            <a:off x="4938857" y="2424257"/>
            <a:ext cx="235549" cy="235549"/>
          </a:xfrm>
          <a:prstGeom prst="rect">
            <a:avLst/>
          </a:prstGeom>
        </p:spPr>
      </p:pic>
      <p:sp>
        <p:nvSpPr>
          <p:cNvPr id="88" name="TextBox 87"/>
          <p:cNvSpPr txBox="1"/>
          <p:nvPr/>
        </p:nvSpPr>
        <p:spPr>
          <a:xfrm>
            <a:off x="5413248" y="2240280"/>
            <a:ext cx="3291840" cy="274320"/>
          </a:xfrm>
          <a:prstGeom prst="rect">
            <a:avLst/>
          </a:prstGeom>
          <a:noFill/>
        </p:spPr>
        <p:txBody>
          <a:bodyPr wrap="square" anchor="t" lIns="0" rIns="0" tIns="0" bIns="0">
            <a:noAutofit/>
          </a:bodyPr>
          <a:lstStyle/>
          <a:p>
            <a:pPr algn="l">
              <a:spcBef>
                <a:spcPts val="0"/>
              </a:spcBef>
              <a:spcAft>
                <a:spcPts val="300"/>
              </a:spcAft>
            </a:pPr>
            <a:r>
              <a:rPr sz="1200" b="1" i="0">
                <a:solidFill>
                  <a:srgbClr val="202124"/>
                </a:solidFill>
                <a:latin typeface="Arial"/>
              </a:rPr>
              <a:t>The bank's own record</a:t>
            </a:r>
          </a:p>
        </p:txBody>
      </p:sp>
      <p:sp>
        <p:nvSpPr>
          <p:cNvPr id="89" name="TextBox 88"/>
          <p:cNvSpPr txBox="1"/>
          <p:nvPr/>
        </p:nvSpPr>
        <p:spPr>
          <a:xfrm>
            <a:off x="5413248" y="2514600"/>
            <a:ext cx="3291840" cy="384048"/>
          </a:xfrm>
          <a:prstGeom prst="rect">
            <a:avLst/>
          </a:prstGeom>
          <a:noFill/>
        </p:spPr>
        <p:txBody>
          <a:bodyPr wrap="square" anchor="t" lIns="0" rIns="0" tIns="0" bIns="0">
            <a:noAutofit/>
          </a:bodyPr>
          <a:lstStyle/>
          <a:p>
            <a:pPr algn="l">
              <a:spcBef>
                <a:spcPts val="0"/>
              </a:spcBef>
              <a:spcAft>
                <a:spcPts val="300"/>
              </a:spcAft>
            </a:pPr>
            <a:r>
              <a:rPr sz="1050" b="0" i="0">
                <a:solidFill>
                  <a:srgbClr val="5F6368"/>
                </a:solidFill>
                <a:latin typeface="Arial"/>
              </a:rPr>
              <a:t>Uploaded statements against the Account Aggregator feed</a:t>
            </a:r>
          </a:p>
        </p:txBody>
      </p:sp>
      <p:sp>
        <p:nvSpPr>
          <p:cNvPr id="90" name="lens_2"/>
          <p:cNvSpPr/>
          <p:nvPr/>
        </p:nvSpPr>
        <p:spPr>
          <a:xfrm>
            <a:off x="4709160" y="3072384"/>
            <a:ext cx="4114800" cy="82296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lens_2_circle"/>
          <p:cNvSpPr/>
          <p:nvPr/>
        </p:nvSpPr>
        <p:spPr>
          <a:xfrm>
            <a:off x="4846320" y="3273552"/>
            <a:ext cx="420624" cy="420624"/>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lens_2_icon" descr="ring_w.png"/>
          <p:cNvPicPr>
            <a:picLocks noChangeAspect="1"/>
          </p:cNvPicPr>
          <p:nvPr/>
        </p:nvPicPr>
        <p:blipFill>
          <a:blip r:embed="rId6"/>
          <a:stretch>
            <a:fillRect/>
          </a:stretch>
        </p:blipFill>
        <p:spPr>
          <a:xfrm>
            <a:off x="4938857" y="3366089"/>
            <a:ext cx="235549" cy="235549"/>
          </a:xfrm>
          <a:prstGeom prst="rect">
            <a:avLst/>
          </a:prstGeom>
        </p:spPr>
      </p:pic>
      <p:sp>
        <p:nvSpPr>
          <p:cNvPr id="93" name="TextBox 92"/>
          <p:cNvSpPr txBox="1"/>
          <p:nvPr/>
        </p:nvSpPr>
        <p:spPr>
          <a:xfrm>
            <a:off x="5413248" y="3182112"/>
            <a:ext cx="3291840" cy="274320"/>
          </a:xfrm>
          <a:prstGeom prst="rect">
            <a:avLst/>
          </a:prstGeom>
          <a:noFill/>
        </p:spPr>
        <p:txBody>
          <a:bodyPr wrap="square" anchor="t" lIns="0" rIns="0" tIns="0" bIns="0">
            <a:noAutofit/>
          </a:bodyPr>
          <a:lstStyle/>
          <a:p>
            <a:pPr algn="l">
              <a:spcBef>
                <a:spcPts val="0"/>
              </a:spcBef>
              <a:spcAft>
                <a:spcPts val="300"/>
              </a:spcAft>
            </a:pPr>
            <a:r>
              <a:rPr sz="1200" b="1" i="0">
                <a:solidFill>
                  <a:srgbClr val="202124"/>
                </a:solidFill>
                <a:latin typeface="Arial"/>
              </a:rPr>
              <a:t>The network</a:t>
            </a:r>
          </a:p>
        </p:txBody>
      </p:sp>
      <p:sp>
        <p:nvSpPr>
          <p:cNvPr id="94" name="TextBox 93"/>
          <p:cNvSpPr txBox="1"/>
          <p:nvPr/>
        </p:nvSpPr>
        <p:spPr>
          <a:xfrm>
            <a:off x="5413248" y="3456432"/>
            <a:ext cx="3291840" cy="384048"/>
          </a:xfrm>
          <a:prstGeom prst="rect">
            <a:avLst/>
          </a:prstGeom>
          <a:noFill/>
        </p:spPr>
        <p:txBody>
          <a:bodyPr wrap="square" anchor="t" lIns="0" rIns="0" tIns="0" bIns="0">
            <a:noAutofit/>
          </a:bodyPr>
          <a:lstStyle/>
          <a:p>
            <a:pPr algn="l">
              <a:spcBef>
                <a:spcPts val="0"/>
              </a:spcBef>
              <a:spcAft>
                <a:spcPts val="300"/>
              </a:spcAft>
            </a:pPr>
            <a:r>
              <a:rPr sz="1050" b="0" i="0">
                <a:solidFill>
                  <a:srgbClr val="5F6368"/>
                </a:solidFill>
                <a:latin typeface="Arial"/>
              </a:rPr>
              <a:t>Shared directors, contacts and files; circular GST trading</a:t>
            </a:r>
          </a:p>
        </p:txBody>
      </p:sp>
      <p:sp>
        <p:nvSpPr>
          <p:cNvPr id="95" name="lens_3"/>
          <p:cNvSpPr/>
          <p:nvPr/>
        </p:nvSpPr>
        <p:spPr>
          <a:xfrm>
            <a:off x="4709160" y="4014215"/>
            <a:ext cx="4114800" cy="82296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lens_3_circle"/>
          <p:cNvSpPr/>
          <p:nvPr/>
        </p:nvSpPr>
        <p:spPr>
          <a:xfrm>
            <a:off x="4846320" y="4215383"/>
            <a:ext cx="420624" cy="420624"/>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lens_3_icon" descr="bot_w.png"/>
          <p:cNvPicPr>
            <a:picLocks noChangeAspect="1"/>
          </p:cNvPicPr>
          <p:nvPr/>
        </p:nvPicPr>
        <p:blipFill>
          <a:blip r:embed="rId7"/>
          <a:stretch>
            <a:fillRect/>
          </a:stretch>
        </p:blipFill>
        <p:spPr>
          <a:xfrm>
            <a:off x="4938857" y="4307921"/>
            <a:ext cx="235549" cy="235549"/>
          </a:xfrm>
          <a:prstGeom prst="rect">
            <a:avLst/>
          </a:prstGeom>
        </p:spPr>
      </p:pic>
      <p:sp>
        <p:nvSpPr>
          <p:cNvPr id="98" name="TextBox 97"/>
          <p:cNvSpPr txBox="1"/>
          <p:nvPr/>
        </p:nvSpPr>
        <p:spPr>
          <a:xfrm>
            <a:off x="5413248" y="4123944"/>
            <a:ext cx="3291840" cy="274320"/>
          </a:xfrm>
          <a:prstGeom prst="rect">
            <a:avLst/>
          </a:prstGeom>
          <a:noFill/>
        </p:spPr>
        <p:txBody>
          <a:bodyPr wrap="square" anchor="t" lIns="0" rIns="0" tIns="0" bIns="0">
            <a:noAutofit/>
          </a:bodyPr>
          <a:lstStyle/>
          <a:p>
            <a:pPr algn="l">
              <a:spcBef>
                <a:spcPts val="0"/>
              </a:spcBef>
              <a:spcAft>
                <a:spcPts val="300"/>
              </a:spcAft>
            </a:pPr>
            <a:r>
              <a:rPr sz="1200" b="1" i="0">
                <a:solidFill>
                  <a:srgbClr val="202124"/>
                </a:solidFill>
                <a:latin typeface="Arial"/>
              </a:rPr>
              <a:t>Grounded AI decisions</a:t>
            </a:r>
          </a:p>
        </p:txBody>
      </p:sp>
      <p:sp>
        <p:nvSpPr>
          <p:cNvPr id="99" name="TextBox 98"/>
          <p:cNvSpPr txBox="1"/>
          <p:nvPr/>
        </p:nvSpPr>
        <p:spPr>
          <a:xfrm>
            <a:off x="5413248" y="4398264"/>
            <a:ext cx="3291840" cy="384048"/>
          </a:xfrm>
          <a:prstGeom prst="rect">
            <a:avLst/>
          </a:prstGeom>
          <a:noFill/>
        </p:spPr>
        <p:txBody>
          <a:bodyPr wrap="square" anchor="t" lIns="0" rIns="0" tIns="0" bIns="0">
            <a:noAutofit/>
          </a:bodyPr>
          <a:lstStyle/>
          <a:p>
            <a:pPr algn="l">
              <a:spcBef>
                <a:spcPts val="0"/>
              </a:spcBef>
              <a:spcAft>
                <a:spcPts val="300"/>
              </a:spcAft>
            </a:pPr>
            <a:r>
              <a:rPr sz="1050" b="0" i="0">
                <a:solidFill>
                  <a:srgbClr val="5F6368"/>
                </a:solidFill>
                <a:latin typeface="Arial"/>
              </a:rPr>
              <a:t>Investigation and credit decision; every figure traced</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sp>
        <p:nvSpPr>
          <p:cNvPr id="80" name="opp_0"/>
          <p:cNvSpPr/>
          <p:nvPr/>
        </p:nvSpPr>
        <p:spPr>
          <a:xfrm>
            <a:off x="320040" y="1188720"/>
            <a:ext cx="2743200" cy="2788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pp_0_circle"/>
          <p:cNvSpPr/>
          <p:nvPr/>
        </p:nvSpPr>
        <p:spPr>
          <a:xfrm>
            <a:off x="457200" y="1325880"/>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2" name="opp_0_icon" descr="search_w.png"/>
          <p:cNvPicPr>
            <a:picLocks noChangeAspect="1"/>
          </p:cNvPicPr>
          <p:nvPr/>
        </p:nvPicPr>
        <p:blipFill>
          <a:blip r:embed="rId5"/>
          <a:stretch>
            <a:fillRect/>
          </a:stretch>
        </p:blipFill>
        <p:spPr>
          <a:xfrm>
            <a:off x="541690" y="1410370"/>
            <a:ext cx="215066" cy="215066"/>
          </a:xfrm>
          <a:prstGeom prst="rect">
            <a:avLst/>
          </a:prstGeom>
        </p:spPr>
      </p:pic>
      <p:sp>
        <p:nvSpPr>
          <p:cNvPr id="83" name="TextBox 82"/>
          <p:cNvSpPr txBox="1"/>
          <p:nvPr/>
        </p:nvSpPr>
        <p:spPr>
          <a:xfrm>
            <a:off x="941832" y="1325880"/>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How it differs from existing tools</a:t>
            </a:r>
          </a:p>
        </p:txBody>
      </p:sp>
      <p:sp>
        <p:nvSpPr>
          <p:cNvPr id="84" name="TextBox 83"/>
          <p:cNvSpPr txBox="1"/>
          <p:nvPr/>
        </p:nvSpPr>
        <p:spPr>
          <a:xfrm>
            <a:off x="457200" y="1792224"/>
            <a:ext cx="2468880" cy="209397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50" b="1" i="0">
                <a:solidFill>
                  <a:srgbClr val="202124"/>
                </a:solidFill>
                <a:latin typeface="Arial"/>
              </a:rPr>
              <a:t>Statement analysers </a:t>
            </a:r>
            <a:r>
              <a:rPr sz="1050" b="0" i="0">
                <a:solidFill>
                  <a:srgbClr val="202124"/>
                </a:solidFill>
                <a:latin typeface="Arial"/>
              </a:rPr>
              <a:t>look at one document — FinRiskLens combines every source of a customer and returns findings with evidence</a:t>
            </a:r>
          </a:p>
          <a:p>
            <a:pPr algn="l" marL="146304" indent="-146304">
              <a:spcBef>
                <a:spcPts val="0"/>
              </a:spcBef>
              <a:spcAft>
                <a:spcPts val="300"/>
              </a:spcAft>
              <a:buFont typeface="Arial"/>
              <a:buChar char="•"/>
            </a:pPr>
            <a:r>
              <a:rPr sz="1050" b="1" i="0">
                <a:solidFill>
                  <a:srgbClr val="202124"/>
                </a:solidFill>
                <a:latin typeface="Arial"/>
              </a:rPr>
              <a:t>Arithmetic checks </a:t>
            </a:r>
            <a:r>
              <a:rPr sz="1050" b="0" i="0">
                <a:solidFill>
                  <a:srgbClr val="202124"/>
                </a:solidFill>
                <a:latin typeface="Arial"/>
              </a:rPr>
              <a:t>pass a careful forgery — FinRiskLens also compares it with the bank's own record</a:t>
            </a:r>
          </a:p>
          <a:p>
            <a:pPr algn="l" marL="146304" indent="-146304">
              <a:spcBef>
                <a:spcPts val="0"/>
              </a:spcBef>
              <a:spcAft>
                <a:spcPts val="300"/>
              </a:spcAft>
              <a:buFont typeface="Arial"/>
              <a:buChar char="•"/>
            </a:pPr>
            <a:r>
              <a:rPr sz="1050" b="1" i="0">
                <a:solidFill>
                  <a:srgbClr val="202124"/>
                </a:solidFill>
                <a:latin typeface="Arial"/>
              </a:rPr>
              <a:t>Single-customer review </a:t>
            </a:r>
            <a:r>
              <a:rPr sz="1050" b="0" i="0">
                <a:solidFill>
                  <a:srgbClr val="202124"/>
                </a:solidFill>
                <a:latin typeface="Arial"/>
              </a:rPr>
              <a:t>misses organised fraud — the network lens links related customers</a:t>
            </a:r>
          </a:p>
        </p:txBody>
      </p:sp>
      <p:sp>
        <p:nvSpPr>
          <p:cNvPr id="85" name="opp_1"/>
          <p:cNvSpPr/>
          <p:nvPr/>
        </p:nvSpPr>
        <p:spPr>
          <a:xfrm>
            <a:off x="3200400" y="1188720"/>
            <a:ext cx="2743200" cy="2788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pp_1_circle"/>
          <p:cNvSpPr/>
          <p:nvPr/>
        </p:nvSpPr>
        <p:spPr>
          <a:xfrm>
            <a:off x="3337560" y="1325880"/>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opp_1_icon" descr="zap_w.png"/>
          <p:cNvPicPr>
            <a:picLocks noChangeAspect="1"/>
          </p:cNvPicPr>
          <p:nvPr/>
        </p:nvPicPr>
        <p:blipFill>
          <a:blip r:embed="rId6"/>
          <a:stretch>
            <a:fillRect/>
          </a:stretch>
        </p:blipFill>
        <p:spPr>
          <a:xfrm>
            <a:off x="3422050" y="1410370"/>
            <a:ext cx="215066" cy="215066"/>
          </a:xfrm>
          <a:prstGeom prst="rect">
            <a:avLst/>
          </a:prstGeom>
        </p:spPr>
      </p:pic>
      <p:sp>
        <p:nvSpPr>
          <p:cNvPr id="88" name="TextBox 87"/>
          <p:cNvSpPr txBox="1"/>
          <p:nvPr/>
        </p:nvSpPr>
        <p:spPr>
          <a:xfrm>
            <a:off x="3822191" y="1325880"/>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How it solves the problem</a:t>
            </a:r>
          </a:p>
        </p:txBody>
      </p:sp>
      <p:sp>
        <p:nvSpPr>
          <p:cNvPr id="89" name="TextBox 88"/>
          <p:cNvSpPr txBox="1"/>
          <p:nvPr/>
        </p:nvSpPr>
        <p:spPr>
          <a:xfrm>
            <a:off x="3337560" y="1792224"/>
            <a:ext cx="2468880" cy="209397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50" b="1" i="0">
                <a:solidFill>
                  <a:srgbClr val="202124"/>
                </a:solidFill>
                <a:latin typeface="Arial"/>
              </a:rPr>
              <a:t>Fast: </a:t>
            </a:r>
            <a:r>
              <a:rPr sz="1050" b="0" i="0">
                <a:solidFill>
                  <a:srgbClr val="202124"/>
                </a:solidFill>
                <a:latin typeface="Arial"/>
              </a:rPr>
              <a:t>a customer is reassessed as soon as a source arrives</a:t>
            </a:r>
          </a:p>
          <a:p>
            <a:pPr algn="l" marL="146304" indent="-146304">
              <a:spcBef>
                <a:spcPts val="0"/>
              </a:spcBef>
              <a:spcAft>
                <a:spcPts val="300"/>
              </a:spcAft>
              <a:buFont typeface="Arial"/>
              <a:buChar char="•"/>
            </a:pPr>
            <a:r>
              <a:rPr sz="1050" b="1" i="0">
                <a:solidFill>
                  <a:srgbClr val="202124"/>
                </a:solidFill>
                <a:latin typeface="Arial"/>
              </a:rPr>
              <a:t>Verifiable: </a:t>
            </a:r>
            <a:r>
              <a:rPr sz="1050" b="0" i="0">
                <a:solidFill>
                  <a:srgbClr val="202124"/>
                </a:solidFill>
                <a:latin typeface="Arial"/>
              </a:rPr>
              <a:t>every finding opens the document at its page and row</a:t>
            </a:r>
          </a:p>
          <a:p>
            <a:pPr algn="l" marL="146304" indent="-146304">
              <a:spcBef>
                <a:spcPts val="0"/>
              </a:spcBef>
              <a:spcAft>
                <a:spcPts val="300"/>
              </a:spcAft>
              <a:buFont typeface="Arial"/>
              <a:buChar char="•"/>
            </a:pPr>
            <a:r>
              <a:rPr sz="1050" b="1" i="0">
                <a:solidFill>
                  <a:srgbClr val="202124"/>
                </a:solidFill>
                <a:latin typeface="Arial"/>
              </a:rPr>
              <a:t>Decisive: </a:t>
            </a:r>
            <a:r>
              <a:rPr sz="1050" b="0" i="0">
                <a:solidFill>
                  <a:srgbClr val="202124"/>
                </a:solidFill>
                <a:latin typeface="Arial"/>
              </a:rPr>
              <a:t>the officer confirms or dismisses each finding; a Clear customer goes straight to a loan case</a:t>
            </a:r>
          </a:p>
          <a:p>
            <a:pPr algn="l" marL="146304" indent="-146304">
              <a:spcBef>
                <a:spcPts val="0"/>
              </a:spcBef>
              <a:spcAft>
                <a:spcPts val="300"/>
              </a:spcAft>
              <a:buFont typeface="Arial"/>
              <a:buChar char="•"/>
            </a:pPr>
            <a:r>
              <a:rPr sz="1050" b="1" i="0">
                <a:solidFill>
                  <a:srgbClr val="202124"/>
                </a:solidFill>
                <a:latin typeface="Arial"/>
              </a:rPr>
              <a:t>Policy-aware: </a:t>
            </a:r>
            <a:r>
              <a:rPr sz="1050" b="0" i="0">
                <a:solidFill>
                  <a:srgbClr val="202124"/>
                </a:solidFill>
                <a:latin typeface="Arial"/>
              </a:rPr>
              <a:t>findings and credit decisions cite the lender's credit policy</a:t>
            </a:r>
          </a:p>
        </p:txBody>
      </p:sp>
      <p:sp>
        <p:nvSpPr>
          <p:cNvPr id="90" name="opp_2"/>
          <p:cNvSpPr/>
          <p:nvPr/>
        </p:nvSpPr>
        <p:spPr>
          <a:xfrm>
            <a:off x="6080759" y="1188720"/>
            <a:ext cx="2743200" cy="278892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pp_2_circle"/>
          <p:cNvSpPr/>
          <p:nvPr/>
        </p:nvSpPr>
        <p:spPr>
          <a:xfrm>
            <a:off x="6217920" y="1325880"/>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2" name="opp_2_icon" descr="target_w.png"/>
          <p:cNvPicPr>
            <a:picLocks noChangeAspect="1"/>
          </p:cNvPicPr>
          <p:nvPr/>
        </p:nvPicPr>
        <p:blipFill>
          <a:blip r:embed="rId7"/>
          <a:stretch>
            <a:fillRect/>
          </a:stretch>
        </p:blipFill>
        <p:spPr>
          <a:xfrm>
            <a:off x="6302410" y="1410370"/>
            <a:ext cx="215066" cy="215066"/>
          </a:xfrm>
          <a:prstGeom prst="rect">
            <a:avLst/>
          </a:prstGeom>
        </p:spPr>
      </p:pic>
      <p:sp>
        <p:nvSpPr>
          <p:cNvPr id="93" name="TextBox 92"/>
          <p:cNvSpPr txBox="1"/>
          <p:nvPr/>
        </p:nvSpPr>
        <p:spPr>
          <a:xfrm>
            <a:off x="6702551" y="1325880"/>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USP</a:t>
            </a:r>
          </a:p>
        </p:txBody>
      </p:sp>
      <p:sp>
        <p:nvSpPr>
          <p:cNvPr id="94" name="TextBox 93"/>
          <p:cNvSpPr txBox="1"/>
          <p:nvPr/>
        </p:nvSpPr>
        <p:spPr>
          <a:xfrm>
            <a:off x="6217920" y="1792224"/>
            <a:ext cx="2468880" cy="209397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50" b="1" i="0">
                <a:solidFill>
                  <a:srgbClr val="202124"/>
                </a:solidFill>
                <a:latin typeface="Arial"/>
              </a:rPr>
              <a:t>Grounded AI: </a:t>
            </a:r>
            <a:r>
              <a:rPr sz="1050" b="0" i="0">
                <a:solidFill>
                  <a:srgbClr val="202124"/>
                </a:solidFill>
                <a:latin typeface="Arial"/>
              </a:rPr>
              <a:t>a claim or figure that cannot be traced is set aside — and shown</a:t>
            </a:r>
          </a:p>
          <a:p>
            <a:pPr algn="l" marL="146304" indent="-146304">
              <a:spcBef>
                <a:spcPts val="0"/>
              </a:spcBef>
              <a:spcAft>
                <a:spcPts val="300"/>
              </a:spcAft>
              <a:buFont typeface="Arial"/>
              <a:buChar char="•"/>
            </a:pPr>
            <a:r>
              <a:rPr sz="1050" b="1" i="0">
                <a:solidFill>
                  <a:srgbClr val="202124"/>
                </a:solidFill>
                <a:latin typeface="Arial"/>
              </a:rPr>
              <a:t>Bank-record cross-check </a:t>
            </a:r>
            <a:r>
              <a:rPr sz="1050" b="0" i="0">
                <a:solidFill>
                  <a:srgbClr val="202124"/>
                </a:solidFill>
                <a:latin typeface="Arial"/>
              </a:rPr>
              <a:t>through Account Aggregator</a:t>
            </a:r>
          </a:p>
          <a:p>
            <a:pPr algn="l" marL="146304" indent="-146304">
              <a:spcBef>
                <a:spcPts val="0"/>
              </a:spcBef>
              <a:spcAft>
                <a:spcPts val="300"/>
              </a:spcAft>
              <a:buFont typeface="Arial"/>
              <a:buChar char="•"/>
            </a:pPr>
            <a:r>
              <a:rPr sz="1050" b="1" i="0">
                <a:solidFill>
                  <a:srgbClr val="202124"/>
                </a:solidFill>
                <a:latin typeface="Arial"/>
              </a:rPr>
              <a:t>Linked customers </a:t>
            </a:r>
            <a:r>
              <a:rPr sz="1050" b="0" i="0">
                <a:solidFill>
                  <a:srgbClr val="202124"/>
                </a:solidFill>
                <a:latin typeface="Arial"/>
              </a:rPr>
              <a:t>through directors, contacts, files and GST invoices</a:t>
            </a:r>
          </a:p>
          <a:p>
            <a:pPr algn="l" marL="146304" indent="-146304">
              <a:spcBef>
                <a:spcPts val="0"/>
              </a:spcBef>
              <a:spcAft>
                <a:spcPts val="300"/>
              </a:spcAft>
              <a:buFont typeface="Arial"/>
              <a:buChar char="•"/>
            </a:pPr>
            <a:r>
              <a:rPr sz="1050" b="1" i="0">
                <a:solidFill>
                  <a:srgbClr val="202124"/>
                </a:solidFill>
                <a:latin typeface="Arial"/>
              </a:rPr>
              <a:t>Risk to loan: </a:t>
            </a:r>
            <a:r>
              <a:rPr sz="1050" b="0" i="0">
                <a:solidFill>
                  <a:srgbClr val="202124"/>
                </a:solidFill>
                <a:latin typeface="Arial"/>
              </a:rPr>
              <a:t>AI credit decision, then LOS, ULI (OCEN) or ONDC</a:t>
            </a:r>
          </a:p>
          <a:p>
            <a:pPr algn="l" marL="146304" indent="-146304">
              <a:spcBef>
                <a:spcPts val="0"/>
              </a:spcBef>
              <a:spcAft>
                <a:spcPts val="300"/>
              </a:spcAft>
              <a:buFont typeface="Arial"/>
              <a:buChar char="•"/>
            </a:pPr>
            <a:r>
              <a:rPr sz="1050" b="1" i="0">
                <a:solidFill>
                  <a:srgbClr val="202124"/>
                </a:solidFill>
                <a:latin typeface="Arial"/>
              </a:rPr>
              <a:t>Documents stay in India: </a:t>
            </a:r>
            <a:r>
              <a:rPr sz="1050" b="0" i="0">
                <a:solidFill>
                  <a:srgbClr val="202124"/>
                </a:solidFill>
                <a:latin typeface="Arial"/>
              </a:rPr>
              <a:t>read and stored in Mumbai</a:t>
            </a:r>
          </a:p>
        </p:txBody>
      </p:sp>
      <p:sp>
        <p:nvSpPr>
          <p:cNvPr id="95" name="who_gains"/>
          <p:cNvSpPr/>
          <p:nvPr/>
        </p:nvSpPr>
        <p:spPr>
          <a:xfrm>
            <a:off x="320040" y="4114800"/>
            <a:ext cx="8503920" cy="77724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457200" y="4178808"/>
            <a:ext cx="1188720" cy="640080"/>
          </a:xfrm>
          <a:prstGeom prst="rect">
            <a:avLst/>
          </a:prstGeom>
          <a:noFill/>
        </p:spPr>
        <p:txBody>
          <a:bodyPr wrap="square" anchor="ctr" lIns="0" rIns="0" tIns="0" bIns="0">
            <a:noAutofit/>
          </a:bodyPr>
          <a:lstStyle/>
          <a:p>
            <a:pPr algn="l">
              <a:spcBef>
                <a:spcPts val="0"/>
              </a:spcBef>
              <a:spcAft>
                <a:spcPts val="300"/>
              </a:spcAft>
            </a:pPr>
            <a:r>
              <a:rPr sz="1200" b="1" i="0">
                <a:solidFill>
                  <a:srgbClr val="7A1230"/>
                </a:solidFill>
                <a:latin typeface="Arial"/>
              </a:rPr>
              <a:t>Who gains</a:t>
            </a:r>
          </a:p>
        </p:txBody>
      </p:sp>
      <p:sp>
        <p:nvSpPr>
          <p:cNvPr id="97" name="TextBox 96"/>
          <p:cNvSpPr txBox="1"/>
          <p:nvPr/>
        </p:nvSpPr>
        <p:spPr>
          <a:xfrm>
            <a:off x="1691640" y="4206240"/>
            <a:ext cx="2286000" cy="228600"/>
          </a:xfrm>
          <a:prstGeom prst="rect">
            <a:avLst/>
          </a:prstGeom>
          <a:noFill/>
        </p:spPr>
        <p:txBody>
          <a:bodyPr wrap="square" anchor="t" lIns="0" rIns="0" tIns="0" bIns="0">
            <a:noAutofit/>
          </a:bodyPr>
          <a:lstStyle/>
          <a:p>
            <a:pPr algn="l">
              <a:spcBef>
                <a:spcPts val="0"/>
              </a:spcBef>
              <a:spcAft>
                <a:spcPts val="300"/>
              </a:spcAft>
            </a:pPr>
            <a:r>
              <a:rPr sz="1100" b="1" i="0">
                <a:solidFill>
                  <a:srgbClr val="202124"/>
                </a:solidFill>
                <a:latin typeface="Arial"/>
              </a:rPr>
              <a:t>Credit officers</a:t>
            </a:r>
          </a:p>
        </p:txBody>
      </p:sp>
      <p:sp>
        <p:nvSpPr>
          <p:cNvPr id="98" name="TextBox 97"/>
          <p:cNvSpPr txBox="1"/>
          <p:nvPr/>
        </p:nvSpPr>
        <p:spPr>
          <a:xfrm>
            <a:off x="1691640" y="4443984"/>
            <a:ext cx="2286000" cy="411480"/>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One page per customer, findings with evidence</a:t>
            </a:r>
          </a:p>
        </p:txBody>
      </p:sp>
      <p:sp>
        <p:nvSpPr>
          <p:cNvPr id="99" name="TextBox 98"/>
          <p:cNvSpPr txBox="1"/>
          <p:nvPr/>
        </p:nvSpPr>
        <p:spPr>
          <a:xfrm>
            <a:off x="4069080" y="4206240"/>
            <a:ext cx="2286000" cy="228600"/>
          </a:xfrm>
          <a:prstGeom prst="rect">
            <a:avLst/>
          </a:prstGeom>
          <a:noFill/>
        </p:spPr>
        <p:txBody>
          <a:bodyPr wrap="square" anchor="t" lIns="0" rIns="0" tIns="0" bIns="0">
            <a:noAutofit/>
          </a:bodyPr>
          <a:lstStyle/>
          <a:p>
            <a:pPr algn="l">
              <a:spcBef>
                <a:spcPts val="0"/>
              </a:spcBef>
              <a:spcAft>
                <a:spcPts val="300"/>
              </a:spcAft>
            </a:pPr>
            <a:r>
              <a:rPr sz="1100" b="1" i="0">
                <a:solidFill>
                  <a:srgbClr val="202124"/>
                </a:solidFill>
                <a:latin typeface="Arial"/>
              </a:rPr>
              <a:t>Fraud teams</a:t>
            </a:r>
          </a:p>
        </p:txBody>
      </p:sp>
      <p:sp>
        <p:nvSpPr>
          <p:cNvPr id="100" name="TextBox 99"/>
          <p:cNvSpPr txBox="1"/>
          <p:nvPr/>
        </p:nvSpPr>
        <p:spPr>
          <a:xfrm>
            <a:off x="4069080" y="4443984"/>
            <a:ext cx="2286000" cy="411480"/>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Linked customers across the portfolio</a:t>
            </a:r>
          </a:p>
        </p:txBody>
      </p:sp>
      <p:sp>
        <p:nvSpPr>
          <p:cNvPr id="101" name="TextBox 100"/>
          <p:cNvSpPr txBox="1"/>
          <p:nvPr/>
        </p:nvSpPr>
        <p:spPr>
          <a:xfrm>
            <a:off x="6446520" y="4206240"/>
            <a:ext cx="2286000" cy="228600"/>
          </a:xfrm>
          <a:prstGeom prst="rect">
            <a:avLst/>
          </a:prstGeom>
          <a:noFill/>
        </p:spPr>
        <p:txBody>
          <a:bodyPr wrap="square" anchor="t" lIns="0" rIns="0" tIns="0" bIns="0">
            <a:noAutofit/>
          </a:bodyPr>
          <a:lstStyle/>
          <a:p>
            <a:pPr algn="l">
              <a:spcBef>
                <a:spcPts val="0"/>
              </a:spcBef>
              <a:spcAft>
                <a:spcPts val="300"/>
              </a:spcAft>
            </a:pPr>
            <a:r>
              <a:rPr sz="1100" b="1" i="0">
                <a:solidFill>
                  <a:srgbClr val="202124"/>
                </a:solidFill>
                <a:latin typeface="Arial"/>
              </a:rPr>
              <a:t>Honest MSMEs</a:t>
            </a:r>
          </a:p>
        </p:txBody>
      </p:sp>
      <p:sp>
        <p:nvSpPr>
          <p:cNvPr id="102" name="TextBox 101"/>
          <p:cNvSpPr txBox="1"/>
          <p:nvPr/>
        </p:nvSpPr>
        <p:spPr>
          <a:xfrm>
            <a:off x="6446520" y="4443984"/>
            <a:ext cx="2286000" cy="411480"/>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A Clear verdict — a faster loan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feat_0"/>
          <p:cNvSpPr/>
          <p:nvPr/>
        </p:nvSpPr>
        <p:spPr>
          <a:xfrm>
            <a:off x="320040" y="1188720"/>
            <a:ext cx="274320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feat_0_circle"/>
          <p:cNvSpPr/>
          <p:nvPr/>
        </p:nvSpPr>
        <p:spPr>
          <a:xfrm>
            <a:off x="457200" y="1325880"/>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feat_0_icon" descr="users_w.png"/>
          <p:cNvPicPr>
            <a:picLocks noChangeAspect="1"/>
          </p:cNvPicPr>
          <p:nvPr/>
        </p:nvPicPr>
        <p:blipFill>
          <a:blip r:embed="rId5"/>
          <a:stretch>
            <a:fillRect/>
          </a:stretch>
        </p:blipFill>
        <p:spPr>
          <a:xfrm>
            <a:off x="541690" y="1410370"/>
            <a:ext cx="215066" cy="215066"/>
          </a:xfrm>
          <a:prstGeom prst="rect">
            <a:avLst/>
          </a:prstGeom>
        </p:spPr>
      </p:pic>
      <p:sp>
        <p:nvSpPr>
          <p:cNvPr id="91" name="TextBox 90"/>
          <p:cNvSpPr txBox="1"/>
          <p:nvPr/>
        </p:nvSpPr>
        <p:spPr>
          <a:xfrm>
            <a:off x="941832" y="1325880"/>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Customer data, one place</a:t>
            </a:r>
          </a:p>
        </p:txBody>
      </p:sp>
      <p:sp>
        <p:nvSpPr>
          <p:cNvPr id="92" name="TextBox 91"/>
          <p:cNvSpPr txBox="1"/>
          <p:nvPr/>
        </p:nvSpPr>
        <p:spPr>
          <a:xfrm>
            <a:off x="457200" y="1792224"/>
            <a:ext cx="246888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00" b="0" i="0">
                <a:solidFill>
                  <a:srgbClr val="202124"/>
                </a:solidFill>
                <a:latin typeface="Arial"/>
              </a:rPr>
              <a:t>Udyam registration, Account Aggregator consent</a:t>
            </a:r>
          </a:p>
          <a:p>
            <a:pPr algn="l" marL="146304" indent="-146304">
              <a:spcBef>
                <a:spcPts val="0"/>
              </a:spcBef>
              <a:spcAft>
                <a:spcPts val="300"/>
              </a:spcAft>
              <a:buFont typeface="Arial"/>
              <a:buChar char="•"/>
            </a:pPr>
            <a:r>
              <a:rPr sz="1000" b="0" i="0">
                <a:solidFill>
                  <a:srgbClr val="202124"/>
                </a:solidFill>
                <a:latin typeface="Arial"/>
              </a:rPr>
              <a:t>GST, ITR and MCA fetched; documents uploaded</a:t>
            </a:r>
          </a:p>
          <a:p>
            <a:pPr algn="l" marL="146304" indent="-146304">
              <a:spcBef>
                <a:spcPts val="0"/>
              </a:spcBef>
              <a:spcAft>
                <a:spcPts val="300"/>
              </a:spcAft>
              <a:buFont typeface="Arial"/>
              <a:buChar char="•"/>
            </a:pPr>
            <a:r>
              <a:rPr sz="1000" b="0" i="0">
                <a:solidFill>
                  <a:srgbClr val="202124"/>
                </a:solidFill>
                <a:latin typeface="Arial"/>
              </a:rPr>
              <a:t>Reassessed whenever a source arrives</a:t>
            </a:r>
          </a:p>
        </p:txBody>
      </p:sp>
      <p:sp>
        <p:nvSpPr>
          <p:cNvPr id="93" name="feat_1"/>
          <p:cNvSpPr/>
          <p:nvPr/>
        </p:nvSpPr>
        <p:spPr>
          <a:xfrm>
            <a:off x="3200400" y="1188720"/>
            <a:ext cx="274320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feat_1_circle"/>
          <p:cNvSpPr/>
          <p:nvPr/>
        </p:nvSpPr>
        <p:spPr>
          <a:xfrm>
            <a:off x="3337560" y="1325880"/>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5" name="feat_1_icon" descr="scan_w.png"/>
          <p:cNvPicPr>
            <a:picLocks noChangeAspect="1"/>
          </p:cNvPicPr>
          <p:nvPr/>
        </p:nvPicPr>
        <p:blipFill>
          <a:blip r:embed="rId6"/>
          <a:stretch>
            <a:fillRect/>
          </a:stretch>
        </p:blipFill>
        <p:spPr>
          <a:xfrm>
            <a:off x="3422050" y="1410370"/>
            <a:ext cx="215066" cy="215066"/>
          </a:xfrm>
          <a:prstGeom prst="rect">
            <a:avLst/>
          </a:prstGeom>
        </p:spPr>
      </p:pic>
      <p:sp>
        <p:nvSpPr>
          <p:cNvPr id="96" name="TextBox 95"/>
          <p:cNvSpPr txBox="1"/>
          <p:nvPr/>
        </p:nvSpPr>
        <p:spPr>
          <a:xfrm>
            <a:off x="3822191" y="1325880"/>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Document reading</a:t>
            </a:r>
          </a:p>
        </p:txBody>
      </p:sp>
      <p:sp>
        <p:nvSpPr>
          <p:cNvPr id="97" name="TextBox 96"/>
          <p:cNvSpPr txBox="1"/>
          <p:nvPr/>
        </p:nvSpPr>
        <p:spPr>
          <a:xfrm>
            <a:off x="3337560" y="1792224"/>
            <a:ext cx="246888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00" b="0" i="0">
                <a:solidFill>
                  <a:srgbClr val="202124"/>
                </a:solidFill>
                <a:latin typeface="Arial"/>
              </a:rPr>
              <a:t>Gemini Flash in Mumbai reads every page in parallel</a:t>
            </a:r>
          </a:p>
          <a:p>
            <a:pPr algn="l" marL="146304" indent="-146304">
              <a:spcBef>
                <a:spcPts val="0"/>
              </a:spcBef>
              <a:spcAft>
                <a:spcPts val="300"/>
              </a:spcAft>
              <a:buFont typeface="Arial"/>
              <a:buChar char="•"/>
            </a:pPr>
            <a:r>
              <a:rPr sz="1000" b="0" i="0">
                <a:solidFill>
                  <a:srgbClr val="202124"/>
                </a:solidFill>
                <a:latin typeface="Arial"/>
              </a:rPr>
              <a:t>Numbers copied as printed, never corrected</a:t>
            </a:r>
          </a:p>
          <a:p>
            <a:pPr algn="l" marL="146304" indent="-146304">
              <a:spcBef>
                <a:spcPts val="0"/>
              </a:spcBef>
              <a:spcAft>
                <a:spcPts val="300"/>
              </a:spcAft>
              <a:buFont typeface="Arial"/>
              <a:buChar char="•"/>
            </a:pPr>
            <a:r>
              <a:rPr sz="1000" b="0" i="0">
                <a:solidFill>
                  <a:srgbClr val="202124"/>
                </a:solidFill>
                <a:latin typeface="Arial"/>
              </a:rPr>
              <a:t>A page that does not add up is read again</a:t>
            </a:r>
          </a:p>
        </p:txBody>
      </p:sp>
      <p:sp>
        <p:nvSpPr>
          <p:cNvPr id="98" name="feat_2"/>
          <p:cNvSpPr/>
          <p:nvPr/>
        </p:nvSpPr>
        <p:spPr>
          <a:xfrm>
            <a:off x="6080759" y="1188720"/>
            <a:ext cx="274320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feat_2_circle"/>
          <p:cNvSpPr/>
          <p:nvPr/>
        </p:nvSpPr>
        <p:spPr>
          <a:xfrm>
            <a:off x="6217920" y="1325880"/>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0" name="feat_2_icon" descr="calc_w.png"/>
          <p:cNvPicPr>
            <a:picLocks noChangeAspect="1"/>
          </p:cNvPicPr>
          <p:nvPr/>
        </p:nvPicPr>
        <p:blipFill>
          <a:blip r:embed="rId7"/>
          <a:stretch>
            <a:fillRect/>
          </a:stretch>
        </p:blipFill>
        <p:spPr>
          <a:xfrm>
            <a:off x="6302410" y="1410370"/>
            <a:ext cx="215066" cy="215066"/>
          </a:xfrm>
          <a:prstGeom prst="rect">
            <a:avLst/>
          </a:prstGeom>
        </p:spPr>
      </p:pic>
      <p:sp>
        <p:nvSpPr>
          <p:cNvPr id="101" name="TextBox 100"/>
          <p:cNvSpPr txBox="1"/>
          <p:nvPr/>
        </p:nvSpPr>
        <p:spPr>
          <a:xfrm>
            <a:off x="6702551" y="1325880"/>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Checks on every source</a:t>
            </a:r>
          </a:p>
        </p:txBody>
      </p:sp>
      <p:sp>
        <p:nvSpPr>
          <p:cNvPr id="102" name="TextBox 101"/>
          <p:cNvSpPr txBox="1"/>
          <p:nvPr/>
        </p:nvSpPr>
        <p:spPr>
          <a:xfrm>
            <a:off x="6217920" y="1792224"/>
            <a:ext cx="246888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00" b="0" i="0">
                <a:solidFill>
                  <a:srgbClr val="202124"/>
                </a:solidFill>
                <a:latin typeface="Arial"/>
              </a:rPr>
              <a:t>Nine checks: balances, totals, slips, file history</a:t>
            </a:r>
          </a:p>
          <a:p>
            <a:pPr algn="l" marL="146304" indent="-146304">
              <a:spcBef>
                <a:spcPts val="0"/>
              </a:spcBef>
              <a:spcAft>
                <a:spcPts val="300"/>
              </a:spcAft>
              <a:buFont typeface="Arial"/>
              <a:buChar char="•"/>
            </a:pPr>
            <a:r>
              <a:rPr sz="1000" b="0" i="0">
                <a:solidFill>
                  <a:srgbClr val="202124"/>
                </a:solidFill>
                <a:latin typeface="Arial"/>
              </a:rPr>
              <a:t>Statement vs the bank's Account Aggregator record</a:t>
            </a:r>
          </a:p>
          <a:p>
            <a:pPr algn="l" marL="146304" indent="-146304">
              <a:spcBef>
                <a:spcPts val="0"/>
              </a:spcBef>
              <a:spcAft>
                <a:spcPts val="300"/>
              </a:spcAft>
              <a:buFont typeface="Arial"/>
              <a:buChar char="•"/>
            </a:pPr>
            <a:r>
              <a:rPr sz="1000" b="0" i="0">
                <a:solidFill>
                  <a:srgbClr val="202124"/>
                </a:solidFill>
                <a:latin typeface="Arial"/>
              </a:rPr>
              <a:t>Bank risk flags: pass-through, cash, bounces</a:t>
            </a:r>
          </a:p>
        </p:txBody>
      </p:sp>
      <p:sp>
        <p:nvSpPr>
          <p:cNvPr id="103" name="feat_3"/>
          <p:cNvSpPr/>
          <p:nvPr/>
        </p:nvSpPr>
        <p:spPr>
          <a:xfrm>
            <a:off x="320040" y="3081528"/>
            <a:ext cx="274320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feat_3_circle"/>
          <p:cNvSpPr/>
          <p:nvPr/>
        </p:nvSpPr>
        <p:spPr>
          <a:xfrm>
            <a:off x="457200" y="3218688"/>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5" name="feat_3_icon" descr="ring_w.png"/>
          <p:cNvPicPr>
            <a:picLocks noChangeAspect="1"/>
          </p:cNvPicPr>
          <p:nvPr/>
        </p:nvPicPr>
        <p:blipFill>
          <a:blip r:embed="rId8"/>
          <a:stretch>
            <a:fillRect/>
          </a:stretch>
        </p:blipFill>
        <p:spPr>
          <a:xfrm>
            <a:off x="541690" y="3303178"/>
            <a:ext cx="215066" cy="215066"/>
          </a:xfrm>
          <a:prstGeom prst="rect">
            <a:avLst/>
          </a:prstGeom>
        </p:spPr>
      </p:pic>
      <p:sp>
        <p:nvSpPr>
          <p:cNvPr id="106" name="TextBox 105"/>
          <p:cNvSpPr txBox="1"/>
          <p:nvPr/>
        </p:nvSpPr>
        <p:spPr>
          <a:xfrm>
            <a:off x="941832" y="3218688"/>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Linked customers</a:t>
            </a:r>
          </a:p>
        </p:txBody>
      </p:sp>
      <p:sp>
        <p:nvSpPr>
          <p:cNvPr id="107" name="TextBox 106"/>
          <p:cNvSpPr txBox="1"/>
          <p:nvPr/>
        </p:nvSpPr>
        <p:spPr>
          <a:xfrm>
            <a:off x="457200" y="3685032"/>
            <a:ext cx="246888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00" b="0" i="0">
                <a:solidFill>
                  <a:srgbClr val="202124"/>
                </a:solidFill>
                <a:latin typeface="Arial"/>
              </a:rPr>
              <a:t>Same file, template or salary account</a:t>
            </a:r>
          </a:p>
          <a:p>
            <a:pPr algn="l" marL="146304" indent="-146304">
              <a:spcBef>
                <a:spcPts val="0"/>
              </a:spcBef>
              <a:spcAft>
                <a:spcPts val="300"/>
              </a:spcAft>
              <a:buFont typeface="Arial"/>
              <a:buChar char="•"/>
            </a:pPr>
            <a:r>
              <a:rPr sz="1000" b="0" i="0">
                <a:solidFill>
                  <a:srgbClr val="202124"/>
                </a:solidFill>
                <a:latin typeface="Arial"/>
              </a:rPr>
              <a:t>Same director, mobile, email or address</a:t>
            </a:r>
          </a:p>
          <a:p>
            <a:pPr algn="l" marL="146304" indent="-146304">
              <a:spcBef>
                <a:spcPts val="0"/>
              </a:spcBef>
              <a:spcAft>
                <a:spcPts val="300"/>
              </a:spcAft>
              <a:buFont typeface="Arial"/>
              <a:buChar char="•"/>
            </a:pPr>
            <a:r>
              <a:rPr sz="1000" b="0" i="0">
                <a:solidFill>
                  <a:srgbClr val="202124"/>
                </a:solidFill>
                <a:latin typeface="Arial"/>
              </a:rPr>
              <a:t>Circular trading in GST invoices</a:t>
            </a:r>
          </a:p>
        </p:txBody>
      </p:sp>
      <p:sp>
        <p:nvSpPr>
          <p:cNvPr id="108" name="feat_4"/>
          <p:cNvSpPr/>
          <p:nvPr/>
        </p:nvSpPr>
        <p:spPr>
          <a:xfrm>
            <a:off x="3200400" y="3081528"/>
            <a:ext cx="274320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feat_4_circle"/>
          <p:cNvSpPr/>
          <p:nvPr/>
        </p:nvSpPr>
        <p:spPr>
          <a:xfrm>
            <a:off x="3337560" y="3218688"/>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0" name="feat_4_icon" descr="bot_w.png"/>
          <p:cNvPicPr>
            <a:picLocks noChangeAspect="1"/>
          </p:cNvPicPr>
          <p:nvPr/>
        </p:nvPicPr>
        <p:blipFill>
          <a:blip r:embed="rId9"/>
          <a:stretch>
            <a:fillRect/>
          </a:stretch>
        </p:blipFill>
        <p:spPr>
          <a:xfrm>
            <a:off x="3422050" y="3303178"/>
            <a:ext cx="215066" cy="215066"/>
          </a:xfrm>
          <a:prstGeom prst="rect">
            <a:avLst/>
          </a:prstGeom>
        </p:spPr>
      </p:pic>
      <p:sp>
        <p:nvSpPr>
          <p:cNvPr id="111" name="TextBox 110"/>
          <p:cNvSpPr txBox="1"/>
          <p:nvPr/>
        </p:nvSpPr>
        <p:spPr>
          <a:xfrm>
            <a:off x="3822191" y="3218688"/>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AI investigator, grounded</a:t>
            </a:r>
          </a:p>
        </p:txBody>
      </p:sp>
      <p:sp>
        <p:nvSpPr>
          <p:cNvPr id="112" name="TextBox 111"/>
          <p:cNvSpPr txBox="1"/>
          <p:nvPr/>
        </p:nvSpPr>
        <p:spPr>
          <a:xfrm>
            <a:off x="3337560" y="3685032"/>
            <a:ext cx="246888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00" b="0" i="0">
                <a:solidFill>
                  <a:srgbClr val="202124"/>
                </a:solidFill>
                <a:latin typeface="Arial"/>
              </a:rPr>
              <a:t>Gemini Pro with tools bound to one customer</a:t>
            </a:r>
          </a:p>
          <a:p>
            <a:pPr algn="l" marL="146304" indent="-146304">
              <a:spcBef>
                <a:spcPts val="0"/>
              </a:spcBef>
              <a:spcAft>
                <a:spcPts val="300"/>
              </a:spcAft>
              <a:buFont typeface="Arial"/>
              <a:buChar char="•"/>
            </a:pPr>
            <a:r>
              <a:rPr sz="1000" b="0" i="0">
                <a:solidFill>
                  <a:srgbClr val="202124"/>
                </a:solidFill>
                <a:latin typeface="Arial"/>
              </a:rPr>
              <a:t>Every claim cites rows; amounts must trace</a:t>
            </a:r>
          </a:p>
          <a:p>
            <a:pPr algn="l" marL="146304" indent="-146304">
              <a:spcBef>
                <a:spcPts val="0"/>
              </a:spcBef>
              <a:spcAft>
                <a:spcPts val="300"/>
              </a:spcAft>
              <a:buFont typeface="Arial"/>
              <a:buChar char="•"/>
            </a:pPr>
            <a:r>
              <a:rPr sz="1000" b="0" i="0">
                <a:solidFill>
                  <a:srgbClr val="202124"/>
                </a:solidFill>
                <a:latin typeface="Arial"/>
              </a:rPr>
              <a:t>Rejected claims shown, never hidden</a:t>
            </a:r>
          </a:p>
        </p:txBody>
      </p:sp>
      <p:sp>
        <p:nvSpPr>
          <p:cNvPr id="113" name="feat_5"/>
          <p:cNvSpPr/>
          <p:nvPr/>
        </p:nvSpPr>
        <p:spPr>
          <a:xfrm>
            <a:off x="6080759" y="3081528"/>
            <a:ext cx="274320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feat_5_circle"/>
          <p:cNvSpPr/>
          <p:nvPr/>
        </p:nvSpPr>
        <p:spPr>
          <a:xfrm>
            <a:off x="6217920" y="3218688"/>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5" name="feat_5_icon" descr="rupee_w.png"/>
          <p:cNvPicPr>
            <a:picLocks noChangeAspect="1"/>
          </p:cNvPicPr>
          <p:nvPr/>
        </p:nvPicPr>
        <p:blipFill>
          <a:blip r:embed="rId10"/>
          <a:stretch>
            <a:fillRect/>
          </a:stretch>
        </p:blipFill>
        <p:spPr>
          <a:xfrm>
            <a:off x="6302410" y="3303178"/>
            <a:ext cx="215066" cy="215066"/>
          </a:xfrm>
          <a:prstGeom prst="rect">
            <a:avLst/>
          </a:prstGeom>
        </p:spPr>
      </p:pic>
      <p:sp>
        <p:nvSpPr>
          <p:cNvPr id="116" name="TextBox 115"/>
          <p:cNvSpPr txBox="1"/>
          <p:nvPr/>
        </p:nvSpPr>
        <p:spPr>
          <a:xfrm>
            <a:off x="6702551" y="3218688"/>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AI credit decision</a:t>
            </a:r>
          </a:p>
        </p:txBody>
      </p:sp>
      <p:sp>
        <p:nvSpPr>
          <p:cNvPr id="117" name="TextBox 116"/>
          <p:cNvSpPr txBox="1"/>
          <p:nvPr/>
        </p:nvSpPr>
        <p:spPr>
          <a:xfrm>
            <a:off x="6217920" y="3685032"/>
            <a:ext cx="246888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00" b="0" i="0">
                <a:solidFill>
                  <a:srgbClr val="202124"/>
                </a:solidFill>
                <a:latin typeface="Arial"/>
              </a:rPr>
              <a:t>Credit capacity (FOIR) computed in code</a:t>
            </a:r>
          </a:p>
          <a:p>
            <a:pPr algn="l" marL="146304" indent="-146304">
              <a:spcBef>
                <a:spcPts val="0"/>
              </a:spcBef>
              <a:spcAft>
                <a:spcPts val="300"/>
              </a:spcAft>
              <a:buFont typeface="Arial"/>
              <a:buChar char="•"/>
            </a:pPr>
            <a:r>
              <a:rPr sz="1000" b="0" i="0">
                <a:solidFill>
                  <a:srgbClr val="202124"/>
                </a:solidFill>
                <a:latin typeface="Arial"/>
              </a:rPr>
              <a:t>Gemini Pro decides within it, citing policy</a:t>
            </a:r>
          </a:p>
          <a:p>
            <a:pPr algn="l" marL="146304" indent="-146304">
              <a:spcBef>
                <a:spcPts val="0"/>
              </a:spcBef>
              <a:spcAft>
                <a:spcPts val="300"/>
              </a:spcAft>
              <a:buFont typeface="Arial"/>
              <a:buChar char="•"/>
            </a:pPr>
            <a:r>
              <a:rPr sz="1000" b="0" i="0">
                <a:solidFill>
                  <a:srgbClr val="202124"/>
                </a:solidFill>
                <a:latin typeface="Arial"/>
              </a:rPr>
              <a:t>Accepted decisions go to LOS, ULI or ONDC</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a:t>
            </a:r>
            <a:endParaRPr sz="1600">
              <a:latin typeface="Google Sans Flex Medium"/>
              <a:ea typeface="Google Sans Flex Medium"/>
              <a:cs typeface="Google Sans Flex Medium"/>
              <a:sym typeface="Google Sans Flex Medium"/>
            </a:endParaRPr>
          </a:p>
        </p:txBody>
      </p:sp>
      <p:sp>
        <p:nvSpPr>
          <p:cNvPr id="96" name="step_0"/>
          <p:cNvSpPr/>
          <p:nvPr/>
        </p:nvSpPr>
        <p:spPr>
          <a:xfrm>
            <a:off x="320040" y="1234440"/>
            <a:ext cx="1069848" cy="169164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step_0_circle"/>
          <p:cNvSpPr/>
          <p:nvPr/>
        </p:nvSpPr>
        <p:spPr>
          <a:xfrm>
            <a:off x="626364" y="1371600"/>
            <a:ext cx="457200" cy="457200"/>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8" name="step_0_icon" descr="upload_w.png"/>
          <p:cNvPicPr>
            <a:picLocks noChangeAspect="1"/>
          </p:cNvPicPr>
          <p:nvPr/>
        </p:nvPicPr>
        <p:blipFill>
          <a:blip r:embed="rId5"/>
          <a:stretch>
            <a:fillRect/>
          </a:stretch>
        </p:blipFill>
        <p:spPr>
          <a:xfrm>
            <a:off x="726947" y="1472184"/>
            <a:ext cx="256032" cy="256032"/>
          </a:xfrm>
          <a:prstGeom prst="rect">
            <a:avLst/>
          </a:prstGeom>
        </p:spPr>
      </p:pic>
      <p:sp>
        <p:nvSpPr>
          <p:cNvPr id="99" name="TextBox 98"/>
          <p:cNvSpPr txBox="1"/>
          <p:nvPr/>
        </p:nvSpPr>
        <p:spPr>
          <a:xfrm>
            <a:off x="374904" y="1901952"/>
            <a:ext cx="960119" cy="256032"/>
          </a:xfrm>
          <a:prstGeom prst="rect">
            <a:avLst/>
          </a:prstGeom>
          <a:noFill/>
        </p:spPr>
        <p:txBody>
          <a:bodyPr wrap="square" anchor="t" lIns="0" rIns="0" tIns="0" bIns="0">
            <a:noAutofit/>
          </a:bodyPr>
          <a:lstStyle/>
          <a:p>
            <a:pPr algn="ctr">
              <a:spcBef>
                <a:spcPts val="0"/>
              </a:spcBef>
              <a:spcAft>
                <a:spcPts val="300"/>
              </a:spcAft>
            </a:pPr>
            <a:r>
              <a:rPr sz="1100" b="1" i="0">
                <a:solidFill>
                  <a:srgbClr val="202124"/>
                </a:solidFill>
                <a:latin typeface="Arial"/>
              </a:rPr>
              <a:t>1. Share</a:t>
            </a:r>
          </a:p>
        </p:txBody>
      </p:sp>
      <p:sp>
        <p:nvSpPr>
          <p:cNvPr id="100" name="TextBox 99"/>
          <p:cNvSpPr txBox="1"/>
          <p:nvPr/>
        </p:nvSpPr>
        <p:spPr>
          <a:xfrm>
            <a:off x="393192" y="2176272"/>
            <a:ext cx="923544" cy="713232"/>
          </a:xfrm>
          <a:prstGeom prst="rect">
            <a:avLst/>
          </a:prstGeom>
          <a:noFill/>
        </p:spPr>
        <p:txBody>
          <a:bodyPr wrap="square" anchor="t" lIns="0" rIns="0" tIns="0" bIns="0">
            <a:noAutofit/>
          </a:bodyPr>
          <a:lstStyle/>
          <a:p>
            <a:pPr algn="ctr">
              <a:spcBef>
                <a:spcPts val="0"/>
              </a:spcBef>
              <a:spcAft>
                <a:spcPts val="300"/>
              </a:spcAft>
            </a:pPr>
            <a:r>
              <a:rPr sz="950" b="0" i="0">
                <a:solidFill>
                  <a:srgbClr val="5F6368"/>
                </a:solidFill>
                <a:latin typeface="Arial"/>
              </a:rPr>
              <a:t>AA consent; GST, ITR, MCA; uploads</a:t>
            </a:r>
          </a:p>
        </p:txBody>
      </p:sp>
      <p:cxnSp>
        <p:nvCxnSpPr>
          <p:cNvPr id="101" name="Connector 100"/>
          <p:cNvCxnSpPr/>
          <p:nvPr/>
        </p:nvCxnSpPr>
        <p:spPr>
          <a:xfrm>
            <a:off x="1408176" y="2075688"/>
            <a:ext cx="132588"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2" name="step_1"/>
          <p:cNvSpPr/>
          <p:nvPr/>
        </p:nvSpPr>
        <p:spPr>
          <a:xfrm>
            <a:off x="1559052" y="1234440"/>
            <a:ext cx="1069848" cy="169164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step_1_circle"/>
          <p:cNvSpPr/>
          <p:nvPr/>
        </p:nvSpPr>
        <p:spPr>
          <a:xfrm>
            <a:off x="1865376" y="1371600"/>
            <a:ext cx="457200" cy="45720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4" name="step_1_icon" descr="scan_w.png"/>
          <p:cNvPicPr>
            <a:picLocks noChangeAspect="1"/>
          </p:cNvPicPr>
          <p:nvPr/>
        </p:nvPicPr>
        <p:blipFill>
          <a:blip r:embed="rId6"/>
          <a:stretch>
            <a:fillRect/>
          </a:stretch>
        </p:blipFill>
        <p:spPr>
          <a:xfrm>
            <a:off x="1965960" y="1472184"/>
            <a:ext cx="256032" cy="256032"/>
          </a:xfrm>
          <a:prstGeom prst="rect">
            <a:avLst/>
          </a:prstGeom>
        </p:spPr>
      </p:pic>
      <p:sp>
        <p:nvSpPr>
          <p:cNvPr id="105" name="TextBox 104"/>
          <p:cNvSpPr txBox="1"/>
          <p:nvPr/>
        </p:nvSpPr>
        <p:spPr>
          <a:xfrm>
            <a:off x="1613916" y="1901952"/>
            <a:ext cx="960119" cy="256032"/>
          </a:xfrm>
          <a:prstGeom prst="rect">
            <a:avLst/>
          </a:prstGeom>
          <a:noFill/>
        </p:spPr>
        <p:txBody>
          <a:bodyPr wrap="square" anchor="t" lIns="0" rIns="0" tIns="0" bIns="0">
            <a:noAutofit/>
          </a:bodyPr>
          <a:lstStyle/>
          <a:p>
            <a:pPr algn="ctr">
              <a:spcBef>
                <a:spcPts val="0"/>
              </a:spcBef>
              <a:spcAft>
                <a:spcPts val="300"/>
              </a:spcAft>
            </a:pPr>
            <a:r>
              <a:rPr sz="1100" b="1" i="0">
                <a:solidFill>
                  <a:srgbClr val="202124"/>
                </a:solidFill>
                <a:latin typeface="Arial"/>
              </a:rPr>
              <a:t>2. Extract</a:t>
            </a:r>
          </a:p>
        </p:txBody>
      </p:sp>
      <p:sp>
        <p:nvSpPr>
          <p:cNvPr id="106" name="TextBox 105"/>
          <p:cNvSpPr txBox="1"/>
          <p:nvPr/>
        </p:nvSpPr>
        <p:spPr>
          <a:xfrm>
            <a:off x="1632204" y="2176272"/>
            <a:ext cx="923544" cy="713232"/>
          </a:xfrm>
          <a:prstGeom prst="rect">
            <a:avLst/>
          </a:prstGeom>
          <a:noFill/>
        </p:spPr>
        <p:txBody>
          <a:bodyPr wrap="square" anchor="t" lIns="0" rIns="0" tIns="0" bIns="0">
            <a:noAutofit/>
          </a:bodyPr>
          <a:lstStyle/>
          <a:p>
            <a:pPr algn="ctr">
              <a:spcBef>
                <a:spcPts val="0"/>
              </a:spcBef>
              <a:spcAft>
                <a:spcPts val="300"/>
              </a:spcAft>
            </a:pPr>
            <a:r>
              <a:rPr sz="950" b="0" i="0">
                <a:solidFill>
                  <a:srgbClr val="5F6368"/>
                </a:solidFill>
                <a:latin typeface="Arial"/>
              </a:rPr>
              <a:t>Gemini Flash reads every page in Mumbai</a:t>
            </a:r>
          </a:p>
        </p:txBody>
      </p:sp>
      <p:cxnSp>
        <p:nvCxnSpPr>
          <p:cNvPr id="107" name="Connector 106"/>
          <p:cNvCxnSpPr/>
          <p:nvPr/>
        </p:nvCxnSpPr>
        <p:spPr>
          <a:xfrm>
            <a:off x="2647188" y="2075688"/>
            <a:ext cx="132588"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 name="step_2"/>
          <p:cNvSpPr/>
          <p:nvPr/>
        </p:nvSpPr>
        <p:spPr>
          <a:xfrm>
            <a:off x="2798064" y="1234440"/>
            <a:ext cx="1069848" cy="169164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step_2_circle"/>
          <p:cNvSpPr/>
          <p:nvPr/>
        </p:nvSpPr>
        <p:spPr>
          <a:xfrm>
            <a:off x="3104388" y="1371600"/>
            <a:ext cx="457200" cy="457200"/>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0" name="step_2_icon" descr="calc_w.png"/>
          <p:cNvPicPr>
            <a:picLocks noChangeAspect="1"/>
          </p:cNvPicPr>
          <p:nvPr/>
        </p:nvPicPr>
        <p:blipFill>
          <a:blip r:embed="rId7"/>
          <a:stretch>
            <a:fillRect/>
          </a:stretch>
        </p:blipFill>
        <p:spPr>
          <a:xfrm>
            <a:off x="3204972" y="1472184"/>
            <a:ext cx="256032" cy="256032"/>
          </a:xfrm>
          <a:prstGeom prst="rect">
            <a:avLst/>
          </a:prstGeom>
        </p:spPr>
      </p:pic>
      <p:sp>
        <p:nvSpPr>
          <p:cNvPr id="111" name="TextBox 110"/>
          <p:cNvSpPr txBox="1"/>
          <p:nvPr/>
        </p:nvSpPr>
        <p:spPr>
          <a:xfrm>
            <a:off x="2852928" y="1901952"/>
            <a:ext cx="960119" cy="256032"/>
          </a:xfrm>
          <a:prstGeom prst="rect">
            <a:avLst/>
          </a:prstGeom>
          <a:noFill/>
        </p:spPr>
        <p:txBody>
          <a:bodyPr wrap="square" anchor="t" lIns="0" rIns="0" tIns="0" bIns="0">
            <a:noAutofit/>
          </a:bodyPr>
          <a:lstStyle/>
          <a:p>
            <a:pPr algn="ctr">
              <a:spcBef>
                <a:spcPts val="0"/>
              </a:spcBef>
              <a:spcAft>
                <a:spcPts val="300"/>
              </a:spcAft>
            </a:pPr>
            <a:r>
              <a:rPr sz="1100" b="1" i="0">
                <a:solidFill>
                  <a:srgbClr val="202124"/>
                </a:solidFill>
                <a:latin typeface="Arial"/>
              </a:rPr>
              <a:t>3. Check</a:t>
            </a:r>
          </a:p>
        </p:txBody>
      </p:sp>
      <p:sp>
        <p:nvSpPr>
          <p:cNvPr id="112" name="TextBox 111"/>
          <p:cNvSpPr txBox="1"/>
          <p:nvPr/>
        </p:nvSpPr>
        <p:spPr>
          <a:xfrm>
            <a:off x="2871216" y="2176272"/>
            <a:ext cx="923544" cy="713232"/>
          </a:xfrm>
          <a:prstGeom prst="rect">
            <a:avLst/>
          </a:prstGeom>
          <a:noFill/>
        </p:spPr>
        <p:txBody>
          <a:bodyPr wrap="square" anchor="t" lIns="0" rIns="0" tIns="0" bIns="0">
            <a:noAutofit/>
          </a:bodyPr>
          <a:lstStyle/>
          <a:p>
            <a:pPr algn="ctr">
              <a:spcBef>
                <a:spcPts val="0"/>
              </a:spcBef>
              <a:spcAft>
                <a:spcPts val="300"/>
              </a:spcAft>
            </a:pPr>
            <a:r>
              <a:rPr sz="950" b="0" i="0">
                <a:solidFill>
                  <a:srgbClr val="5F6368"/>
                </a:solidFill>
                <a:latin typeface="Arial"/>
              </a:rPr>
              <a:t>Nine checks, bank record, bank risk flags</a:t>
            </a:r>
          </a:p>
        </p:txBody>
      </p:sp>
      <p:cxnSp>
        <p:nvCxnSpPr>
          <p:cNvPr id="113" name="Connector 112"/>
          <p:cNvCxnSpPr/>
          <p:nvPr/>
        </p:nvCxnSpPr>
        <p:spPr>
          <a:xfrm>
            <a:off x="3886200" y="2075688"/>
            <a:ext cx="132588"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4" name="step_3"/>
          <p:cNvSpPr/>
          <p:nvPr/>
        </p:nvSpPr>
        <p:spPr>
          <a:xfrm>
            <a:off x="4037075" y="1234440"/>
            <a:ext cx="1069848" cy="169164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step_3_circle"/>
          <p:cNvSpPr/>
          <p:nvPr/>
        </p:nvSpPr>
        <p:spPr>
          <a:xfrm>
            <a:off x="4343399" y="1371600"/>
            <a:ext cx="457200" cy="457200"/>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6" name="step_3_icon" descr="ring_w.png"/>
          <p:cNvPicPr>
            <a:picLocks noChangeAspect="1"/>
          </p:cNvPicPr>
          <p:nvPr/>
        </p:nvPicPr>
        <p:blipFill>
          <a:blip r:embed="rId8"/>
          <a:stretch>
            <a:fillRect/>
          </a:stretch>
        </p:blipFill>
        <p:spPr>
          <a:xfrm>
            <a:off x="4443983" y="1472184"/>
            <a:ext cx="256032" cy="256032"/>
          </a:xfrm>
          <a:prstGeom prst="rect">
            <a:avLst/>
          </a:prstGeom>
        </p:spPr>
      </p:pic>
      <p:sp>
        <p:nvSpPr>
          <p:cNvPr id="117" name="TextBox 116"/>
          <p:cNvSpPr txBox="1"/>
          <p:nvPr/>
        </p:nvSpPr>
        <p:spPr>
          <a:xfrm>
            <a:off x="4091939" y="1901952"/>
            <a:ext cx="960119" cy="256032"/>
          </a:xfrm>
          <a:prstGeom prst="rect">
            <a:avLst/>
          </a:prstGeom>
          <a:noFill/>
        </p:spPr>
        <p:txBody>
          <a:bodyPr wrap="square" anchor="t" lIns="0" rIns="0" tIns="0" bIns="0">
            <a:noAutofit/>
          </a:bodyPr>
          <a:lstStyle/>
          <a:p>
            <a:pPr algn="ctr">
              <a:spcBef>
                <a:spcPts val="0"/>
              </a:spcBef>
              <a:spcAft>
                <a:spcPts val="300"/>
              </a:spcAft>
            </a:pPr>
            <a:r>
              <a:rPr sz="1100" b="1" i="0">
                <a:solidFill>
                  <a:srgbClr val="202124"/>
                </a:solidFill>
                <a:latin typeface="Arial"/>
              </a:rPr>
              <a:t>4. Link</a:t>
            </a:r>
          </a:p>
        </p:txBody>
      </p:sp>
      <p:sp>
        <p:nvSpPr>
          <p:cNvPr id="118" name="TextBox 117"/>
          <p:cNvSpPr txBox="1"/>
          <p:nvPr/>
        </p:nvSpPr>
        <p:spPr>
          <a:xfrm>
            <a:off x="4110227" y="2176272"/>
            <a:ext cx="923544" cy="713232"/>
          </a:xfrm>
          <a:prstGeom prst="rect">
            <a:avLst/>
          </a:prstGeom>
          <a:noFill/>
        </p:spPr>
        <p:txBody>
          <a:bodyPr wrap="square" anchor="t" lIns="0" rIns="0" tIns="0" bIns="0">
            <a:noAutofit/>
          </a:bodyPr>
          <a:lstStyle/>
          <a:p>
            <a:pPr algn="ctr">
              <a:spcBef>
                <a:spcPts val="0"/>
              </a:spcBef>
              <a:spcAft>
                <a:spcPts val="300"/>
              </a:spcAft>
            </a:pPr>
            <a:r>
              <a:rPr sz="950" b="0" i="0">
                <a:solidFill>
                  <a:srgbClr val="5F6368"/>
                </a:solidFill>
                <a:latin typeface="Arial"/>
              </a:rPr>
              <a:t>Directors, contacts, files, GST loops</a:t>
            </a:r>
          </a:p>
        </p:txBody>
      </p:sp>
      <p:cxnSp>
        <p:nvCxnSpPr>
          <p:cNvPr id="119" name="Connector 118"/>
          <p:cNvCxnSpPr/>
          <p:nvPr/>
        </p:nvCxnSpPr>
        <p:spPr>
          <a:xfrm>
            <a:off x="5125211" y="2075688"/>
            <a:ext cx="132588"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0" name="step_4"/>
          <p:cNvSpPr/>
          <p:nvPr/>
        </p:nvSpPr>
        <p:spPr>
          <a:xfrm>
            <a:off x="5276088" y="1234440"/>
            <a:ext cx="1069848" cy="169164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step_4_circle"/>
          <p:cNvSpPr/>
          <p:nvPr/>
        </p:nvSpPr>
        <p:spPr>
          <a:xfrm>
            <a:off x="5582412" y="1371600"/>
            <a:ext cx="457200" cy="45720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2" name="step_4_icon" descr="bot_w.png"/>
          <p:cNvPicPr>
            <a:picLocks noChangeAspect="1"/>
          </p:cNvPicPr>
          <p:nvPr/>
        </p:nvPicPr>
        <p:blipFill>
          <a:blip r:embed="rId9"/>
          <a:stretch>
            <a:fillRect/>
          </a:stretch>
        </p:blipFill>
        <p:spPr>
          <a:xfrm>
            <a:off x="5682996" y="1472184"/>
            <a:ext cx="256032" cy="256032"/>
          </a:xfrm>
          <a:prstGeom prst="rect">
            <a:avLst/>
          </a:prstGeom>
        </p:spPr>
      </p:pic>
      <p:sp>
        <p:nvSpPr>
          <p:cNvPr id="123" name="TextBox 122"/>
          <p:cNvSpPr txBox="1"/>
          <p:nvPr/>
        </p:nvSpPr>
        <p:spPr>
          <a:xfrm>
            <a:off x="5330951" y="1901952"/>
            <a:ext cx="960119" cy="256032"/>
          </a:xfrm>
          <a:prstGeom prst="rect">
            <a:avLst/>
          </a:prstGeom>
          <a:noFill/>
        </p:spPr>
        <p:txBody>
          <a:bodyPr wrap="square" anchor="t" lIns="0" rIns="0" tIns="0" bIns="0">
            <a:noAutofit/>
          </a:bodyPr>
          <a:lstStyle/>
          <a:p>
            <a:pPr algn="ctr">
              <a:spcBef>
                <a:spcPts val="0"/>
              </a:spcBef>
              <a:spcAft>
                <a:spcPts val="300"/>
              </a:spcAft>
            </a:pPr>
            <a:r>
              <a:rPr sz="1100" b="1" i="0">
                <a:solidFill>
                  <a:srgbClr val="202124"/>
                </a:solidFill>
                <a:latin typeface="Arial"/>
              </a:rPr>
              <a:t>5. Investigate</a:t>
            </a:r>
          </a:p>
        </p:txBody>
      </p:sp>
      <p:sp>
        <p:nvSpPr>
          <p:cNvPr id="124" name="TextBox 123"/>
          <p:cNvSpPr txBox="1"/>
          <p:nvPr/>
        </p:nvSpPr>
        <p:spPr>
          <a:xfrm>
            <a:off x="5349240" y="2176272"/>
            <a:ext cx="923544" cy="713232"/>
          </a:xfrm>
          <a:prstGeom prst="rect">
            <a:avLst/>
          </a:prstGeom>
          <a:noFill/>
        </p:spPr>
        <p:txBody>
          <a:bodyPr wrap="square" anchor="t" lIns="0" rIns="0" tIns="0" bIns="0">
            <a:noAutofit/>
          </a:bodyPr>
          <a:lstStyle/>
          <a:p>
            <a:pPr algn="ctr">
              <a:spcBef>
                <a:spcPts val="0"/>
              </a:spcBef>
              <a:spcAft>
                <a:spcPts val="300"/>
              </a:spcAft>
            </a:pPr>
            <a:r>
              <a:rPr sz="950" b="0" i="0">
                <a:solidFill>
                  <a:srgbClr val="5F6368"/>
                </a:solidFill>
                <a:latin typeface="Arial"/>
              </a:rPr>
              <a:t>Gemini Pro agent; every claim verified</a:t>
            </a:r>
          </a:p>
        </p:txBody>
      </p:sp>
      <p:cxnSp>
        <p:nvCxnSpPr>
          <p:cNvPr id="125" name="Connector 124"/>
          <p:cNvCxnSpPr/>
          <p:nvPr/>
        </p:nvCxnSpPr>
        <p:spPr>
          <a:xfrm>
            <a:off x="6364223" y="2075688"/>
            <a:ext cx="132589"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6" name="step_5"/>
          <p:cNvSpPr/>
          <p:nvPr/>
        </p:nvSpPr>
        <p:spPr>
          <a:xfrm>
            <a:off x="6515100" y="1234440"/>
            <a:ext cx="1069848" cy="169164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step_5_circle"/>
          <p:cNvSpPr/>
          <p:nvPr/>
        </p:nvSpPr>
        <p:spPr>
          <a:xfrm>
            <a:off x="6821424" y="1371600"/>
            <a:ext cx="457200" cy="457200"/>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8" name="step_5_icon" descr="review_w.png"/>
          <p:cNvPicPr>
            <a:picLocks noChangeAspect="1"/>
          </p:cNvPicPr>
          <p:nvPr/>
        </p:nvPicPr>
        <p:blipFill>
          <a:blip r:embed="rId10"/>
          <a:stretch>
            <a:fillRect/>
          </a:stretch>
        </p:blipFill>
        <p:spPr>
          <a:xfrm>
            <a:off x="6922008" y="1472184"/>
            <a:ext cx="256032" cy="256032"/>
          </a:xfrm>
          <a:prstGeom prst="rect">
            <a:avLst/>
          </a:prstGeom>
        </p:spPr>
      </p:pic>
      <p:sp>
        <p:nvSpPr>
          <p:cNvPr id="129" name="TextBox 128"/>
          <p:cNvSpPr txBox="1"/>
          <p:nvPr/>
        </p:nvSpPr>
        <p:spPr>
          <a:xfrm>
            <a:off x="6569964" y="1901952"/>
            <a:ext cx="960119" cy="256032"/>
          </a:xfrm>
          <a:prstGeom prst="rect">
            <a:avLst/>
          </a:prstGeom>
          <a:noFill/>
        </p:spPr>
        <p:txBody>
          <a:bodyPr wrap="square" anchor="t" lIns="0" rIns="0" tIns="0" bIns="0">
            <a:noAutofit/>
          </a:bodyPr>
          <a:lstStyle/>
          <a:p>
            <a:pPr algn="ctr">
              <a:spcBef>
                <a:spcPts val="0"/>
              </a:spcBef>
              <a:spcAft>
                <a:spcPts val="300"/>
              </a:spcAft>
            </a:pPr>
            <a:r>
              <a:rPr sz="1100" b="1" i="0">
                <a:solidFill>
                  <a:srgbClr val="202124"/>
                </a:solidFill>
                <a:latin typeface="Arial"/>
              </a:rPr>
              <a:t>6. Risk Lens</a:t>
            </a:r>
          </a:p>
        </p:txBody>
      </p:sp>
      <p:sp>
        <p:nvSpPr>
          <p:cNvPr id="130" name="TextBox 129"/>
          <p:cNvSpPr txBox="1"/>
          <p:nvPr/>
        </p:nvSpPr>
        <p:spPr>
          <a:xfrm>
            <a:off x="6588252" y="2176272"/>
            <a:ext cx="923544" cy="713232"/>
          </a:xfrm>
          <a:prstGeom prst="rect">
            <a:avLst/>
          </a:prstGeom>
          <a:noFill/>
        </p:spPr>
        <p:txBody>
          <a:bodyPr wrap="square" anchor="t" lIns="0" rIns="0" tIns="0" bIns="0">
            <a:noAutofit/>
          </a:bodyPr>
          <a:lstStyle/>
          <a:p>
            <a:pPr algn="ctr">
              <a:spcBef>
                <a:spcPts val="0"/>
              </a:spcBef>
              <a:spcAft>
                <a:spcPts val="300"/>
              </a:spcAft>
            </a:pPr>
            <a:r>
              <a:rPr sz="950" b="0" i="0">
                <a:solidFill>
                  <a:srgbClr val="5F6368"/>
                </a:solidFill>
                <a:latin typeface="Arial"/>
              </a:rPr>
              <a:t>Verdict per customer; officer reviews</a:t>
            </a:r>
          </a:p>
        </p:txBody>
      </p:sp>
      <p:cxnSp>
        <p:nvCxnSpPr>
          <p:cNvPr id="131" name="Connector 130"/>
          <p:cNvCxnSpPr/>
          <p:nvPr/>
        </p:nvCxnSpPr>
        <p:spPr>
          <a:xfrm>
            <a:off x="7603236" y="2075688"/>
            <a:ext cx="132588" cy="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2" name="step_6"/>
          <p:cNvSpPr/>
          <p:nvPr/>
        </p:nvSpPr>
        <p:spPr>
          <a:xfrm>
            <a:off x="7754111" y="1234440"/>
            <a:ext cx="1069848" cy="169164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step_6_circle"/>
          <p:cNvSpPr/>
          <p:nvPr/>
        </p:nvSpPr>
        <p:spPr>
          <a:xfrm>
            <a:off x="8060435" y="1371600"/>
            <a:ext cx="457200" cy="45720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4" name="step_6_icon" descr="rupee_w.png"/>
          <p:cNvPicPr>
            <a:picLocks noChangeAspect="1"/>
          </p:cNvPicPr>
          <p:nvPr/>
        </p:nvPicPr>
        <p:blipFill>
          <a:blip r:embed="rId11"/>
          <a:stretch>
            <a:fillRect/>
          </a:stretch>
        </p:blipFill>
        <p:spPr>
          <a:xfrm>
            <a:off x="8161019" y="1472184"/>
            <a:ext cx="256032" cy="256032"/>
          </a:xfrm>
          <a:prstGeom prst="rect">
            <a:avLst/>
          </a:prstGeom>
        </p:spPr>
      </p:pic>
      <p:sp>
        <p:nvSpPr>
          <p:cNvPr id="135" name="TextBox 134"/>
          <p:cNvSpPr txBox="1"/>
          <p:nvPr/>
        </p:nvSpPr>
        <p:spPr>
          <a:xfrm>
            <a:off x="7808975" y="1901952"/>
            <a:ext cx="960119" cy="256032"/>
          </a:xfrm>
          <a:prstGeom prst="rect">
            <a:avLst/>
          </a:prstGeom>
          <a:noFill/>
        </p:spPr>
        <p:txBody>
          <a:bodyPr wrap="square" anchor="t" lIns="0" rIns="0" tIns="0" bIns="0">
            <a:noAutofit/>
          </a:bodyPr>
          <a:lstStyle/>
          <a:p>
            <a:pPr algn="ctr">
              <a:spcBef>
                <a:spcPts val="0"/>
              </a:spcBef>
              <a:spcAft>
                <a:spcPts val="300"/>
              </a:spcAft>
            </a:pPr>
            <a:r>
              <a:rPr sz="1100" b="1" i="0">
                <a:solidFill>
                  <a:srgbClr val="202124"/>
                </a:solidFill>
                <a:latin typeface="Arial"/>
              </a:rPr>
              <a:t>7. Decide</a:t>
            </a:r>
          </a:p>
        </p:txBody>
      </p:sp>
      <p:sp>
        <p:nvSpPr>
          <p:cNvPr id="136" name="TextBox 135"/>
          <p:cNvSpPr txBox="1"/>
          <p:nvPr/>
        </p:nvSpPr>
        <p:spPr>
          <a:xfrm>
            <a:off x="7827263" y="2176272"/>
            <a:ext cx="923544" cy="713232"/>
          </a:xfrm>
          <a:prstGeom prst="rect">
            <a:avLst/>
          </a:prstGeom>
          <a:noFill/>
        </p:spPr>
        <p:txBody>
          <a:bodyPr wrap="square" anchor="t" lIns="0" rIns="0" tIns="0" bIns="0">
            <a:noAutofit/>
          </a:bodyPr>
          <a:lstStyle/>
          <a:p>
            <a:pPr algn="ctr">
              <a:spcBef>
                <a:spcPts val="0"/>
              </a:spcBef>
              <a:spcAft>
                <a:spcPts val="300"/>
              </a:spcAft>
            </a:pPr>
            <a:r>
              <a:rPr sz="950" b="0" i="0">
                <a:solidFill>
                  <a:srgbClr val="5F6368"/>
                </a:solidFill>
                <a:latin typeface="Arial"/>
              </a:rPr>
              <a:t>AI credit decision → LOS · ULI · ONDC</a:t>
            </a:r>
          </a:p>
        </p:txBody>
      </p:sp>
      <p:sp>
        <p:nvSpPr>
          <p:cNvPr id="137" name="TextBox 136"/>
          <p:cNvSpPr txBox="1"/>
          <p:nvPr/>
        </p:nvSpPr>
        <p:spPr>
          <a:xfrm>
            <a:off x="320040" y="3063239"/>
            <a:ext cx="3657600" cy="228600"/>
          </a:xfrm>
          <a:prstGeom prst="rect">
            <a:avLst/>
          </a:prstGeom>
          <a:noFill/>
        </p:spPr>
        <p:txBody>
          <a:bodyPr wrap="square" anchor="t" lIns="0" rIns="0" tIns="0" bIns="0">
            <a:noAutofit/>
          </a:bodyPr>
          <a:lstStyle/>
          <a:p>
            <a:pPr algn="l">
              <a:spcBef>
                <a:spcPts val="0"/>
              </a:spcBef>
              <a:spcAft>
                <a:spcPts val="300"/>
              </a:spcAft>
            </a:pPr>
            <a:r>
              <a:rPr sz="950" b="0" i="0">
                <a:solidFill>
                  <a:srgbClr val="1A73E8"/>
                </a:solidFill>
                <a:latin typeface="Arial"/>
              </a:rPr>
              <a:t>■ </a:t>
            </a:r>
            <a:r>
              <a:rPr sz="950" b="0" i="0">
                <a:solidFill>
                  <a:srgbClr val="5F6368"/>
                </a:solidFill>
                <a:latin typeface="Arial"/>
              </a:rPr>
              <a:t>Gemini on Vertex AI   </a:t>
            </a:r>
            <a:r>
              <a:rPr sz="950" b="0" i="0">
                <a:solidFill>
                  <a:srgbClr val="7A1230"/>
                </a:solidFill>
                <a:latin typeface="Arial"/>
              </a:rPr>
              <a:t>■ </a:t>
            </a:r>
            <a:r>
              <a:rPr sz="950" b="0" i="0">
                <a:solidFill>
                  <a:srgbClr val="5F6368"/>
                </a:solidFill>
                <a:latin typeface="Arial"/>
              </a:rPr>
              <a:t>Deterministic code</a:t>
            </a:r>
          </a:p>
        </p:txBody>
      </p:sp>
      <p:sp>
        <p:nvSpPr>
          <p:cNvPr id="138" name="actor_0"/>
          <p:cNvSpPr/>
          <p:nvPr/>
        </p:nvSpPr>
        <p:spPr>
          <a:xfrm>
            <a:off x="320040" y="3429000"/>
            <a:ext cx="2743200" cy="141732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actor_0_circle"/>
          <p:cNvSpPr/>
          <p:nvPr/>
        </p:nvSpPr>
        <p:spPr>
          <a:xfrm>
            <a:off x="457200" y="3566160"/>
            <a:ext cx="384048" cy="384048"/>
          </a:xfrm>
          <a:prstGeom prst="ellipse">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0" name="actor_0_icon" descr="bank_w.png"/>
          <p:cNvPicPr>
            <a:picLocks noChangeAspect="1"/>
          </p:cNvPicPr>
          <p:nvPr/>
        </p:nvPicPr>
        <p:blipFill>
          <a:blip r:embed="rId12"/>
          <a:stretch>
            <a:fillRect/>
          </a:stretch>
        </p:blipFill>
        <p:spPr>
          <a:xfrm>
            <a:off x="541690" y="3650650"/>
            <a:ext cx="215066" cy="215066"/>
          </a:xfrm>
          <a:prstGeom prst="rect">
            <a:avLst/>
          </a:prstGeom>
        </p:spPr>
      </p:pic>
      <p:sp>
        <p:nvSpPr>
          <p:cNvPr id="141" name="TextBox 140"/>
          <p:cNvSpPr txBox="1"/>
          <p:nvPr/>
        </p:nvSpPr>
        <p:spPr>
          <a:xfrm>
            <a:off x="941832" y="3566160"/>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Customer (MSME)</a:t>
            </a:r>
          </a:p>
        </p:txBody>
      </p:sp>
      <p:sp>
        <p:nvSpPr>
          <p:cNvPr id="142" name="TextBox 141"/>
          <p:cNvSpPr txBox="1"/>
          <p:nvPr/>
        </p:nvSpPr>
        <p:spPr>
          <a:xfrm>
            <a:off x="457200" y="4023360"/>
            <a:ext cx="2468880" cy="777240"/>
          </a:xfrm>
          <a:prstGeom prst="rect">
            <a:avLst/>
          </a:prstGeom>
          <a:noFill/>
        </p:spPr>
        <p:txBody>
          <a:bodyPr wrap="square" anchor="t" lIns="0" rIns="0" tIns="0" bIns="0">
            <a:noAutofit/>
          </a:bodyPr>
          <a:lstStyle/>
          <a:p>
            <a:pPr algn="l">
              <a:spcBef>
                <a:spcPts val="0"/>
              </a:spcBef>
              <a:spcAft>
                <a:spcPts val="300"/>
              </a:spcAft>
            </a:pPr>
            <a:r>
              <a:rPr sz="1000" b="0" i="0">
                <a:solidFill>
                  <a:srgbClr val="202124"/>
                </a:solidFill>
                <a:latin typeface="Arial"/>
              </a:rPr>
              <a:t>Registers with the Udyam number, shares bank data through Account Aggregator, fetches GST, ITR and MCA, uploads documents</a:t>
            </a:r>
          </a:p>
        </p:txBody>
      </p:sp>
      <p:sp>
        <p:nvSpPr>
          <p:cNvPr id="143" name="actor_1"/>
          <p:cNvSpPr/>
          <p:nvPr/>
        </p:nvSpPr>
        <p:spPr>
          <a:xfrm>
            <a:off x="3200400" y="3429000"/>
            <a:ext cx="2743200" cy="141732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actor_1_circle"/>
          <p:cNvSpPr/>
          <p:nvPr/>
        </p:nvSpPr>
        <p:spPr>
          <a:xfrm>
            <a:off x="3337560" y="3566160"/>
            <a:ext cx="384048" cy="384048"/>
          </a:xfrm>
          <a:prstGeom prst="ellipse">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5" name="actor_1_icon" descr="users_w.png"/>
          <p:cNvPicPr>
            <a:picLocks noChangeAspect="1"/>
          </p:cNvPicPr>
          <p:nvPr/>
        </p:nvPicPr>
        <p:blipFill>
          <a:blip r:embed="rId13"/>
          <a:stretch>
            <a:fillRect/>
          </a:stretch>
        </p:blipFill>
        <p:spPr>
          <a:xfrm>
            <a:off x="3422050" y="3650650"/>
            <a:ext cx="215066" cy="215066"/>
          </a:xfrm>
          <a:prstGeom prst="rect">
            <a:avLst/>
          </a:prstGeom>
        </p:spPr>
      </p:pic>
      <p:sp>
        <p:nvSpPr>
          <p:cNvPr id="146" name="TextBox 145"/>
          <p:cNvSpPr txBox="1"/>
          <p:nvPr/>
        </p:nvSpPr>
        <p:spPr>
          <a:xfrm>
            <a:off x="3822191" y="3566160"/>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Credit officer</a:t>
            </a:r>
          </a:p>
        </p:txBody>
      </p:sp>
      <p:sp>
        <p:nvSpPr>
          <p:cNvPr id="147" name="TextBox 146"/>
          <p:cNvSpPr txBox="1"/>
          <p:nvPr/>
        </p:nvSpPr>
        <p:spPr>
          <a:xfrm>
            <a:off x="3337560" y="4023360"/>
            <a:ext cx="2468880" cy="777240"/>
          </a:xfrm>
          <a:prstGeom prst="rect">
            <a:avLst/>
          </a:prstGeom>
          <a:noFill/>
        </p:spPr>
        <p:txBody>
          <a:bodyPr wrap="square" anchor="t" lIns="0" rIns="0" tIns="0" bIns="0">
            <a:noAutofit/>
          </a:bodyPr>
          <a:lstStyle/>
          <a:p>
            <a:pPr algn="l">
              <a:spcBef>
                <a:spcPts val="0"/>
              </a:spcBef>
              <a:spcAft>
                <a:spcPts val="300"/>
              </a:spcAft>
            </a:pPr>
            <a:r>
              <a:rPr sz="1000" b="0" i="0">
                <a:solidFill>
                  <a:srgbClr val="202124"/>
                </a:solidFill>
                <a:latin typeface="Arial"/>
              </a:rPr>
              <a:t>One Risk Lens per customer: reviews each finding, generates and accepts the credit decision, sends the loan case</a:t>
            </a:r>
          </a:p>
        </p:txBody>
      </p:sp>
      <p:sp>
        <p:nvSpPr>
          <p:cNvPr id="148" name="actor_2"/>
          <p:cNvSpPr/>
          <p:nvPr/>
        </p:nvSpPr>
        <p:spPr>
          <a:xfrm>
            <a:off x="6080759" y="3429000"/>
            <a:ext cx="2743200" cy="141732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actor_2_circle"/>
          <p:cNvSpPr/>
          <p:nvPr/>
        </p:nvSpPr>
        <p:spPr>
          <a:xfrm>
            <a:off x="6217920" y="3566160"/>
            <a:ext cx="384048" cy="384048"/>
          </a:xfrm>
          <a:prstGeom prst="ellipse">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0" name="actor_2_icon" descr="globe_w.png"/>
          <p:cNvPicPr>
            <a:picLocks noChangeAspect="1"/>
          </p:cNvPicPr>
          <p:nvPr/>
        </p:nvPicPr>
        <p:blipFill>
          <a:blip r:embed="rId14"/>
          <a:stretch>
            <a:fillRect/>
          </a:stretch>
        </p:blipFill>
        <p:spPr>
          <a:xfrm>
            <a:off x="6302410" y="3650650"/>
            <a:ext cx="215066" cy="215066"/>
          </a:xfrm>
          <a:prstGeom prst="rect">
            <a:avLst/>
          </a:prstGeom>
        </p:spPr>
      </p:pic>
      <p:sp>
        <p:nvSpPr>
          <p:cNvPr id="151" name="TextBox 150"/>
          <p:cNvSpPr txBox="1"/>
          <p:nvPr/>
        </p:nvSpPr>
        <p:spPr>
          <a:xfrm>
            <a:off x="6702551" y="3566160"/>
            <a:ext cx="201168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LOS · ULI · ONDC</a:t>
            </a:r>
          </a:p>
        </p:txBody>
      </p:sp>
      <p:sp>
        <p:nvSpPr>
          <p:cNvPr id="152" name="TextBox 151"/>
          <p:cNvSpPr txBox="1"/>
          <p:nvPr/>
        </p:nvSpPr>
        <p:spPr>
          <a:xfrm>
            <a:off x="6217920" y="4023360"/>
            <a:ext cx="2468880" cy="777240"/>
          </a:xfrm>
          <a:prstGeom prst="rect">
            <a:avLst/>
          </a:prstGeom>
          <a:noFill/>
        </p:spPr>
        <p:txBody>
          <a:bodyPr wrap="square" anchor="t" lIns="0" rIns="0" tIns="0" bIns="0">
            <a:noAutofit/>
          </a:bodyPr>
          <a:lstStyle/>
          <a:p>
            <a:pPr algn="l">
              <a:spcBef>
                <a:spcPts val="0"/>
              </a:spcBef>
              <a:spcAft>
                <a:spcPts val="300"/>
              </a:spcAft>
            </a:pPr>
            <a:r>
              <a:rPr sz="1000" b="0" i="0">
                <a:solidFill>
                  <a:srgbClr val="202124"/>
                </a:solidFill>
                <a:latin typeface="Arial"/>
              </a:rPr>
              <a:t>Receive the accepted loan case with its risk assessment and the AI credit decision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 — a finding on the Risk Lens</a:t>
            </a:r>
            <a:endParaRPr sz="1600">
              <a:latin typeface="Google Sans Flex Medium"/>
              <a:ea typeface="Google Sans Flex Medium"/>
              <a:cs typeface="Google Sans Flex Medium"/>
              <a:sym typeface="Google Sans Flex Medium"/>
            </a:endParaRPr>
          </a:p>
        </p:txBody>
      </p:sp>
      <p:sp>
        <p:nvSpPr>
          <p:cNvPr id="104" name="mock_card"/>
          <p:cNvSpPr/>
          <p:nvPr/>
        </p:nvSpPr>
        <p:spPr>
          <a:xfrm>
            <a:off x="320040" y="1188720"/>
            <a:ext cx="5257800" cy="370332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mock_sev"/>
          <p:cNvSpPr/>
          <p:nvPr/>
        </p:nvSpPr>
        <p:spPr>
          <a:xfrm>
            <a:off x="548640" y="1353312"/>
            <a:ext cx="502920" cy="219456"/>
          </a:xfrm>
          <a:prstGeom prst="roundRect">
            <a:avLst>
              <a:gd name="adj" fmla="val 30000"/>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548640" y="1353312"/>
            <a:ext cx="502920" cy="219456"/>
          </a:xfrm>
          <a:prstGeom prst="rect">
            <a:avLst/>
          </a:prstGeom>
          <a:noFill/>
        </p:spPr>
        <p:txBody>
          <a:bodyPr wrap="square" anchor="ctr" lIns="0" rIns="0" tIns="0" bIns="0">
            <a:noAutofit/>
          </a:bodyPr>
          <a:lstStyle/>
          <a:p>
            <a:pPr algn="ctr">
              <a:spcBef>
                <a:spcPts val="0"/>
              </a:spcBef>
              <a:spcAft>
                <a:spcPts val="300"/>
              </a:spcAft>
            </a:pPr>
            <a:r>
              <a:rPr sz="900" b="1" i="0">
                <a:solidFill>
                  <a:srgbClr val="FFFFFF"/>
                </a:solidFill>
                <a:latin typeface="Arial"/>
              </a:rPr>
              <a:t>HIGH</a:t>
            </a:r>
          </a:p>
        </p:txBody>
      </p:sp>
      <p:sp>
        <p:nvSpPr>
          <p:cNvPr id="107" name="TextBox 106"/>
          <p:cNvSpPr txBox="1"/>
          <p:nvPr/>
        </p:nvSpPr>
        <p:spPr>
          <a:xfrm>
            <a:off x="1143000" y="1353312"/>
            <a:ext cx="4206240" cy="219456"/>
          </a:xfrm>
          <a:prstGeom prst="rect">
            <a:avLst/>
          </a:prstGeom>
          <a:noFill/>
        </p:spPr>
        <p:txBody>
          <a:bodyPr wrap="square" anchor="ctr" lIns="0" rIns="0" tIns="0" bIns="0">
            <a:noAutofit/>
          </a:bodyPr>
          <a:lstStyle/>
          <a:p>
            <a:pPr algn="l">
              <a:spcBef>
                <a:spcPts val="0"/>
              </a:spcBef>
              <a:spcAft>
                <a:spcPts val="300"/>
              </a:spcAft>
            </a:pPr>
            <a:r>
              <a:rPr sz="900" b="0" i="0">
                <a:solidFill>
                  <a:srgbClr val="5F6368"/>
                </a:solidFill>
                <a:latin typeface="Arial"/>
              </a:rPr>
              <a:t>Tampering   STATEMENT_VS_AA_MISMATCH   Deterministic</a:t>
            </a:r>
          </a:p>
        </p:txBody>
      </p:sp>
      <p:sp>
        <p:nvSpPr>
          <p:cNvPr id="108" name="TextBox 107"/>
          <p:cNvSpPr txBox="1"/>
          <p:nvPr/>
        </p:nvSpPr>
        <p:spPr>
          <a:xfrm>
            <a:off x="548640" y="1691640"/>
            <a:ext cx="4846320" cy="274320"/>
          </a:xfrm>
          <a:prstGeom prst="rect">
            <a:avLst/>
          </a:prstGeom>
          <a:noFill/>
        </p:spPr>
        <p:txBody>
          <a:bodyPr wrap="square" anchor="t" lIns="0" rIns="0" tIns="0" bIns="0">
            <a:noAutofit/>
          </a:bodyPr>
          <a:lstStyle/>
          <a:p>
            <a:pPr algn="l">
              <a:spcBef>
                <a:spcPts val="0"/>
              </a:spcBef>
              <a:spcAft>
                <a:spcPts val="300"/>
              </a:spcAft>
            </a:pPr>
            <a:r>
              <a:rPr sz="1250" b="1" i="0">
                <a:solidFill>
                  <a:srgbClr val="202124"/>
                </a:solidFill>
                <a:latin typeface="Arial"/>
              </a:rPr>
              <a:t>Statement disagrees with the bank's own record</a:t>
            </a:r>
          </a:p>
        </p:txBody>
      </p:sp>
      <p:sp>
        <p:nvSpPr>
          <p:cNvPr id="109" name="TextBox 108"/>
          <p:cNvSpPr txBox="1"/>
          <p:nvPr/>
        </p:nvSpPr>
        <p:spPr>
          <a:xfrm>
            <a:off x="548640" y="2011680"/>
            <a:ext cx="4846320" cy="868680"/>
          </a:xfrm>
          <a:prstGeom prst="rect">
            <a:avLst/>
          </a:prstGeom>
          <a:noFill/>
        </p:spPr>
        <p:txBody>
          <a:bodyPr wrap="square" anchor="t" lIns="0" rIns="0" tIns="0" bIns="0">
            <a:noAutofit/>
          </a:bodyPr>
          <a:lstStyle/>
          <a:p>
            <a:pPr algn="l">
              <a:spcBef>
                <a:spcPts val="0"/>
              </a:spcBef>
              <a:spcAft>
                <a:spcPts val="300"/>
              </a:spcAft>
            </a:pPr>
            <a:r>
              <a:rPr sz="1000" b="0" i="0">
                <a:solidFill>
                  <a:srgbClr val="202124"/>
                </a:solidFill>
                <a:latin typeface="Arial"/>
              </a:rPr>
              <a:t>91 of 93 rows agree with the bank's Account Aggregator record, with 2 amounts changed and 4 transactions left out. Net effect: ₹3,65,800 more in credits and ₹1,30,000 less in debits than the bank recorded.</a:t>
            </a:r>
          </a:p>
        </p:txBody>
      </p:sp>
      <p:sp>
        <p:nvSpPr>
          <p:cNvPr id="110" name="TextBox 109"/>
          <p:cNvSpPr txBox="1"/>
          <p:nvPr/>
        </p:nvSpPr>
        <p:spPr>
          <a:xfrm>
            <a:off x="548640" y="2670048"/>
            <a:ext cx="4846320" cy="411480"/>
          </a:xfrm>
          <a:prstGeom prst="rect">
            <a:avLst/>
          </a:prstGeom>
          <a:noFill/>
        </p:spPr>
        <p:txBody>
          <a:bodyPr wrap="square" anchor="t" lIns="0" rIns="0" tIns="0" bIns="0">
            <a:noAutofit/>
          </a:bodyPr>
          <a:lstStyle/>
          <a:p>
            <a:pPr algn="l">
              <a:spcBef>
                <a:spcPts val="0"/>
              </a:spcBef>
              <a:spcAft>
                <a:spcPts val="300"/>
              </a:spcAft>
            </a:pPr>
            <a:r>
              <a:rPr sz="1000" b="0" i="0">
                <a:solidFill>
                  <a:srgbClr val="202124"/>
                </a:solidFill>
                <a:latin typeface="Arial"/>
              </a:rPr>
              <a:t>↳ </a:t>
            </a:r>
            <a:r>
              <a:rPr sz="1000" b="1" i="0">
                <a:solidFill>
                  <a:srgbClr val="202124"/>
                </a:solidFill>
                <a:latin typeface="Arial"/>
              </a:rPr>
              <a:t>Assess the customer on the Account Aggregator data and ask them to explain every difference.</a:t>
            </a:r>
          </a:p>
        </p:txBody>
      </p:sp>
      <p:sp>
        <p:nvSpPr>
          <p:cNvPr id="111" name="TextBox 110"/>
          <p:cNvSpPr txBox="1"/>
          <p:nvPr/>
        </p:nvSpPr>
        <p:spPr>
          <a:xfrm>
            <a:off x="548640" y="3291839"/>
            <a:ext cx="4846320" cy="256032"/>
          </a:xfrm>
          <a:prstGeom prst="rect">
            <a:avLst/>
          </a:prstGeom>
          <a:noFill/>
        </p:spPr>
        <p:txBody>
          <a:bodyPr wrap="square" anchor="t" lIns="0" rIns="0" tIns="0" bIns="0">
            <a:noAutofit/>
          </a:bodyPr>
          <a:lstStyle/>
          <a:p>
            <a:pPr algn="l">
              <a:spcBef>
                <a:spcPts val="0"/>
              </a:spcBef>
              <a:spcAft>
                <a:spcPts val="300"/>
              </a:spcAft>
            </a:pPr>
            <a:r>
              <a:rPr sz="950" b="1" i="0">
                <a:solidFill>
                  <a:srgbClr val="7A1230"/>
                </a:solidFill>
                <a:latin typeface="Arial"/>
              </a:rPr>
              <a:t>↗ </a:t>
            </a:r>
            <a:r>
              <a:rPr sz="950" b="0" i="0">
                <a:solidFill>
                  <a:srgbClr val="5F6368"/>
                </a:solidFill>
                <a:latin typeface="Arial"/>
              </a:rPr>
              <a:t>statement.pdf, p. 2 · row 28 — bank recorded ₹1,09,500</a:t>
            </a:r>
          </a:p>
        </p:txBody>
      </p:sp>
      <p:sp>
        <p:nvSpPr>
          <p:cNvPr id="112" name="TextBox 111"/>
          <p:cNvSpPr txBox="1"/>
          <p:nvPr/>
        </p:nvSpPr>
        <p:spPr>
          <a:xfrm>
            <a:off x="548640" y="3602735"/>
            <a:ext cx="4846320" cy="256032"/>
          </a:xfrm>
          <a:prstGeom prst="rect">
            <a:avLst/>
          </a:prstGeom>
          <a:noFill/>
        </p:spPr>
        <p:txBody>
          <a:bodyPr wrap="square" anchor="t" lIns="0" rIns="0" tIns="0" bIns="0">
            <a:noAutofit/>
          </a:bodyPr>
          <a:lstStyle/>
          <a:p>
            <a:pPr algn="l">
              <a:spcBef>
                <a:spcPts val="0"/>
              </a:spcBef>
              <a:spcAft>
                <a:spcPts val="300"/>
              </a:spcAft>
            </a:pPr>
            <a:r>
              <a:rPr sz="950" b="1" i="0">
                <a:solidFill>
                  <a:srgbClr val="7A1230"/>
                </a:solidFill>
                <a:latin typeface="Arial"/>
              </a:rPr>
              <a:t>↗ </a:t>
            </a:r>
            <a:r>
              <a:rPr sz="950" b="0" i="0">
                <a:solidFill>
                  <a:srgbClr val="5F6368"/>
                </a:solidFill>
                <a:latin typeface="Arial"/>
              </a:rPr>
              <a:t>statement.pdf, p. 3 · row 54 — bank recorded ₹73,400</a:t>
            </a:r>
          </a:p>
        </p:txBody>
      </p:sp>
      <p:sp>
        <p:nvSpPr>
          <p:cNvPr id="113" name="TextBox 112"/>
          <p:cNvSpPr txBox="1"/>
          <p:nvPr/>
        </p:nvSpPr>
        <p:spPr>
          <a:xfrm>
            <a:off x="548640" y="3913631"/>
            <a:ext cx="4846320" cy="256032"/>
          </a:xfrm>
          <a:prstGeom prst="rect">
            <a:avLst/>
          </a:prstGeom>
          <a:noFill/>
        </p:spPr>
        <p:txBody>
          <a:bodyPr wrap="square" anchor="t" lIns="0" rIns="0" tIns="0" bIns="0">
            <a:noAutofit/>
          </a:bodyPr>
          <a:lstStyle/>
          <a:p>
            <a:pPr algn="l">
              <a:spcBef>
                <a:spcPts val="0"/>
              </a:spcBef>
              <a:spcAft>
                <a:spcPts val="300"/>
              </a:spcAft>
            </a:pPr>
            <a:r>
              <a:rPr sz="950" b="1" i="0">
                <a:solidFill>
                  <a:srgbClr val="7A1230"/>
                </a:solidFill>
                <a:latin typeface="Arial"/>
              </a:rPr>
              <a:t>↗ </a:t>
            </a:r>
            <a:r>
              <a:rPr sz="950" b="0" i="0">
                <a:solidFill>
                  <a:srgbClr val="5F6368"/>
                </a:solidFill>
                <a:latin typeface="Arial"/>
              </a:rPr>
              <a:t>statement.pdf, p. 1 · 05 Jun NACH EMI ₹32,500 — not on the statement</a:t>
            </a:r>
          </a:p>
        </p:txBody>
      </p:sp>
      <p:sp>
        <p:nvSpPr>
          <p:cNvPr id="114" name="mock_note"/>
          <p:cNvSpPr/>
          <p:nvPr/>
        </p:nvSpPr>
        <p:spPr>
          <a:xfrm>
            <a:off x="548640" y="4343400"/>
            <a:ext cx="3291840" cy="329184"/>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640080" y="4343400"/>
            <a:ext cx="3108960" cy="329184"/>
          </a:xfrm>
          <a:prstGeom prst="rect">
            <a:avLst/>
          </a:prstGeom>
          <a:noFill/>
        </p:spPr>
        <p:txBody>
          <a:bodyPr wrap="square" anchor="ctr" lIns="0" rIns="0" tIns="0" bIns="0">
            <a:noAutofit/>
          </a:bodyPr>
          <a:lstStyle/>
          <a:p>
            <a:pPr algn="l">
              <a:spcBef>
                <a:spcPts val="0"/>
              </a:spcBef>
              <a:spcAft>
                <a:spcPts val="300"/>
              </a:spcAft>
            </a:pPr>
            <a:r>
              <a:rPr sz="900" b="0" i="0">
                <a:solidFill>
                  <a:srgbClr val="5F6368"/>
                </a:solidFill>
                <a:latin typeface="Arial"/>
              </a:rPr>
              <a:t>Note for the review (optional)</a:t>
            </a:r>
          </a:p>
        </p:txBody>
      </p:sp>
      <p:sp>
        <p:nvSpPr>
          <p:cNvPr id="116" name="mock_confirm"/>
          <p:cNvSpPr/>
          <p:nvPr/>
        </p:nvSpPr>
        <p:spPr>
          <a:xfrm>
            <a:off x="3931920" y="4343400"/>
            <a:ext cx="731520" cy="329184"/>
          </a:xfrm>
          <a:prstGeom prst="roundRect">
            <a:avLst>
              <a:gd name="adj" fmla="val 6000"/>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3931920" y="4343400"/>
            <a:ext cx="731520" cy="329184"/>
          </a:xfrm>
          <a:prstGeom prst="rect">
            <a:avLst/>
          </a:prstGeom>
          <a:noFill/>
        </p:spPr>
        <p:txBody>
          <a:bodyPr wrap="square" anchor="ctr" lIns="0" rIns="0" tIns="0" bIns="0">
            <a:noAutofit/>
          </a:bodyPr>
          <a:lstStyle/>
          <a:p>
            <a:pPr algn="ctr">
              <a:spcBef>
                <a:spcPts val="0"/>
              </a:spcBef>
              <a:spcAft>
                <a:spcPts val="300"/>
              </a:spcAft>
            </a:pPr>
            <a:r>
              <a:rPr sz="950" b="1" i="0">
                <a:solidFill>
                  <a:srgbClr val="FFFFFF"/>
                </a:solidFill>
                <a:latin typeface="Arial"/>
              </a:rPr>
              <a:t>Confirm</a:t>
            </a:r>
          </a:p>
        </p:txBody>
      </p:sp>
      <p:sp>
        <p:nvSpPr>
          <p:cNvPr id="118" name="mock_dismiss"/>
          <p:cNvSpPr/>
          <p:nvPr/>
        </p:nvSpPr>
        <p:spPr>
          <a:xfrm>
            <a:off x="4736592" y="4343400"/>
            <a:ext cx="685800" cy="329184"/>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4736592" y="4343400"/>
            <a:ext cx="685800" cy="329184"/>
          </a:xfrm>
          <a:prstGeom prst="rect">
            <a:avLst/>
          </a:prstGeom>
          <a:noFill/>
        </p:spPr>
        <p:txBody>
          <a:bodyPr wrap="square" anchor="ctr" lIns="0" rIns="0" tIns="0" bIns="0">
            <a:noAutofit/>
          </a:bodyPr>
          <a:lstStyle/>
          <a:p>
            <a:pPr algn="ctr">
              <a:spcBef>
                <a:spcPts val="0"/>
              </a:spcBef>
              <a:spcAft>
                <a:spcPts val="300"/>
              </a:spcAft>
            </a:pPr>
            <a:r>
              <a:rPr sz="950" b="0" i="0">
                <a:solidFill>
                  <a:srgbClr val="202124"/>
                </a:solidFill>
                <a:latin typeface="Arial"/>
              </a:rPr>
              <a:t>Dismiss</a:t>
            </a:r>
          </a:p>
        </p:txBody>
      </p:sp>
      <p:sp>
        <p:nvSpPr>
          <p:cNvPr id="120" name="callout_0"/>
          <p:cNvSpPr/>
          <p:nvPr/>
        </p:nvSpPr>
        <p:spPr>
          <a:xfrm>
            <a:off x="5806440" y="1444752"/>
            <a:ext cx="274320" cy="274320"/>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5806440" y="1444752"/>
            <a:ext cx="274320" cy="274320"/>
          </a:xfrm>
          <a:prstGeom prst="rect">
            <a:avLst/>
          </a:prstGeom>
          <a:noFill/>
        </p:spPr>
        <p:txBody>
          <a:bodyPr wrap="square" anchor="ctr" lIns="0" rIns="0" tIns="0" bIns="0">
            <a:noAutofit/>
          </a:bodyPr>
          <a:lstStyle/>
          <a:p>
            <a:pPr algn="ctr">
              <a:spcBef>
                <a:spcPts val="0"/>
              </a:spcBef>
              <a:spcAft>
                <a:spcPts val="300"/>
              </a:spcAft>
            </a:pPr>
            <a:r>
              <a:rPr sz="1000" b="1" i="0">
                <a:solidFill>
                  <a:srgbClr val="FFFFFF"/>
                </a:solidFill>
                <a:latin typeface="Arial"/>
              </a:rPr>
              <a:t>1</a:t>
            </a:r>
          </a:p>
        </p:txBody>
      </p:sp>
      <p:sp>
        <p:nvSpPr>
          <p:cNvPr id="122" name="TextBox 121"/>
          <p:cNvSpPr txBox="1"/>
          <p:nvPr/>
        </p:nvSpPr>
        <p:spPr>
          <a:xfrm>
            <a:off x="6199632" y="1408176"/>
            <a:ext cx="2651760" cy="228600"/>
          </a:xfrm>
          <a:prstGeom prst="rect">
            <a:avLst/>
          </a:prstGeom>
          <a:noFill/>
        </p:spPr>
        <p:txBody>
          <a:bodyPr wrap="square" anchor="t" lIns="0" rIns="0" tIns="0" bIns="0">
            <a:noAutofit/>
          </a:bodyPr>
          <a:lstStyle/>
          <a:p>
            <a:pPr algn="l">
              <a:spcBef>
                <a:spcPts val="0"/>
              </a:spcBef>
              <a:spcAft>
                <a:spcPts val="300"/>
              </a:spcAft>
            </a:pPr>
            <a:r>
              <a:rPr sz="1050" b="1" i="0">
                <a:solidFill>
                  <a:srgbClr val="202124"/>
                </a:solidFill>
                <a:latin typeface="Arial"/>
              </a:rPr>
              <a:t>Severity, category, type and source</a:t>
            </a:r>
          </a:p>
        </p:txBody>
      </p:sp>
      <p:sp>
        <p:nvSpPr>
          <p:cNvPr id="123" name="TextBox 122"/>
          <p:cNvSpPr txBox="1"/>
          <p:nvPr/>
        </p:nvSpPr>
        <p:spPr>
          <a:xfrm>
            <a:off x="6199632" y="1618488"/>
            <a:ext cx="2651760" cy="365760"/>
          </a:xfrm>
          <a:prstGeom prst="rect">
            <a:avLst/>
          </a:prstGeom>
          <a:noFill/>
        </p:spPr>
        <p:txBody>
          <a:bodyPr wrap="square" anchor="t" lIns="0" rIns="0" tIns="0" bIns="0">
            <a:noAutofit/>
          </a:bodyPr>
          <a:lstStyle/>
          <a:p>
            <a:pPr algn="l">
              <a:spcBef>
                <a:spcPts val="0"/>
              </a:spcBef>
              <a:spcAft>
                <a:spcPts val="300"/>
              </a:spcAft>
            </a:pPr>
            <a:r>
              <a:rPr sz="950" b="0" i="0">
                <a:solidFill>
                  <a:srgbClr val="5F6368"/>
                </a:solidFill>
                <a:latin typeface="Arial"/>
              </a:rPr>
              <a:t>Deterministic or AI · verified</a:t>
            </a:r>
          </a:p>
        </p:txBody>
      </p:sp>
      <p:cxnSp>
        <p:nvCxnSpPr>
          <p:cNvPr id="124" name="Connector 123"/>
          <p:cNvCxnSpPr/>
          <p:nvPr/>
        </p:nvCxnSpPr>
        <p:spPr>
          <a:xfrm flipH="1">
            <a:off x="5614416" y="1581912"/>
            <a:ext cx="173736" cy="0"/>
          </a:xfrm>
          <a:prstGeom prst="line">
            <a:avLst/>
          </a:prstGeom>
          <a:ln w="12700">
            <a:solidFill>
              <a:srgbClr val="DADC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5" name="callout_1"/>
          <p:cNvSpPr/>
          <p:nvPr/>
        </p:nvSpPr>
        <p:spPr>
          <a:xfrm>
            <a:off x="5806440" y="2039112"/>
            <a:ext cx="274320" cy="274320"/>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5806440" y="2039112"/>
            <a:ext cx="274320" cy="274320"/>
          </a:xfrm>
          <a:prstGeom prst="rect">
            <a:avLst/>
          </a:prstGeom>
          <a:noFill/>
        </p:spPr>
        <p:txBody>
          <a:bodyPr wrap="square" anchor="ctr" lIns="0" rIns="0" tIns="0" bIns="0">
            <a:noAutofit/>
          </a:bodyPr>
          <a:lstStyle/>
          <a:p>
            <a:pPr algn="ctr">
              <a:spcBef>
                <a:spcPts val="0"/>
              </a:spcBef>
              <a:spcAft>
                <a:spcPts val="300"/>
              </a:spcAft>
            </a:pPr>
            <a:r>
              <a:rPr sz="1000" b="1" i="0">
                <a:solidFill>
                  <a:srgbClr val="FFFFFF"/>
                </a:solidFill>
                <a:latin typeface="Arial"/>
              </a:rPr>
              <a:t>2</a:t>
            </a:r>
          </a:p>
        </p:txBody>
      </p:sp>
      <p:sp>
        <p:nvSpPr>
          <p:cNvPr id="127" name="TextBox 126"/>
          <p:cNvSpPr txBox="1"/>
          <p:nvPr/>
        </p:nvSpPr>
        <p:spPr>
          <a:xfrm>
            <a:off x="6199632" y="2002536"/>
            <a:ext cx="2651760" cy="228600"/>
          </a:xfrm>
          <a:prstGeom prst="rect">
            <a:avLst/>
          </a:prstGeom>
          <a:noFill/>
        </p:spPr>
        <p:txBody>
          <a:bodyPr wrap="square" anchor="t" lIns="0" rIns="0" tIns="0" bIns="0">
            <a:noAutofit/>
          </a:bodyPr>
          <a:lstStyle/>
          <a:p>
            <a:pPr algn="l">
              <a:spcBef>
                <a:spcPts val="0"/>
              </a:spcBef>
              <a:spcAft>
                <a:spcPts val="300"/>
              </a:spcAft>
            </a:pPr>
            <a:r>
              <a:rPr sz="1050" b="1" i="0">
                <a:solidFill>
                  <a:srgbClr val="202124"/>
                </a:solidFill>
                <a:latin typeface="Arial"/>
              </a:rPr>
              <a:t>What is wrong, in rupees</a:t>
            </a:r>
          </a:p>
        </p:txBody>
      </p:sp>
      <p:sp>
        <p:nvSpPr>
          <p:cNvPr id="128" name="TextBox 127"/>
          <p:cNvSpPr txBox="1"/>
          <p:nvPr/>
        </p:nvSpPr>
        <p:spPr>
          <a:xfrm>
            <a:off x="6199632" y="2212848"/>
            <a:ext cx="2651760" cy="365760"/>
          </a:xfrm>
          <a:prstGeom prst="rect">
            <a:avLst/>
          </a:prstGeom>
          <a:noFill/>
        </p:spPr>
        <p:txBody>
          <a:bodyPr wrap="square" anchor="t" lIns="0" rIns="0" tIns="0" bIns="0">
            <a:noAutofit/>
          </a:bodyPr>
          <a:lstStyle/>
          <a:p>
            <a:pPr algn="l">
              <a:spcBef>
                <a:spcPts val="0"/>
              </a:spcBef>
              <a:spcAft>
                <a:spcPts val="300"/>
              </a:spcAft>
            </a:pPr>
            <a:r>
              <a:rPr sz="950" b="0" i="0">
                <a:solidFill>
                  <a:srgbClr val="5F6368"/>
                </a:solidFill>
                <a:latin typeface="Arial"/>
              </a:rPr>
              <a:t>Plain language a credit officer can act on</a:t>
            </a:r>
          </a:p>
        </p:txBody>
      </p:sp>
      <p:cxnSp>
        <p:nvCxnSpPr>
          <p:cNvPr id="129" name="Connector 128"/>
          <p:cNvCxnSpPr/>
          <p:nvPr/>
        </p:nvCxnSpPr>
        <p:spPr>
          <a:xfrm flipH="1">
            <a:off x="5614416" y="2176272"/>
            <a:ext cx="173736" cy="0"/>
          </a:xfrm>
          <a:prstGeom prst="line">
            <a:avLst/>
          </a:prstGeom>
          <a:ln w="12700">
            <a:solidFill>
              <a:srgbClr val="DADC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0" name="callout_2"/>
          <p:cNvSpPr/>
          <p:nvPr/>
        </p:nvSpPr>
        <p:spPr>
          <a:xfrm>
            <a:off x="5806440" y="2688336"/>
            <a:ext cx="274320" cy="274320"/>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Box 130"/>
          <p:cNvSpPr txBox="1"/>
          <p:nvPr/>
        </p:nvSpPr>
        <p:spPr>
          <a:xfrm>
            <a:off x="5806440" y="2688336"/>
            <a:ext cx="274320" cy="274320"/>
          </a:xfrm>
          <a:prstGeom prst="rect">
            <a:avLst/>
          </a:prstGeom>
          <a:noFill/>
        </p:spPr>
        <p:txBody>
          <a:bodyPr wrap="square" anchor="ctr" lIns="0" rIns="0" tIns="0" bIns="0">
            <a:noAutofit/>
          </a:bodyPr>
          <a:lstStyle/>
          <a:p>
            <a:pPr algn="ctr">
              <a:spcBef>
                <a:spcPts val="0"/>
              </a:spcBef>
              <a:spcAft>
                <a:spcPts val="300"/>
              </a:spcAft>
            </a:pPr>
            <a:r>
              <a:rPr sz="1000" b="1" i="0">
                <a:solidFill>
                  <a:srgbClr val="FFFFFF"/>
                </a:solidFill>
                <a:latin typeface="Arial"/>
              </a:rPr>
              <a:t>3</a:t>
            </a:r>
          </a:p>
        </p:txBody>
      </p:sp>
      <p:sp>
        <p:nvSpPr>
          <p:cNvPr id="132" name="TextBox 131"/>
          <p:cNvSpPr txBox="1"/>
          <p:nvPr/>
        </p:nvSpPr>
        <p:spPr>
          <a:xfrm>
            <a:off x="6199632" y="2651760"/>
            <a:ext cx="2651760" cy="228600"/>
          </a:xfrm>
          <a:prstGeom prst="rect">
            <a:avLst/>
          </a:prstGeom>
          <a:noFill/>
        </p:spPr>
        <p:txBody>
          <a:bodyPr wrap="square" anchor="t" lIns="0" rIns="0" tIns="0" bIns="0">
            <a:noAutofit/>
          </a:bodyPr>
          <a:lstStyle/>
          <a:p>
            <a:pPr algn="l">
              <a:spcBef>
                <a:spcPts val="0"/>
              </a:spcBef>
              <a:spcAft>
                <a:spcPts val="300"/>
              </a:spcAft>
            </a:pPr>
            <a:r>
              <a:rPr sz="1050" b="1" i="0">
                <a:solidFill>
                  <a:srgbClr val="202124"/>
                </a:solidFill>
                <a:latin typeface="Arial"/>
              </a:rPr>
              <a:t>What to do next</a:t>
            </a:r>
          </a:p>
        </p:txBody>
      </p:sp>
      <p:sp>
        <p:nvSpPr>
          <p:cNvPr id="133" name="TextBox 132"/>
          <p:cNvSpPr txBox="1"/>
          <p:nvPr/>
        </p:nvSpPr>
        <p:spPr>
          <a:xfrm>
            <a:off x="6199632" y="2862072"/>
            <a:ext cx="2651760" cy="365760"/>
          </a:xfrm>
          <a:prstGeom prst="rect">
            <a:avLst/>
          </a:prstGeom>
          <a:noFill/>
        </p:spPr>
        <p:txBody>
          <a:bodyPr wrap="square" anchor="t" lIns="0" rIns="0" tIns="0" bIns="0">
            <a:noAutofit/>
          </a:bodyPr>
          <a:lstStyle/>
          <a:p>
            <a:pPr algn="l">
              <a:spcBef>
                <a:spcPts val="0"/>
              </a:spcBef>
              <a:spcAft>
                <a:spcPts val="300"/>
              </a:spcAft>
            </a:pPr>
            <a:r>
              <a:rPr sz="950" b="0" i="0">
                <a:solidFill>
                  <a:srgbClr val="5F6368"/>
                </a:solidFill>
                <a:latin typeface="Arial"/>
              </a:rPr>
              <a:t>Names the policy clause when one applies</a:t>
            </a:r>
          </a:p>
        </p:txBody>
      </p:sp>
      <p:cxnSp>
        <p:nvCxnSpPr>
          <p:cNvPr id="134" name="Connector 133"/>
          <p:cNvCxnSpPr/>
          <p:nvPr/>
        </p:nvCxnSpPr>
        <p:spPr>
          <a:xfrm flipH="1">
            <a:off x="5614416" y="2825496"/>
            <a:ext cx="173736" cy="0"/>
          </a:xfrm>
          <a:prstGeom prst="line">
            <a:avLst/>
          </a:prstGeom>
          <a:ln w="12700">
            <a:solidFill>
              <a:srgbClr val="DADC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 name="callout_3"/>
          <p:cNvSpPr/>
          <p:nvPr/>
        </p:nvSpPr>
        <p:spPr>
          <a:xfrm>
            <a:off x="5806440" y="3429000"/>
            <a:ext cx="274320" cy="274320"/>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5806440" y="3429000"/>
            <a:ext cx="274320" cy="274320"/>
          </a:xfrm>
          <a:prstGeom prst="rect">
            <a:avLst/>
          </a:prstGeom>
          <a:noFill/>
        </p:spPr>
        <p:txBody>
          <a:bodyPr wrap="square" anchor="ctr" lIns="0" rIns="0" tIns="0" bIns="0">
            <a:noAutofit/>
          </a:bodyPr>
          <a:lstStyle/>
          <a:p>
            <a:pPr algn="ctr">
              <a:spcBef>
                <a:spcPts val="0"/>
              </a:spcBef>
              <a:spcAft>
                <a:spcPts val="300"/>
              </a:spcAft>
            </a:pPr>
            <a:r>
              <a:rPr sz="1000" b="1" i="0">
                <a:solidFill>
                  <a:srgbClr val="FFFFFF"/>
                </a:solidFill>
                <a:latin typeface="Arial"/>
              </a:rPr>
              <a:t>4</a:t>
            </a:r>
          </a:p>
        </p:txBody>
      </p:sp>
      <p:sp>
        <p:nvSpPr>
          <p:cNvPr id="137" name="TextBox 136"/>
          <p:cNvSpPr txBox="1"/>
          <p:nvPr/>
        </p:nvSpPr>
        <p:spPr>
          <a:xfrm>
            <a:off x="6199632" y="3392424"/>
            <a:ext cx="2651760" cy="228600"/>
          </a:xfrm>
          <a:prstGeom prst="rect">
            <a:avLst/>
          </a:prstGeom>
          <a:noFill/>
        </p:spPr>
        <p:txBody>
          <a:bodyPr wrap="square" anchor="t" lIns="0" rIns="0" tIns="0" bIns="0">
            <a:noAutofit/>
          </a:bodyPr>
          <a:lstStyle/>
          <a:p>
            <a:pPr algn="l">
              <a:spcBef>
                <a:spcPts val="0"/>
              </a:spcBef>
              <a:spcAft>
                <a:spcPts val="300"/>
              </a:spcAft>
            </a:pPr>
            <a:r>
              <a:rPr sz="1050" b="1" i="0">
                <a:solidFill>
                  <a:srgbClr val="202124"/>
                </a:solidFill>
                <a:latin typeface="Arial"/>
              </a:rPr>
              <a:t>Evidence links</a:t>
            </a:r>
          </a:p>
        </p:txBody>
      </p:sp>
      <p:sp>
        <p:nvSpPr>
          <p:cNvPr id="138" name="TextBox 137"/>
          <p:cNvSpPr txBox="1"/>
          <p:nvPr/>
        </p:nvSpPr>
        <p:spPr>
          <a:xfrm>
            <a:off x="6199632" y="3602736"/>
            <a:ext cx="2651760" cy="365760"/>
          </a:xfrm>
          <a:prstGeom prst="rect">
            <a:avLst/>
          </a:prstGeom>
          <a:noFill/>
        </p:spPr>
        <p:txBody>
          <a:bodyPr wrap="square" anchor="t" lIns="0" rIns="0" tIns="0" bIns="0">
            <a:noAutofit/>
          </a:bodyPr>
          <a:lstStyle/>
          <a:p>
            <a:pPr algn="l">
              <a:spcBef>
                <a:spcPts val="0"/>
              </a:spcBef>
              <a:spcAft>
                <a:spcPts val="300"/>
              </a:spcAft>
            </a:pPr>
            <a:r>
              <a:rPr sz="950" b="0" i="0">
                <a:solidFill>
                  <a:srgbClr val="5F6368"/>
                </a:solidFill>
                <a:latin typeface="Arial"/>
              </a:rPr>
              <a:t>Open the document at that page; rows, fields or policy</a:t>
            </a:r>
          </a:p>
        </p:txBody>
      </p:sp>
      <p:cxnSp>
        <p:nvCxnSpPr>
          <p:cNvPr id="139" name="Connector 138"/>
          <p:cNvCxnSpPr/>
          <p:nvPr/>
        </p:nvCxnSpPr>
        <p:spPr>
          <a:xfrm flipH="1">
            <a:off x="5614416" y="3566160"/>
            <a:ext cx="173736" cy="0"/>
          </a:xfrm>
          <a:prstGeom prst="line">
            <a:avLst/>
          </a:prstGeom>
          <a:ln w="12700">
            <a:solidFill>
              <a:srgbClr val="DADC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0" name="callout_4"/>
          <p:cNvSpPr/>
          <p:nvPr/>
        </p:nvSpPr>
        <p:spPr>
          <a:xfrm>
            <a:off x="5806440" y="4462272"/>
            <a:ext cx="274320" cy="274320"/>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5806440" y="4462272"/>
            <a:ext cx="274320" cy="274320"/>
          </a:xfrm>
          <a:prstGeom prst="rect">
            <a:avLst/>
          </a:prstGeom>
          <a:noFill/>
        </p:spPr>
        <p:txBody>
          <a:bodyPr wrap="square" anchor="ctr" lIns="0" rIns="0" tIns="0" bIns="0">
            <a:noAutofit/>
          </a:bodyPr>
          <a:lstStyle/>
          <a:p>
            <a:pPr algn="ctr">
              <a:spcBef>
                <a:spcPts val="0"/>
              </a:spcBef>
              <a:spcAft>
                <a:spcPts val="300"/>
              </a:spcAft>
            </a:pPr>
            <a:r>
              <a:rPr sz="1000" b="1" i="0">
                <a:solidFill>
                  <a:srgbClr val="FFFFFF"/>
                </a:solidFill>
                <a:latin typeface="Arial"/>
              </a:rPr>
              <a:t>5</a:t>
            </a:r>
          </a:p>
        </p:txBody>
      </p:sp>
      <p:sp>
        <p:nvSpPr>
          <p:cNvPr id="142" name="TextBox 141"/>
          <p:cNvSpPr txBox="1"/>
          <p:nvPr/>
        </p:nvSpPr>
        <p:spPr>
          <a:xfrm>
            <a:off x="6199632" y="4425696"/>
            <a:ext cx="2651760" cy="228600"/>
          </a:xfrm>
          <a:prstGeom prst="rect">
            <a:avLst/>
          </a:prstGeom>
          <a:noFill/>
        </p:spPr>
        <p:txBody>
          <a:bodyPr wrap="square" anchor="t" lIns="0" rIns="0" tIns="0" bIns="0">
            <a:noAutofit/>
          </a:bodyPr>
          <a:lstStyle/>
          <a:p>
            <a:pPr algn="l">
              <a:spcBef>
                <a:spcPts val="0"/>
              </a:spcBef>
              <a:spcAft>
                <a:spcPts val="300"/>
              </a:spcAft>
            </a:pPr>
            <a:r>
              <a:rPr sz="1050" b="1" i="0">
                <a:solidFill>
                  <a:srgbClr val="202124"/>
                </a:solidFill>
                <a:latin typeface="Arial"/>
              </a:rPr>
              <a:t>Review in one click</a:t>
            </a:r>
          </a:p>
        </p:txBody>
      </p:sp>
      <p:sp>
        <p:nvSpPr>
          <p:cNvPr id="143" name="TextBox 142"/>
          <p:cNvSpPr txBox="1"/>
          <p:nvPr/>
        </p:nvSpPr>
        <p:spPr>
          <a:xfrm>
            <a:off x="6199632" y="4636008"/>
            <a:ext cx="2651760" cy="365760"/>
          </a:xfrm>
          <a:prstGeom prst="rect">
            <a:avLst/>
          </a:prstGeom>
          <a:noFill/>
        </p:spPr>
        <p:txBody>
          <a:bodyPr wrap="square" anchor="t" lIns="0" rIns="0" tIns="0" bIns="0">
            <a:noAutofit/>
          </a:bodyPr>
          <a:lstStyle/>
          <a:p>
            <a:pPr algn="l">
              <a:spcBef>
                <a:spcPts val="0"/>
              </a:spcBef>
              <a:spcAft>
                <a:spcPts val="300"/>
              </a:spcAft>
            </a:pPr>
            <a:r>
              <a:rPr sz="950" b="0" i="0">
                <a:solidFill>
                  <a:srgbClr val="5F6368"/>
                </a:solidFill>
                <a:latin typeface="Arial"/>
              </a:rPr>
              <a:t>A confirmed finding blocks the loan case; a dismissed one does not</a:t>
            </a:r>
          </a:p>
        </p:txBody>
      </p:sp>
      <p:cxnSp>
        <p:nvCxnSpPr>
          <p:cNvPr id="144" name="Connector 143"/>
          <p:cNvCxnSpPr/>
          <p:nvPr/>
        </p:nvCxnSpPr>
        <p:spPr>
          <a:xfrm flipH="1">
            <a:off x="5614416" y="4599432"/>
            <a:ext cx="173736" cy="0"/>
          </a:xfrm>
          <a:prstGeom prst="line">
            <a:avLst/>
          </a:prstGeom>
          <a:ln w="12700">
            <a:solidFill>
              <a:srgbClr val="DADCE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arch_user_0"/>
          <p:cNvSpPr/>
          <p:nvPr/>
        </p:nvSpPr>
        <p:spPr>
          <a:xfrm>
            <a:off x="320040" y="1188720"/>
            <a:ext cx="2743200" cy="50292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411479" y="1225296"/>
            <a:ext cx="2560320" cy="228600"/>
          </a:xfrm>
          <a:prstGeom prst="rect">
            <a:avLst/>
          </a:prstGeom>
          <a:noFill/>
        </p:spPr>
        <p:txBody>
          <a:bodyPr wrap="square" anchor="t" lIns="0" rIns="0" tIns="0" bIns="0">
            <a:noAutofit/>
          </a:bodyPr>
          <a:lstStyle/>
          <a:p>
            <a:pPr algn="ctr">
              <a:spcBef>
                <a:spcPts val="0"/>
              </a:spcBef>
              <a:spcAft>
                <a:spcPts val="300"/>
              </a:spcAft>
            </a:pPr>
            <a:r>
              <a:rPr sz="1050" b="1" i="0">
                <a:solidFill>
                  <a:srgbClr val="202124"/>
                </a:solidFill>
                <a:latin typeface="Arial"/>
              </a:rPr>
              <a:t>Customer (MSME)</a:t>
            </a:r>
          </a:p>
        </p:txBody>
      </p:sp>
      <p:sp>
        <p:nvSpPr>
          <p:cNvPr id="114" name="TextBox 113"/>
          <p:cNvSpPr txBox="1"/>
          <p:nvPr/>
        </p:nvSpPr>
        <p:spPr>
          <a:xfrm>
            <a:off x="411479" y="1444752"/>
            <a:ext cx="2560320" cy="228600"/>
          </a:xfrm>
          <a:prstGeom prst="rect">
            <a:avLst/>
          </a:prstGeom>
          <a:noFill/>
        </p:spPr>
        <p:txBody>
          <a:bodyPr wrap="square" anchor="t" lIns="0" rIns="0" tIns="0" bIns="0">
            <a:noAutofit/>
          </a:bodyPr>
          <a:lstStyle/>
          <a:p>
            <a:pPr algn="ctr">
              <a:spcBef>
                <a:spcPts val="0"/>
              </a:spcBef>
              <a:spcAft>
                <a:spcPts val="300"/>
              </a:spcAft>
            </a:pPr>
            <a:r>
              <a:rPr sz="900" b="0" i="0">
                <a:solidFill>
                  <a:srgbClr val="5F6368"/>
                </a:solidFill>
                <a:latin typeface="Arial"/>
              </a:rPr>
              <a:t>Registration · AA consent · fetch and upload</a:t>
            </a:r>
          </a:p>
        </p:txBody>
      </p:sp>
      <p:cxnSp>
        <p:nvCxnSpPr>
          <p:cNvPr id="115" name="Connector 114"/>
          <p:cNvCxnSpPr/>
          <p:nvPr/>
        </p:nvCxnSpPr>
        <p:spPr>
          <a:xfrm>
            <a:off x="1691640" y="1709928"/>
            <a:ext cx="0" cy="192024"/>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6" name="arch_user_1"/>
          <p:cNvSpPr/>
          <p:nvPr/>
        </p:nvSpPr>
        <p:spPr>
          <a:xfrm>
            <a:off x="3200400" y="1188720"/>
            <a:ext cx="2743200" cy="50292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3291840" y="1225296"/>
            <a:ext cx="2560320" cy="228600"/>
          </a:xfrm>
          <a:prstGeom prst="rect">
            <a:avLst/>
          </a:prstGeom>
          <a:noFill/>
        </p:spPr>
        <p:txBody>
          <a:bodyPr wrap="square" anchor="t" lIns="0" rIns="0" tIns="0" bIns="0">
            <a:noAutofit/>
          </a:bodyPr>
          <a:lstStyle/>
          <a:p>
            <a:pPr algn="ctr">
              <a:spcBef>
                <a:spcPts val="0"/>
              </a:spcBef>
              <a:spcAft>
                <a:spcPts val="300"/>
              </a:spcAft>
            </a:pPr>
            <a:r>
              <a:rPr sz="1050" b="1" i="0">
                <a:solidFill>
                  <a:srgbClr val="202124"/>
                </a:solidFill>
                <a:latin typeface="Arial"/>
              </a:rPr>
              <a:t>Credit officer</a:t>
            </a:r>
          </a:p>
        </p:txBody>
      </p:sp>
      <p:sp>
        <p:nvSpPr>
          <p:cNvPr id="118" name="TextBox 117"/>
          <p:cNvSpPr txBox="1"/>
          <p:nvPr/>
        </p:nvSpPr>
        <p:spPr>
          <a:xfrm>
            <a:off x="3291840" y="1444752"/>
            <a:ext cx="2560320" cy="228600"/>
          </a:xfrm>
          <a:prstGeom prst="rect">
            <a:avLst/>
          </a:prstGeom>
          <a:noFill/>
        </p:spPr>
        <p:txBody>
          <a:bodyPr wrap="square" anchor="t" lIns="0" rIns="0" tIns="0" bIns="0">
            <a:noAutofit/>
          </a:bodyPr>
          <a:lstStyle/>
          <a:p>
            <a:pPr algn="ctr">
              <a:spcBef>
                <a:spcPts val="0"/>
              </a:spcBef>
              <a:spcAft>
                <a:spcPts val="300"/>
              </a:spcAft>
            </a:pPr>
            <a:r>
              <a:rPr sz="900" b="0" i="0">
                <a:solidFill>
                  <a:srgbClr val="5F6368"/>
                </a:solidFill>
                <a:latin typeface="Arial"/>
              </a:rPr>
              <a:t>Bank portal: Customers · Risk Lens · loan case</a:t>
            </a:r>
          </a:p>
        </p:txBody>
      </p:sp>
      <p:cxnSp>
        <p:nvCxnSpPr>
          <p:cNvPr id="119" name="Connector 118"/>
          <p:cNvCxnSpPr/>
          <p:nvPr/>
        </p:nvCxnSpPr>
        <p:spPr>
          <a:xfrm>
            <a:off x="4572000" y="1709928"/>
            <a:ext cx="0" cy="192024"/>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0" name="arch_user_2"/>
          <p:cNvSpPr/>
          <p:nvPr/>
        </p:nvSpPr>
        <p:spPr>
          <a:xfrm>
            <a:off x="6080759" y="1188720"/>
            <a:ext cx="2743200" cy="50292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6172199" y="1225296"/>
            <a:ext cx="2560320" cy="228600"/>
          </a:xfrm>
          <a:prstGeom prst="rect">
            <a:avLst/>
          </a:prstGeom>
          <a:noFill/>
        </p:spPr>
        <p:txBody>
          <a:bodyPr wrap="square" anchor="t" lIns="0" rIns="0" tIns="0" bIns="0">
            <a:noAutofit/>
          </a:bodyPr>
          <a:lstStyle/>
          <a:p>
            <a:pPr algn="ctr">
              <a:spcBef>
                <a:spcPts val="0"/>
              </a:spcBef>
              <a:spcAft>
                <a:spcPts val="300"/>
              </a:spcAft>
            </a:pPr>
            <a:r>
              <a:rPr sz="1050" b="1" i="0">
                <a:solidFill>
                  <a:srgbClr val="202124"/>
                </a:solidFill>
                <a:latin typeface="Arial"/>
              </a:rPr>
              <a:t>Source and lending systems</a:t>
            </a:r>
          </a:p>
        </p:txBody>
      </p:sp>
      <p:sp>
        <p:nvSpPr>
          <p:cNvPr id="122" name="TextBox 121"/>
          <p:cNvSpPr txBox="1"/>
          <p:nvPr/>
        </p:nvSpPr>
        <p:spPr>
          <a:xfrm>
            <a:off x="6172199" y="1444752"/>
            <a:ext cx="2560320" cy="228600"/>
          </a:xfrm>
          <a:prstGeom prst="rect">
            <a:avLst/>
          </a:prstGeom>
          <a:noFill/>
        </p:spPr>
        <p:txBody>
          <a:bodyPr wrap="square" anchor="t" lIns="0" rIns="0" tIns="0" bIns="0">
            <a:noAutofit/>
          </a:bodyPr>
          <a:lstStyle/>
          <a:p>
            <a:pPr algn="ctr">
              <a:spcBef>
                <a:spcPts val="0"/>
              </a:spcBef>
              <a:spcAft>
                <a:spcPts val="300"/>
              </a:spcAft>
            </a:pPr>
            <a:r>
              <a:rPr sz="900" b="0" i="0">
                <a:solidFill>
                  <a:srgbClr val="5F6368"/>
                </a:solidFill>
                <a:latin typeface="Arial"/>
              </a:rPr>
              <a:t>AA, GST, ITR, MCA in · LOS, ULI, ONDC out</a:t>
            </a:r>
          </a:p>
        </p:txBody>
      </p:sp>
      <p:cxnSp>
        <p:nvCxnSpPr>
          <p:cNvPr id="123" name="Connector 122"/>
          <p:cNvCxnSpPr/>
          <p:nvPr/>
        </p:nvCxnSpPr>
        <p:spPr>
          <a:xfrm>
            <a:off x="7452359" y="1709928"/>
            <a:ext cx="0" cy="192024"/>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arch_run"/>
          <p:cNvSpPr/>
          <p:nvPr/>
        </p:nvSpPr>
        <p:spPr>
          <a:xfrm>
            <a:off x="320040" y="1920240"/>
            <a:ext cx="8503920" cy="160020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457200" y="1975104"/>
            <a:ext cx="8229600" cy="228600"/>
          </a:xfrm>
          <a:prstGeom prst="rect">
            <a:avLst/>
          </a:prstGeom>
          <a:noFill/>
        </p:spPr>
        <p:txBody>
          <a:bodyPr wrap="square" anchor="t" lIns="0" rIns="0" tIns="0" bIns="0">
            <a:noAutofit/>
          </a:bodyPr>
          <a:lstStyle/>
          <a:p>
            <a:pPr algn="l">
              <a:spcBef>
                <a:spcPts val="0"/>
              </a:spcBef>
              <a:spcAft>
                <a:spcPts val="300"/>
              </a:spcAft>
            </a:pPr>
            <a:r>
              <a:rPr sz="1000" b="1" i="0">
                <a:solidFill>
                  <a:srgbClr val="202124"/>
                </a:solidFill>
                <a:latin typeface="Arial"/>
              </a:rPr>
              <a:t>Cloud Run · asia-south1 (Mumbai) — </a:t>
            </a:r>
            <a:r>
              <a:rPr sz="1000" b="0" i="0">
                <a:solidFill>
                  <a:srgbClr val="202124"/>
                </a:solidFill>
                <a:latin typeface="Arial"/>
              </a:rPr>
              <a:t>ASP.NET Core 8, one warm instance, built from source by buildpacks</a:t>
            </a:r>
          </a:p>
        </p:txBody>
      </p:sp>
      <p:sp>
        <p:nvSpPr>
          <p:cNvPr id="126" name="arch_mod_0"/>
          <p:cNvSpPr/>
          <p:nvPr/>
        </p:nvSpPr>
        <p:spPr>
          <a:xfrm>
            <a:off x="457200" y="2267712"/>
            <a:ext cx="1295400" cy="1115568"/>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512064" y="2322576"/>
            <a:ext cx="1185672" cy="384048"/>
          </a:xfrm>
          <a:prstGeom prst="rect">
            <a:avLst/>
          </a:prstGeom>
          <a:noFill/>
        </p:spPr>
        <p:txBody>
          <a:bodyPr wrap="square" anchor="ctr" lIns="0" rIns="0" tIns="0" bIns="0">
            <a:noAutofit/>
          </a:bodyPr>
          <a:lstStyle/>
          <a:p>
            <a:pPr algn="ctr">
              <a:spcBef>
                <a:spcPts val="0"/>
              </a:spcBef>
              <a:spcAft>
                <a:spcPts val="300"/>
              </a:spcAft>
            </a:pPr>
            <a:r>
              <a:rPr sz="1000" b="1" i="0">
                <a:solidFill>
                  <a:srgbClr val="202124"/>
                </a:solidFill>
                <a:latin typeface="Arial"/>
              </a:rPr>
              <a:t>Web</a:t>
            </a:r>
          </a:p>
        </p:txBody>
      </p:sp>
      <p:sp>
        <p:nvSpPr>
          <p:cNvPr id="128" name="TextBox 127"/>
          <p:cNvSpPr txBox="1"/>
          <p:nvPr/>
        </p:nvSpPr>
        <p:spPr>
          <a:xfrm>
            <a:off x="512064" y="2724912"/>
            <a:ext cx="1185672" cy="621792"/>
          </a:xfrm>
          <a:prstGeom prst="rect">
            <a:avLst/>
          </a:prstGeom>
          <a:noFill/>
        </p:spPr>
        <p:txBody>
          <a:bodyPr wrap="square" anchor="t" lIns="0" rIns="0" tIns="0" bIns="0">
            <a:noAutofit/>
          </a:bodyPr>
          <a:lstStyle/>
          <a:p>
            <a:pPr algn="ctr">
              <a:spcBef>
                <a:spcPts val="0"/>
              </a:spcBef>
              <a:spcAft>
                <a:spcPts val="300"/>
              </a:spcAft>
            </a:pPr>
            <a:r>
              <a:rPr sz="900" b="0" i="0">
                <a:solidFill>
                  <a:srgbClr val="5F6368"/>
                </a:solidFill>
                <a:latin typeface="Arial"/>
              </a:rPr>
              <a:t>Customers, Risk Lens, uploads; loan-case push</a:t>
            </a:r>
          </a:p>
        </p:txBody>
      </p:sp>
      <p:sp>
        <p:nvSpPr>
          <p:cNvPr id="129" name="arch_mod_1"/>
          <p:cNvSpPr/>
          <p:nvPr/>
        </p:nvSpPr>
        <p:spPr>
          <a:xfrm>
            <a:off x="1844040" y="2267712"/>
            <a:ext cx="1295400" cy="1115568"/>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1898904" y="2322576"/>
            <a:ext cx="1185672" cy="384048"/>
          </a:xfrm>
          <a:prstGeom prst="rect">
            <a:avLst/>
          </a:prstGeom>
          <a:noFill/>
        </p:spPr>
        <p:txBody>
          <a:bodyPr wrap="square" anchor="ctr" lIns="0" rIns="0" tIns="0" bIns="0">
            <a:noAutofit/>
          </a:bodyPr>
          <a:lstStyle/>
          <a:p>
            <a:pPr algn="ctr">
              <a:spcBef>
                <a:spcPts val="0"/>
              </a:spcBef>
              <a:spcAft>
                <a:spcPts val="300"/>
              </a:spcAft>
            </a:pPr>
            <a:r>
              <a:rPr sz="1000" b="1" i="0">
                <a:solidFill>
                  <a:srgbClr val="202124"/>
                </a:solidFill>
                <a:latin typeface="Arial"/>
              </a:rPr>
              <a:t>Extractor</a:t>
            </a:r>
          </a:p>
        </p:txBody>
      </p:sp>
      <p:sp>
        <p:nvSpPr>
          <p:cNvPr id="131" name="TextBox 130"/>
          <p:cNvSpPr txBox="1"/>
          <p:nvPr/>
        </p:nvSpPr>
        <p:spPr>
          <a:xfrm>
            <a:off x="1898904" y="2724912"/>
            <a:ext cx="1185672" cy="621792"/>
          </a:xfrm>
          <a:prstGeom prst="rect">
            <a:avLst/>
          </a:prstGeom>
          <a:noFill/>
        </p:spPr>
        <p:txBody>
          <a:bodyPr wrap="square" anchor="t" lIns="0" rIns="0" tIns="0" bIns="0">
            <a:noAutofit/>
          </a:bodyPr>
          <a:lstStyle/>
          <a:p>
            <a:pPr algn="ctr">
              <a:spcBef>
                <a:spcPts val="0"/>
              </a:spcBef>
              <a:spcAft>
                <a:spcPts val="300"/>
              </a:spcAft>
            </a:pPr>
            <a:r>
              <a:rPr sz="900" b="0" i="0">
                <a:solidFill>
                  <a:srgbClr val="5F6368"/>
                </a:solidFill>
                <a:latin typeface="Arial"/>
              </a:rPr>
              <a:t>Page-parallel reading, re-read on failure</a:t>
            </a:r>
          </a:p>
        </p:txBody>
      </p:sp>
      <p:sp>
        <p:nvSpPr>
          <p:cNvPr id="132" name="arch_mod_2"/>
          <p:cNvSpPr/>
          <p:nvPr/>
        </p:nvSpPr>
        <p:spPr>
          <a:xfrm>
            <a:off x="3230880" y="2267712"/>
            <a:ext cx="1295400" cy="1115568"/>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3285744" y="2322576"/>
            <a:ext cx="1185672" cy="384048"/>
          </a:xfrm>
          <a:prstGeom prst="rect">
            <a:avLst/>
          </a:prstGeom>
          <a:noFill/>
        </p:spPr>
        <p:txBody>
          <a:bodyPr wrap="square" anchor="ctr" lIns="0" rIns="0" tIns="0" bIns="0">
            <a:noAutofit/>
          </a:bodyPr>
          <a:lstStyle/>
          <a:p>
            <a:pPr algn="ctr">
              <a:spcBef>
                <a:spcPts val="0"/>
              </a:spcBef>
              <a:spcAft>
                <a:spcPts val="300"/>
              </a:spcAft>
            </a:pPr>
            <a:r>
              <a:rPr sz="1000" b="1" i="0">
                <a:solidFill>
                  <a:srgbClr val="202124"/>
                </a:solidFill>
                <a:latin typeface="Arial"/>
              </a:rPr>
              <a:t>Checks + network lens</a:t>
            </a:r>
          </a:p>
        </p:txBody>
      </p:sp>
      <p:sp>
        <p:nvSpPr>
          <p:cNvPr id="134" name="TextBox 133"/>
          <p:cNvSpPr txBox="1"/>
          <p:nvPr/>
        </p:nvSpPr>
        <p:spPr>
          <a:xfrm>
            <a:off x="3285744" y="2724912"/>
            <a:ext cx="1185672" cy="621792"/>
          </a:xfrm>
          <a:prstGeom prst="rect">
            <a:avLst/>
          </a:prstGeom>
          <a:noFill/>
        </p:spPr>
        <p:txBody>
          <a:bodyPr wrap="square" anchor="t" lIns="0" rIns="0" tIns="0" bIns="0">
            <a:noAutofit/>
          </a:bodyPr>
          <a:lstStyle/>
          <a:p>
            <a:pPr algn="ctr">
              <a:spcBef>
                <a:spcPts val="0"/>
              </a:spcBef>
              <a:spcAft>
                <a:spcPts val="300"/>
              </a:spcAft>
            </a:pPr>
            <a:r>
              <a:rPr sz="900" b="0" i="0">
                <a:solidFill>
                  <a:srgbClr val="5F6368"/>
                </a:solidFill>
                <a:latin typeface="Arial"/>
              </a:rPr>
              <a:t>Nine checks, bank flags; links between customers</a:t>
            </a:r>
          </a:p>
        </p:txBody>
      </p:sp>
      <p:sp>
        <p:nvSpPr>
          <p:cNvPr id="135" name="arch_mod_3"/>
          <p:cNvSpPr/>
          <p:nvPr/>
        </p:nvSpPr>
        <p:spPr>
          <a:xfrm>
            <a:off x="4617720" y="2267712"/>
            <a:ext cx="1295400" cy="1115568"/>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4672584" y="2322576"/>
            <a:ext cx="1185672" cy="384048"/>
          </a:xfrm>
          <a:prstGeom prst="rect">
            <a:avLst/>
          </a:prstGeom>
          <a:noFill/>
        </p:spPr>
        <p:txBody>
          <a:bodyPr wrap="square" anchor="ctr" lIns="0" rIns="0" tIns="0" bIns="0">
            <a:noAutofit/>
          </a:bodyPr>
          <a:lstStyle/>
          <a:p>
            <a:pPr algn="ctr">
              <a:spcBef>
                <a:spcPts val="0"/>
              </a:spcBef>
              <a:spcAft>
                <a:spcPts val="300"/>
              </a:spcAft>
            </a:pPr>
            <a:r>
              <a:rPr sz="1000" b="1" i="0">
                <a:solidFill>
                  <a:srgbClr val="202124"/>
                </a:solidFill>
                <a:latin typeface="Arial"/>
              </a:rPr>
              <a:t>Investigator</a:t>
            </a:r>
          </a:p>
        </p:txBody>
      </p:sp>
      <p:sp>
        <p:nvSpPr>
          <p:cNvPr id="137" name="TextBox 136"/>
          <p:cNvSpPr txBox="1"/>
          <p:nvPr/>
        </p:nvSpPr>
        <p:spPr>
          <a:xfrm>
            <a:off x="4672584" y="2724912"/>
            <a:ext cx="1185672" cy="621792"/>
          </a:xfrm>
          <a:prstGeom prst="rect">
            <a:avLst/>
          </a:prstGeom>
          <a:noFill/>
        </p:spPr>
        <p:txBody>
          <a:bodyPr wrap="square" anchor="t" lIns="0" rIns="0" tIns="0" bIns="0">
            <a:noAutofit/>
          </a:bodyPr>
          <a:lstStyle/>
          <a:p>
            <a:pPr algn="ctr">
              <a:spcBef>
                <a:spcPts val="0"/>
              </a:spcBef>
              <a:spcAft>
                <a:spcPts val="300"/>
              </a:spcAft>
            </a:pPr>
            <a:r>
              <a:rPr sz="900" b="0" i="0">
                <a:solidFill>
                  <a:srgbClr val="5F6368"/>
                </a:solidFill>
                <a:latin typeface="Arial"/>
              </a:rPr>
              <a:t>Function calling, customer-scoped; claims verified</a:t>
            </a:r>
          </a:p>
        </p:txBody>
      </p:sp>
      <p:sp>
        <p:nvSpPr>
          <p:cNvPr id="138" name="arch_mod_4"/>
          <p:cNvSpPr/>
          <p:nvPr/>
        </p:nvSpPr>
        <p:spPr>
          <a:xfrm>
            <a:off x="6004560" y="2267712"/>
            <a:ext cx="1295400" cy="1115568"/>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6059424" y="2322576"/>
            <a:ext cx="1185672" cy="384048"/>
          </a:xfrm>
          <a:prstGeom prst="rect">
            <a:avLst/>
          </a:prstGeom>
          <a:noFill/>
        </p:spPr>
        <p:txBody>
          <a:bodyPr wrap="square" anchor="ctr" lIns="0" rIns="0" tIns="0" bIns="0">
            <a:noAutofit/>
          </a:bodyPr>
          <a:lstStyle/>
          <a:p>
            <a:pPr algn="ctr">
              <a:spcBef>
                <a:spcPts val="0"/>
              </a:spcBef>
              <a:spcAft>
                <a:spcPts val="300"/>
              </a:spcAft>
            </a:pPr>
            <a:r>
              <a:rPr sz="1000" b="1" i="0">
                <a:solidFill>
                  <a:srgbClr val="202124"/>
                </a:solidFill>
                <a:latin typeface="Arial"/>
              </a:rPr>
              <a:t>Credit decision</a:t>
            </a:r>
          </a:p>
        </p:txBody>
      </p:sp>
      <p:sp>
        <p:nvSpPr>
          <p:cNvPr id="140" name="TextBox 139"/>
          <p:cNvSpPr txBox="1"/>
          <p:nvPr/>
        </p:nvSpPr>
        <p:spPr>
          <a:xfrm>
            <a:off x="6059424" y="2724912"/>
            <a:ext cx="1185672" cy="621792"/>
          </a:xfrm>
          <a:prstGeom prst="rect">
            <a:avLst/>
          </a:prstGeom>
          <a:noFill/>
        </p:spPr>
        <p:txBody>
          <a:bodyPr wrap="square" anchor="t" lIns="0" rIns="0" tIns="0" bIns="0">
            <a:noAutofit/>
          </a:bodyPr>
          <a:lstStyle/>
          <a:p>
            <a:pPr algn="ctr">
              <a:spcBef>
                <a:spcPts val="0"/>
              </a:spcBef>
              <a:spcAft>
                <a:spcPts val="300"/>
              </a:spcAft>
            </a:pPr>
            <a:r>
              <a:rPr sz="900" b="0" i="0">
                <a:solidFill>
                  <a:srgbClr val="5F6368"/>
                </a:solidFill>
                <a:latin typeface="Arial"/>
              </a:rPr>
              <a:t>Capacity in code; Pro decides; figures verified</a:t>
            </a:r>
          </a:p>
        </p:txBody>
      </p:sp>
      <p:sp>
        <p:nvSpPr>
          <p:cNvPr id="141" name="arch_mod_5"/>
          <p:cNvSpPr/>
          <p:nvPr/>
        </p:nvSpPr>
        <p:spPr>
          <a:xfrm>
            <a:off x="7391400" y="2267712"/>
            <a:ext cx="1295400" cy="1115568"/>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7446264" y="2322576"/>
            <a:ext cx="1185672" cy="384048"/>
          </a:xfrm>
          <a:prstGeom prst="rect">
            <a:avLst/>
          </a:prstGeom>
          <a:noFill/>
        </p:spPr>
        <p:txBody>
          <a:bodyPr wrap="square" anchor="ctr" lIns="0" rIns="0" tIns="0" bIns="0">
            <a:noAutofit/>
          </a:bodyPr>
          <a:lstStyle/>
          <a:p>
            <a:pPr algn="ctr">
              <a:spcBef>
                <a:spcPts val="0"/>
              </a:spcBef>
              <a:spcAft>
                <a:spcPts val="300"/>
              </a:spcAft>
            </a:pPr>
            <a:r>
              <a:rPr sz="1000" b="1" i="0">
                <a:solidFill>
                  <a:srgbClr val="202124"/>
                </a:solidFill>
                <a:latin typeface="Arial"/>
              </a:rPr>
              <a:t>Knowledge (RAG)</a:t>
            </a:r>
          </a:p>
        </p:txBody>
      </p:sp>
      <p:sp>
        <p:nvSpPr>
          <p:cNvPr id="143" name="TextBox 142"/>
          <p:cNvSpPr txBox="1"/>
          <p:nvPr/>
        </p:nvSpPr>
        <p:spPr>
          <a:xfrm>
            <a:off x="7446264" y="2724912"/>
            <a:ext cx="1185672" cy="621792"/>
          </a:xfrm>
          <a:prstGeom prst="rect">
            <a:avLst/>
          </a:prstGeom>
          <a:noFill/>
        </p:spPr>
        <p:txBody>
          <a:bodyPr wrap="square" anchor="t" lIns="0" rIns="0" tIns="0" bIns="0">
            <a:noAutofit/>
          </a:bodyPr>
          <a:lstStyle/>
          <a:p>
            <a:pPr algn="ctr">
              <a:spcBef>
                <a:spcPts val="0"/>
              </a:spcBef>
              <a:spcAft>
                <a:spcPts val="300"/>
              </a:spcAft>
            </a:pPr>
            <a:r>
              <a:rPr sz="900" b="0" i="0">
                <a:solidFill>
                  <a:srgbClr val="5F6368"/>
                </a:solidFill>
                <a:latin typeface="Arial"/>
              </a:rPr>
              <a:t>tsvector + HNSW, RRF, rerank</a:t>
            </a:r>
          </a:p>
        </p:txBody>
      </p:sp>
      <p:cxnSp>
        <p:nvCxnSpPr>
          <p:cNvPr id="144" name="Connector 143"/>
          <p:cNvCxnSpPr/>
          <p:nvPr/>
        </p:nvCxnSpPr>
        <p:spPr>
          <a:xfrm>
            <a:off x="1691640" y="3538728"/>
            <a:ext cx="0" cy="210311"/>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5" name="arch_svc_0"/>
          <p:cNvSpPr/>
          <p:nvPr/>
        </p:nvSpPr>
        <p:spPr>
          <a:xfrm>
            <a:off x="320040" y="3767328"/>
            <a:ext cx="2743200" cy="10972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arch_svc_0_circle"/>
          <p:cNvSpPr/>
          <p:nvPr/>
        </p:nvSpPr>
        <p:spPr>
          <a:xfrm>
            <a:off x="429768" y="3886200"/>
            <a:ext cx="365760" cy="36576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7" name="arch_svc_0_icon" descr="spark_w.png"/>
          <p:cNvPicPr>
            <a:picLocks noChangeAspect="1"/>
          </p:cNvPicPr>
          <p:nvPr/>
        </p:nvPicPr>
        <p:blipFill>
          <a:blip r:embed="rId5"/>
          <a:stretch>
            <a:fillRect/>
          </a:stretch>
        </p:blipFill>
        <p:spPr>
          <a:xfrm>
            <a:off x="510235" y="3966667"/>
            <a:ext cx="204825" cy="204825"/>
          </a:xfrm>
          <a:prstGeom prst="rect">
            <a:avLst/>
          </a:prstGeom>
        </p:spPr>
      </p:pic>
      <p:sp>
        <p:nvSpPr>
          <p:cNvPr id="148" name="TextBox 147"/>
          <p:cNvSpPr txBox="1"/>
          <p:nvPr/>
        </p:nvSpPr>
        <p:spPr>
          <a:xfrm>
            <a:off x="886968" y="3886200"/>
            <a:ext cx="2103120" cy="365760"/>
          </a:xfrm>
          <a:prstGeom prst="rect">
            <a:avLst/>
          </a:prstGeom>
          <a:noFill/>
        </p:spPr>
        <p:txBody>
          <a:bodyPr wrap="square" anchor="ctr" lIns="0" rIns="0" tIns="0" bIns="0">
            <a:noAutofit/>
          </a:bodyPr>
          <a:lstStyle/>
          <a:p>
            <a:pPr algn="l">
              <a:spcBef>
                <a:spcPts val="0"/>
              </a:spcBef>
              <a:spcAft>
                <a:spcPts val="300"/>
              </a:spcAft>
            </a:pPr>
            <a:r>
              <a:rPr sz="1050" b="1" i="0">
                <a:solidFill>
                  <a:srgbClr val="202124"/>
                </a:solidFill>
                <a:latin typeface="Arial"/>
              </a:rPr>
              <a:t>Vertex AI · Gemini</a:t>
            </a:r>
          </a:p>
        </p:txBody>
      </p:sp>
      <p:sp>
        <p:nvSpPr>
          <p:cNvPr id="149" name="TextBox 148"/>
          <p:cNvSpPr txBox="1"/>
          <p:nvPr/>
        </p:nvSpPr>
        <p:spPr>
          <a:xfrm>
            <a:off x="457200" y="4315968"/>
            <a:ext cx="2514600" cy="502920"/>
          </a:xfrm>
          <a:prstGeom prst="rect">
            <a:avLst/>
          </a:prstGeom>
          <a:noFill/>
        </p:spPr>
        <p:txBody>
          <a:bodyPr wrap="square" anchor="t" lIns="0" rIns="0" tIns="0" bIns="0">
            <a:noAutofit/>
          </a:bodyPr>
          <a:lstStyle/>
          <a:p>
            <a:pPr algn="l">
              <a:spcBef>
                <a:spcPts val="0"/>
              </a:spcBef>
              <a:spcAft>
                <a:spcPts val="100"/>
              </a:spcAft>
            </a:pPr>
            <a:r>
              <a:rPr sz="950" b="1" i="0">
                <a:solidFill>
                  <a:srgbClr val="202124"/>
                </a:solidFill>
                <a:latin typeface="Arial"/>
              </a:rPr>
              <a:t>Mumbai: </a:t>
            </a:r>
            <a:r>
              <a:rPr sz="950" b="0" i="0">
                <a:solidFill>
                  <a:srgbClr val="202124"/>
                </a:solidFill>
                <a:latin typeface="Arial"/>
              </a:rPr>
              <a:t>Flash extraction, embeddings</a:t>
            </a:r>
          </a:p>
          <a:p>
            <a:pPr algn="l">
              <a:spcBef>
                <a:spcPts val="0"/>
              </a:spcBef>
              <a:spcAft>
                <a:spcPts val="100"/>
              </a:spcAft>
            </a:pPr>
            <a:r>
              <a:rPr sz="950" b="1" i="0">
                <a:solidFill>
                  <a:srgbClr val="202124"/>
                </a:solidFill>
                <a:latin typeface="Arial"/>
              </a:rPr>
              <a:t>global: </a:t>
            </a:r>
            <a:r>
              <a:rPr sz="950" b="0" i="0">
                <a:solidFill>
                  <a:srgbClr val="202124"/>
                </a:solidFill>
                <a:latin typeface="Arial"/>
              </a:rPr>
              <a:t>Pro investigator and credit decision</a:t>
            </a:r>
          </a:p>
        </p:txBody>
      </p:sp>
      <p:cxnSp>
        <p:nvCxnSpPr>
          <p:cNvPr id="150" name="Connector 149"/>
          <p:cNvCxnSpPr/>
          <p:nvPr/>
        </p:nvCxnSpPr>
        <p:spPr>
          <a:xfrm>
            <a:off x="4572000" y="3538728"/>
            <a:ext cx="0" cy="210311"/>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1" name="arch_svc_1"/>
          <p:cNvSpPr/>
          <p:nvPr/>
        </p:nvSpPr>
        <p:spPr>
          <a:xfrm>
            <a:off x="3200400" y="3767328"/>
            <a:ext cx="2743200" cy="10972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arch_svc_1_circle"/>
          <p:cNvSpPr/>
          <p:nvPr/>
        </p:nvSpPr>
        <p:spPr>
          <a:xfrm>
            <a:off x="3310128" y="3886200"/>
            <a:ext cx="365760" cy="36576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3" name="arch_svc_1_icon" descr="db_w.png"/>
          <p:cNvPicPr>
            <a:picLocks noChangeAspect="1"/>
          </p:cNvPicPr>
          <p:nvPr/>
        </p:nvPicPr>
        <p:blipFill>
          <a:blip r:embed="rId6"/>
          <a:stretch>
            <a:fillRect/>
          </a:stretch>
        </p:blipFill>
        <p:spPr>
          <a:xfrm>
            <a:off x="3390595" y="3966667"/>
            <a:ext cx="204825" cy="204825"/>
          </a:xfrm>
          <a:prstGeom prst="rect">
            <a:avLst/>
          </a:prstGeom>
        </p:spPr>
      </p:pic>
      <p:sp>
        <p:nvSpPr>
          <p:cNvPr id="154" name="TextBox 153"/>
          <p:cNvSpPr txBox="1"/>
          <p:nvPr/>
        </p:nvSpPr>
        <p:spPr>
          <a:xfrm>
            <a:off x="3767328" y="3886200"/>
            <a:ext cx="2103120" cy="365760"/>
          </a:xfrm>
          <a:prstGeom prst="rect">
            <a:avLst/>
          </a:prstGeom>
          <a:noFill/>
        </p:spPr>
        <p:txBody>
          <a:bodyPr wrap="square" anchor="ctr" lIns="0" rIns="0" tIns="0" bIns="0">
            <a:noAutofit/>
          </a:bodyPr>
          <a:lstStyle/>
          <a:p>
            <a:pPr algn="l">
              <a:spcBef>
                <a:spcPts val="0"/>
              </a:spcBef>
              <a:spcAft>
                <a:spcPts val="300"/>
              </a:spcAft>
            </a:pPr>
            <a:r>
              <a:rPr sz="1050" b="1" i="0">
                <a:solidFill>
                  <a:srgbClr val="202124"/>
                </a:solidFill>
                <a:latin typeface="Arial"/>
              </a:rPr>
              <a:t>Cloud SQL · PostgreSQL 16</a:t>
            </a:r>
          </a:p>
        </p:txBody>
      </p:sp>
      <p:sp>
        <p:nvSpPr>
          <p:cNvPr id="155" name="TextBox 154"/>
          <p:cNvSpPr txBox="1"/>
          <p:nvPr/>
        </p:nvSpPr>
        <p:spPr>
          <a:xfrm>
            <a:off x="3337560" y="4315968"/>
            <a:ext cx="2514600" cy="502920"/>
          </a:xfrm>
          <a:prstGeom prst="rect">
            <a:avLst/>
          </a:prstGeom>
          <a:noFill/>
        </p:spPr>
        <p:txBody>
          <a:bodyPr wrap="square" anchor="t" lIns="0" rIns="0" tIns="0" bIns="0">
            <a:noAutofit/>
          </a:bodyPr>
          <a:lstStyle/>
          <a:p>
            <a:pPr algn="l">
              <a:spcBef>
                <a:spcPts val="0"/>
              </a:spcBef>
              <a:spcAft>
                <a:spcPts val="100"/>
              </a:spcAft>
            </a:pPr>
            <a:r>
              <a:rPr sz="950" b="1" i="0">
                <a:solidFill>
                  <a:srgbClr val="202124"/>
                </a:solidFill>
                <a:latin typeface="Arial"/>
              </a:rPr>
              <a:t>pgvector + full-text: </a:t>
            </a:r>
            <a:r>
              <a:rPr sz="950" b="0" i="0">
                <a:solidFill>
                  <a:srgbClr val="202124"/>
                </a:solidFill>
                <a:latin typeface="Arial"/>
              </a:rPr>
              <a:t>assessments,</a:t>
            </a:r>
          </a:p>
          <a:p>
            <a:pPr algn="l">
              <a:spcBef>
                <a:spcPts val="0"/>
              </a:spcBef>
              <a:spcAft>
                <a:spcPts val="100"/>
              </a:spcAft>
            </a:pPr>
            <a:r>
              <a:rPr sz="950" b="0" i="0">
                <a:solidFill>
                  <a:srgbClr val="202124"/>
                </a:solidFill>
                <a:latin typeface="Arial"/>
              </a:rPr>
              <a:t>findings, credit decisions, knowledge</a:t>
            </a:r>
          </a:p>
        </p:txBody>
      </p:sp>
      <p:cxnSp>
        <p:nvCxnSpPr>
          <p:cNvPr id="156" name="Connector 155"/>
          <p:cNvCxnSpPr/>
          <p:nvPr/>
        </p:nvCxnSpPr>
        <p:spPr>
          <a:xfrm>
            <a:off x="7452359" y="3538728"/>
            <a:ext cx="0" cy="210311"/>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7" name="arch_svc_2"/>
          <p:cNvSpPr/>
          <p:nvPr/>
        </p:nvSpPr>
        <p:spPr>
          <a:xfrm>
            <a:off x="6080759" y="3767328"/>
            <a:ext cx="2743200" cy="10972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arch_svc_2_circle"/>
          <p:cNvSpPr/>
          <p:nvPr/>
        </p:nvSpPr>
        <p:spPr>
          <a:xfrm>
            <a:off x="6190488" y="3886200"/>
            <a:ext cx="365760" cy="36576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arch_svc_2_icon" descr="cloud_w.png"/>
          <p:cNvPicPr>
            <a:picLocks noChangeAspect="1"/>
          </p:cNvPicPr>
          <p:nvPr/>
        </p:nvPicPr>
        <p:blipFill>
          <a:blip r:embed="rId7"/>
          <a:stretch>
            <a:fillRect/>
          </a:stretch>
        </p:blipFill>
        <p:spPr>
          <a:xfrm>
            <a:off x="6270955" y="3966667"/>
            <a:ext cx="204825" cy="204825"/>
          </a:xfrm>
          <a:prstGeom prst="rect">
            <a:avLst/>
          </a:prstGeom>
        </p:spPr>
      </p:pic>
      <p:sp>
        <p:nvSpPr>
          <p:cNvPr id="160" name="TextBox 159"/>
          <p:cNvSpPr txBox="1"/>
          <p:nvPr/>
        </p:nvSpPr>
        <p:spPr>
          <a:xfrm>
            <a:off x="6647688" y="3886200"/>
            <a:ext cx="2103120" cy="365760"/>
          </a:xfrm>
          <a:prstGeom prst="rect">
            <a:avLst/>
          </a:prstGeom>
          <a:noFill/>
        </p:spPr>
        <p:txBody>
          <a:bodyPr wrap="square" anchor="ctr" lIns="0" rIns="0" tIns="0" bIns="0">
            <a:noAutofit/>
          </a:bodyPr>
          <a:lstStyle/>
          <a:p>
            <a:pPr algn="l">
              <a:spcBef>
                <a:spcPts val="0"/>
              </a:spcBef>
              <a:spcAft>
                <a:spcPts val="300"/>
              </a:spcAft>
            </a:pPr>
            <a:r>
              <a:rPr sz="1050" b="1" i="0">
                <a:solidFill>
                  <a:srgbClr val="202124"/>
                </a:solidFill>
                <a:latin typeface="Arial"/>
              </a:rPr>
              <a:t>Cloud Storage · Mumbai</a:t>
            </a:r>
          </a:p>
        </p:txBody>
      </p:sp>
      <p:sp>
        <p:nvSpPr>
          <p:cNvPr id="161" name="TextBox 160"/>
          <p:cNvSpPr txBox="1"/>
          <p:nvPr/>
        </p:nvSpPr>
        <p:spPr>
          <a:xfrm>
            <a:off x="6217920" y="4315968"/>
            <a:ext cx="2514600" cy="502920"/>
          </a:xfrm>
          <a:prstGeom prst="rect">
            <a:avLst/>
          </a:prstGeom>
          <a:noFill/>
        </p:spPr>
        <p:txBody>
          <a:bodyPr wrap="square" anchor="t" lIns="0" rIns="0" tIns="0" bIns="0">
            <a:noAutofit/>
          </a:bodyPr>
          <a:lstStyle/>
          <a:p>
            <a:pPr algn="l">
              <a:spcBef>
                <a:spcPts val="0"/>
              </a:spcBef>
              <a:spcAft>
                <a:spcPts val="100"/>
              </a:spcAft>
            </a:pPr>
            <a:r>
              <a:rPr sz="950" b="1" i="0">
                <a:solidFill>
                  <a:srgbClr val="202124"/>
                </a:solidFill>
                <a:latin typeface="Arial"/>
              </a:rPr>
              <a:t>uploads</a:t>
            </a:r>
            <a:r>
              <a:rPr sz="950" b="0" i="0">
                <a:solidFill>
                  <a:srgbClr val="202124"/>
                </a:solidFill>
                <a:latin typeface="Arial"/>
              </a:rPr>
              <a:t> · </a:t>
            </a:r>
            <a:r>
              <a:rPr sz="950" b="1" i="0">
                <a:solidFill>
                  <a:srgbClr val="202124"/>
                </a:solidFill>
                <a:latin typeface="Arial"/>
              </a:rPr>
              <a:t>sources: </a:t>
            </a:r>
            <a:r>
              <a:rPr sz="950" b="0" i="0">
                <a:solidFill>
                  <a:srgbClr val="202124"/>
                </a:solidFill>
                <a:latin typeface="Arial"/>
              </a:rPr>
              <a:t>AA, GST, ITR</a:t>
            </a:r>
          </a:p>
          <a:p>
            <a:pPr algn="l">
              <a:spcBef>
                <a:spcPts val="0"/>
              </a:spcBef>
              <a:spcAft>
                <a:spcPts val="100"/>
              </a:spcAft>
            </a:pPr>
            <a:r>
              <a:rPr sz="950" b="1" i="0">
                <a:solidFill>
                  <a:srgbClr val="202124"/>
                </a:solidFill>
                <a:latin typeface="Arial"/>
              </a:rPr>
              <a:t>keys: </a:t>
            </a:r>
            <a:r>
              <a:rPr sz="950" b="0" i="0">
                <a:solidFill>
                  <a:srgbClr val="202124"/>
                </a:solidFill>
                <a:latin typeface="Arial"/>
              </a:rPr>
              <a:t>sign-in keys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tech_0"/>
          <p:cNvSpPr/>
          <p:nvPr/>
        </p:nvSpPr>
        <p:spPr>
          <a:xfrm>
            <a:off x="320040" y="1188720"/>
            <a:ext cx="420624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ch_0_circle"/>
          <p:cNvSpPr/>
          <p:nvPr/>
        </p:nvSpPr>
        <p:spPr>
          <a:xfrm>
            <a:off x="457200" y="1325880"/>
            <a:ext cx="384048" cy="38404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2" name="tech_0_icon" descr="cloud_w.png"/>
          <p:cNvPicPr>
            <a:picLocks noChangeAspect="1"/>
          </p:cNvPicPr>
          <p:nvPr/>
        </p:nvPicPr>
        <p:blipFill>
          <a:blip r:embed="rId5"/>
          <a:stretch>
            <a:fillRect/>
          </a:stretch>
        </p:blipFill>
        <p:spPr>
          <a:xfrm>
            <a:off x="541690" y="1410370"/>
            <a:ext cx="215066" cy="215066"/>
          </a:xfrm>
          <a:prstGeom prst="rect">
            <a:avLst/>
          </a:prstGeom>
        </p:spPr>
      </p:pic>
      <p:sp>
        <p:nvSpPr>
          <p:cNvPr id="123" name="TextBox 122"/>
          <p:cNvSpPr txBox="1"/>
          <p:nvPr/>
        </p:nvSpPr>
        <p:spPr>
          <a:xfrm>
            <a:off x="941832" y="1325880"/>
            <a:ext cx="347472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Google Cloud</a:t>
            </a:r>
          </a:p>
        </p:txBody>
      </p:sp>
      <p:sp>
        <p:nvSpPr>
          <p:cNvPr id="124" name="TextBox 123"/>
          <p:cNvSpPr txBox="1"/>
          <p:nvPr/>
        </p:nvSpPr>
        <p:spPr>
          <a:xfrm>
            <a:off x="457200" y="1792224"/>
            <a:ext cx="393192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00" b="0" i="0">
                <a:solidFill>
                  <a:srgbClr val="202124"/>
                </a:solidFill>
                <a:latin typeface="Arial"/>
              </a:rPr>
              <a:t>Vertex AI — Gemini 3.5 Flash (extraction), Gemini 3.1 Pro (investigator, credit decision), Gemini 3.8 Flash (rerank), gemini-embedding-001</a:t>
            </a:r>
          </a:p>
          <a:p>
            <a:pPr algn="l" marL="146304" indent="-146304">
              <a:spcBef>
                <a:spcPts val="0"/>
              </a:spcBef>
              <a:spcAft>
                <a:spcPts val="300"/>
              </a:spcAft>
              <a:buFont typeface="Arial"/>
              <a:buChar char="•"/>
            </a:pPr>
            <a:r>
              <a:rPr sz="1000" b="0" i="0">
                <a:solidFill>
                  <a:srgbClr val="202124"/>
                </a:solidFill>
                <a:latin typeface="Arial"/>
              </a:rPr>
              <a:t>Cloud Run (buildpacks, no Dockerfile) · Cloud Build</a:t>
            </a:r>
          </a:p>
          <a:p>
            <a:pPr algn="l" marL="146304" indent="-146304">
              <a:spcBef>
                <a:spcPts val="0"/>
              </a:spcBef>
              <a:spcAft>
                <a:spcPts val="300"/>
              </a:spcAft>
              <a:buFont typeface="Arial"/>
              <a:buChar char="•"/>
            </a:pPr>
            <a:r>
              <a:rPr sz="1000" b="0" i="0">
                <a:solidFill>
                  <a:srgbClr val="202124"/>
                </a:solidFill>
                <a:latin typeface="Arial"/>
              </a:rPr>
              <a:t>Cloud SQL for PostgreSQL 16 + pgvector · Cloud Storage</a:t>
            </a:r>
          </a:p>
        </p:txBody>
      </p:sp>
      <p:sp>
        <p:nvSpPr>
          <p:cNvPr id="125" name="tech_1"/>
          <p:cNvSpPr/>
          <p:nvPr/>
        </p:nvSpPr>
        <p:spPr>
          <a:xfrm>
            <a:off x="4617720" y="1188720"/>
            <a:ext cx="420624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ch_1_circle"/>
          <p:cNvSpPr/>
          <p:nvPr/>
        </p:nvSpPr>
        <p:spPr>
          <a:xfrm>
            <a:off x="4754880" y="1325880"/>
            <a:ext cx="384048" cy="38404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7" name="tech_1_icon" descr="brain_w.png"/>
          <p:cNvPicPr>
            <a:picLocks noChangeAspect="1"/>
          </p:cNvPicPr>
          <p:nvPr/>
        </p:nvPicPr>
        <p:blipFill>
          <a:blip r:embed="rId6"/>
          <a:stretch>
            <a:fillRect/>
          </a:stretch>
        </p:blipFill>
        <p:spPr>
          <a:xfrm>
            <a:off x="4839370" y="1410370"/>
            <a:ext cx="215066" cy="215066"/>
          </a:xfrm>
          <a:prstGeom prst="rect">
            <a:avLst/>
          </a:prstGeom>
        </p:spPr>
      </p:pic>
      <p:sp>
        <p:nvSpPr>
          <p:cNvPr id="128" name="TextBox 127"/>
          <p:cNvSpPr txBox="1"/>
          <p:nvPr/>
        </p:nvSpPr>
        <p:spPr>
          <a:xfrm>
            <a:off x="5239512" y="1325880"/>
            <a:ext cx="347472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AI techniques</a:t>
            </a:r>
          </a:p>
        </p:txBody>
      </p:sp>
      <p:sp>
        <p:nvSpPr>
          <p:cNvPr id="129" name="TextBox 128"/>
          <p:cNvSpPr txBox="1"/>
          <p:nvPr/>
        </p:nvSpPr>
        <p:spPr>
          <a:xfrm>
            <a:off x="4754880" y="1792224"/>
            <a:ext cx="393192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00" b="0" i="0">
                <a:solidFill>
                  <a:srgbClr val="202124"/>
                </a:solidFill>
                <a:latin typeface="Arial"/>
              </a:rPr>
              <a:t>Multimodal structured output: PDF and image to a fixed schema</a:t>
            </a:r>
          </a:p>
          <a:p>
            <a:pPr algn="l" marL="146304" indent="-146304">
              <a:spcBef>
                <a:spcPts val="0"/>
              </a:spcBef>
              <a:spcAft>
                <a:spcPts val="300"/>
              </a:spcAft>
              <a:buFont typeface="Arial"/>
              <a:buChar char="•"/>
            </a:pPr>
            <a:r>
              <a:rPr sz="1000" b="0" i="0">
                <a:solidFill>
                  <a:srgbClr val="202124"/>
                </a:solidFill>
                <a:latin typeface="Arial"/>
              </a:rPr>
              <a:t>Function-calling agent with tools bound server-side to one customer</a:t>
            </a:r>
          </a:p>
          <a:p>
            <a:pPr algn="l" marL="146304" indent="-146304">
              <a:spcBef>
                <a:spcPts val="0"/>
              </a:spcBef>
              <a:spcAft>
                <a:spcPts val="300"/>
              </a:spcAft>
              <a:buFont typeface="Arial"/>
              <a:buChar char="•"/>
            </a:pPr>
            <a:r>
              <a:rPr sz="1000" b="0" i="0">
                <a:solidFill>
                  <a:srgbClr val="202124"/>
                </a:solidFill>
                <a:latin typeface="Arial"/>
              </a:rPr>
              <a:t>Grounding verifier · hybrid RAG: full-text + HNSW vectors, reciprocal rank fusion, LLM rerank</a:t>
            </a:r>
          </a:p>
        </p:txBody>
      </p:sp>
      <p:sp>
        <p:nvSpPr>
          <p:cNvPr id="130" name="tech_2"/>
          <p:cNvSpPr/>
          <p:nvPr/>
        </p:nvSpPr>
        <p:spPr>
          <a:xfrm>
            <a:off x="320040" y="3081528"/>
            <a:ext cx="420624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ch_2_circle"/>
          <p:cNvSpPr/>
          <p:nvPr/>
        </p:nvSpPr>
        <p:spPr>
          <a:xfrm>
            <a:off x="457200" y="3218688"/>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2" name="tech_2_icon" descr="server_w.png"/>
          <p:cNvPicPr>
            <a:picLocks noChangeAspect="1"/>
          </p:cNvPicPr>
          <p:nvPr/>
        </p:nvPicPr>
        <p:blipFill>
          <a:blip r:embed="rId7"/>
          <a:stretch>
            <a:fillRect/>
          </a:stretch>
        </p:blipFill>
        <p:spPr>
          <a:xfrm>
            <a:off x="541690" y="3303178"/>
            <a:ext cx="215066" cy="215066"/>
          </a:xfrm>
          <a:prstGeom prst="rect">
            <a:avLst/>
          </a:prstGeom>
        </p:spPr>
      </p:pic>
      <p:sp>
        <p:nvSpPr>
          <p:cNvPr id="133" name="TextBox 132"/>
          <p:cNvSpPr txBox="1"/>
          <p:nvPr/>
        </p:nvSpPr>
        <p:spPr>
          <a:xfrm>
            <a:off x="941832" y="3218688"/>
            <a:ext cx="347472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Application</a:t>
            </a:r>
          </a:p>
        </p:txBody>
      </p:sp>
      <p:sp>
        <p:nvSpPr>
          <p:cNvPr id="134" name="TextBox 133"/>
          <p:cNvSpPr txBox="1"/>
          <p:nvPr/>
        </p:nvSpPr>
        <p:spPr>
          <a:xfrm>
            <a:off x="457200" y="3685032"/>
            <a:ext cx="393192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00" b="0" i="0">
                <a:solidFill>
                  <a:srgbClr val="202124"/>
                </a:solidFill>
                <a:latin typeface="Arial"/>
              </a:rPr>
              <a:t>.NET 8 · ASP.NET Core MVC · Razor + Bootstrap 5</a:t>
            </a:r>
          </a:p>
          <a:p>
            <a:pPr algn="l" marL="146304" indent="-146304">
              <a:spcBef>
                <a:spcPts val="0"/>
              </a:spcBef>
              <a:spcAft>
                <a:spcPts val="300"/>
              </a:spcAft>
              <a:buFont typeface="Arial"/>
              <a:buChar char="•"/>
            </a:pPr>
            <a:r>
              <a:rPr sz="1000" b="0" i="0">
                <a:solidFill>
                  <a:srgbClr val="202124"/>
                </a:solidFill>
                <a:latin typeface="Arial"/>
              </a:rPr>
              <a:t>EF Core 8 + Npgsql · Autofac · Serilog</a:t>
            </a:r>
          </a:p>
          <a:p>
            <a:pPr algn="l" marL="146304" indent="-146304">
              <a:spcBef>
                <a:spcPts val="0"/>
              </a:spcBef>
              <a:spcAft>
                <a:spcPts val="300"/>
              </a:spcAft>
              <a:buFont typeface="Arial"/>
              <a:buChar char="•"/>
            </a:pPr>
            <a:r>
              <a:rPr sz="1000" b="0" i="0">
                <a:solidFill>
                  <a:srgbClr val="202124"/>
                </a:solidFill>
                <a:latin typeface="Arial"/>
              </a:rPr>
              <a:t>PdfPig (PDF metadata) · background worker · LOS, ULI (OCEN) and ONDC (beckn) payloads</a:t>
            </a:r>
          </a:p>
        </p:txBody>
      </p:sp>
      <p:sp>
        <p:nvSpPr>
          <p:cNvPr id="135" name="tech_3"/>
          <p:cNvSpPr/>
          <p:nvPr/>
        </p:nvSpPr>
        <p:spPr>
          <a:xfrm>
            <a:off x="4617720" y="3081528"/>
            <a:ext cx="420624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ch_3_circle"/>
          <p:cNvSpPr/>
          <p:nvPr/>
        </p:nvSpPr>
        <p:spPr>
          <a:xfrm>
            <a:off x="4754880" y="3218688"/>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7" name="tech_3_icon" descr="shield_w.png"/>
          <p:cNvPicPr>
            <a:picLocks noChangeAspect="1"/>
          </p:cNvPicPr>
          <p:nvPr/>
        </p:nvPicPr>
        <p:blipFill>
          <a:blip r:embed="rId8"/>
          <a:stretch>
            <a:fillRect/>
          </a:stretch>
        </p:blipFill>
        <p:spPr>
          <a:xfrm>
            <a:off x="4839370" y="3303178"/>
            <a:ext cx="215066" cy="215066"/>
          </a:xfrm>
          <a:prstGeom prst="rect">
            <a:avLst/>
          </a:prstGeom>
        </p:spPr>
      </p:pic>
      <p:sp>
        <p:nvSpPr>
          <p:cNvPr id="138" name="TextBox 137"/>
          <p:cNvSpPr txBox="1"/>
          <p:nvPr/>
        </p:nvSpPr>
        <p:spPr>
          <a:xfrm>
            <a:off x="5239512" y="3218688"/>
            <a:ext cx="347472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Data, quality and trust</a:t>
            </a:r>
          </a:p>
        </p:txBody>
      </p:sp>
      <p:sp>
        <p:nvSpPr>
          <p:cNvPr id="139" name="TextBox 138"/>
          <p:cNvSpPr txBox="1"/>
          <p:nvPr/>
        </p:nvSpPr>
        <p:spPr>
          <a:xfrm>
            <a:off x="4754880" y="3685032"/>
            <a:ext cx="393192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000" b="0" i="0">
                <a:solidFill>
                  <a:srgbClr val="202124"/>
                </a:solidFill>
                <a:latin typeface="Arial"/>
              </a:rPr>
              <a:t>Account Aggregator on the Finvu sandbox; Udyam, GST, ITR and MCA as sample data in the demo</a:t>
            </a:r>
          </a:p>
          <a:p>
            <a:pPr algn="l" marL="146304" indent="-146304">
              <a:spcBef>
                <a:spcPts val="0"/>
              </a:spcBef>
              <a:spcAft>
                <a:spcPts val="300"/>
              </a:spcAft>
              <a:buFont typeface="Arial"/>
              <a:buChar char="•"/>
            </a:pPr>
            <a:r>
              <a:rPr sz="1000" b="0" i="0">
                <a:solidFill>
                  <a:srgbClr val="202124"/>
                </a:solidFill>
                <a:latin typeface="Arial"/>
              </a:rPr>
              <a:t>QuestPDF synthetic documents with ground truth · 70 xUnit tests</a:t>
            </a:r>
          </a:p>
          <a:p>
            <a:pPr algn="l" marL="146304" indent="-146304">
              <a:spcBef>
                <a:spcPts val="0"/>
              </a:spcBef>
              <a:spcAft>
                <a:spcPts val="300"/>
              </a:spcAft>
              <a:buFont typeface="Arial"/>
              <a:buChar char="•"/>
            </a:pPr>
            <a:r>
              <a:rPr sz="1000" b="0" i="0">
                <a:solidFill>
                  <a:srgbClr val="202124"/>
                </a:solidFill>
                <a:latin typeface="Arial"/>
              </a:rPr>
              <a:t>Secrets outside the public repo · encrypted DB connections only</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cost_once"/>
          <p:cNvSpPr/>
          <p:nvPr/>
        </p:nvSpPr>
        <p:spPr>
          <a:xfrm>
            <a:off x="320040" y="1188720"/>
            <a:ext cx="2697480" cy="91440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429768" y="1280160"/>
            <a:ext cx="2478024" cy="457200"/>
          </a:xfrm>
          <a:prstGeom prst="rect">
            <a:avLst/>
          </a:prstGeom>
          <a:noFill/>
        </p:spPr>
        <p:txBody>
          <a:bodyPr wrap="square" anchor="ctr" lIns="0" rIns="0" tIns="0" bIns="0">
            <a:noAutofit/>
          </a:bodyPr>
          <a:lstStyle/>
          <a:p>
            <a:pPr algn="l">
              <a:spcBef>
                <a:spcPts val="0"/>
              </a:spcBef>
              <a:spcAft>
                <a:spcPts val="300"/>
              </a:spcAft>
            </a:pPr>
            <a:r>
              <a:rPr sz="2400" b="1" i="0">
                <a:solidFill>
                  <a:srgbClr val="7A1230"/>
                </a:solidFill>
                <a:latin typeface="Arial"/>
              </a:rPr>
              <a:t>₹ 18 L</a:t>
            </a:r>
          </a:p>
        </p:txBody>
      </p:sp>
      <p:sp>
        <p:nvSpPr>
          <p:cNvPr id="130" name="TextBox 129"/>
          <p:cNvSpPr txBox="1"/>
          <p:nvPr/>
        </p:nvSpPr>
        <p:spPr>
          <a:xfrm>
            <a:off x="429768" y="1755648"/>
            <a:ext cx="2478024" cy="292607"/>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One-time — production hardening, security and compliance audit</a:t>
            </a:r>
          </a:p>
        </p:txBody>
      </p:sp>
      <p:sp>
        <p:nvSpPr>
          <p:cNvPr id="131" name="cost_year"/>
          <p:cNvSpPr/>
          <p:nvPr/>
        </p:nvSpPr>
        <p:spPr>
          <a:xfrm>
            <a:off x="3218688" y="1188720"/>
            <a:ext cx="2697480" cy="91440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3328416" y="1280160"/>
            <a:ext cx="2478024" cy="457200"/>
          </a:xfrm>
          <a:prstGeom prst="rect">
            <a:avLst/>
          </a:prstGeom>
          <a:noFill/>
        </p:spPr>
        <p:txBody>
          <a:bodyPr wrap="square" anchor="ctr" lIns="0" rIns="0" tIns="0" bIns="0">
            <a:noAutofit/>
          </a:bodyPr>
          <a:lstStyle/>
          <a:p>
            <a:pPr algn="l">
              <a:spcBef>
                <a:spcPts val="0"/>
              </a:spcBef>
              <a:spcAft>
                <a:spcPts val="300"/>
              </a:spcAft>
            </a:pPr>
            <a:r>
              <a:rPr sz="2400" b="1" i="0">
                <a:solidFill>
                  <a:srgbClr val="7A1230"/>
                </a:solidFill>
                <a:latin typeface="Arial"/>
              </a:rPr>
              <a:t>₹ 32 L / yr</a:t>
            </a:r>
          </a:p>
        </p:txBody>
      </p:sp>
      <p:sp>
        <p:nvSpPr>
          <p:cNvPr id="133" name="TextBox 132"/>
          <p:cNvSpPr txBox="1"/>
          <p:nvPr/>
        </p:nvSpPr>
        <p:spPr>
          <a:xfrm>
            <a:off x="3328416" y="1755648"/>
            <a:ext cx="2478024" cy="292607"/>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Recurring — Google Cloud, Gemini usage, data access, support</a:t>
            </a:r>
          </a:p>
        </p:txBody>
      </p:sp>
      <p:sp>
        <p:nvSpPr>
          <p:cNvPr id="134" name="cost_tco"/>
          <p:cNvSpPr/>
          <p:nvPr/>
        </p:nvSpPr>
        <p:spPr>
          <a:xfrm>
            <a:off x="6126479" y="1188720"/>
            <a:ext cx="2697480" cy="91440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6236207" y="1280160"/>
            <a:ext cx="2478024" cy="457200"/>
          </a:xfrm>
          <a:prstGeom prst="rect">
            <a:avLst/>
          </a:prstGeom>
          <a:noFill/>
        </p:spPr>
        <p:txBody>
          <a:bodyPr wrap="square" anchor="ctr" lIns="0" rIns="0" tIns="0" bIns="0">
            <a:noAutofit/>
          </a:bodyPr>
          <a:lstStyle/>
          <a:p>
            <a:pPr algn="l">
              <a:spcBef>
                <a:spcPts val="0"/>
              </a:spcBef>
              <a:spcAft>
                <a:spcPts val="300"/>
              </a:spcAft>
            </a:pPr>
            <a:r>
              <a:rPr sz="2400" b="1" i="0">
                <a:solidFill>
                  <a:srgbClr val="7A1230"/>
                </a:solidFill>
                <a:latin typeface="Arial"/>
              </a:rPr>
              <a:t>~ ₹ 1.14 Cr</a:t>
            </a:r>
          </a:p>
        </p:txBody>
      </p:sp>
      <p:sp>
        <p:nvSpPr>
          <p:cNvPr id="136" name="TextBox 135"/>
          <p:cNvSpPr txBox="1"/>
          <p:nvPr/>
        </p:nvSpPr>
        <p:spPr>
          <a:xfrm>
            <a:off x="6236207" y="1755648"/>
            <a:ext cx="2478024" cy="292607"/>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3-year total cost of ownership</a:t>
            </a:r>
          </a:p>
        </p:txBody>
      </p:sp>
      <p:sp>
        <p:nvSpPr>
          <p:cNvPr id="137" name="TextBox 136"/>
          <p:cNvSpPr txBox="1"/>
          <p:nvPr/>
        </p:nvSpPr>
        <p:spPr>
          <a:xfrm>
            <a:off x="320040" y="2221991"/>
            <a:ext cx="8503920" cy="228600"/>
          </a:xfrm>
          <a:prstGeom prst="rect">
            <a:avLst/>
          </a:prstGeom>
          <a:noFill/>
        </p:spPr>
        <p:txBody>
          <a:bodyPr wrap="square" anchor="t" lIns="0" rIns="0" tIns="0" bIns="0">
            <a:noAutofit/>
          </a:bodyPr>
          <a:lstStyle/>
          <a:p>
            <a:pPr algn="l">
              <a:spcBef>
                <a:spcPts val="0"/>
              </a:spcBef>
              <a:spcAft>
                <a:spcPts val="300"/>
              </a:spcAft>
            </a:pPr>
            <a:r>
              <a:rPr sz="1000" b="1" i="0">
                <a:solidFill>
                  <a:srgbClr val="7A1230"/>
                </a:solidFill>
                <a:latin typeface="Arial"/>
              </a:rPr>
              <a:t>Estimate</a:t>
            </a:r>
            <a:r>
              <a:rPr sz="1000" b="0" i="0">
                <a:solidFill>
                  <a:srgbClr val="5F6368"/>
                </a:solidFill>
                <a:latin typeface="Arial"/>
              </a:rPr>
              <a:t> for one lender, about 1 lakh customers assessed a year, on Google Cloud in Mumbai</a:t>
            </a:r>
          </a:p>
        </p:txBody>
      </p:sp>
      <p:graphicFrame>
        <p:nvGraphicFramePr>
          <p:cNvPr id="138" name="cost_table"/>
          <p:cNvGraphicFramePr>
            <a:graphicFrameLocks noGrp="1"/>
          </p:cNvGraphicFramePr>
          <p:nvPr/>
        </p:nvGraphicFramePr>
        <p:xfrm>
          <a:off x="320040" y="2514600"/>
          <a:ext cx="8503920" cy="2304288"/>
        </p:xfrm>
        <a:graphic>
          <a:graphicData uri="http://schemas.openxmlformats.org/drawingml/2006/table">
            <a:tbl>
              <a:tblPr firstRow="1" bandRow="0"/>
              <a:tblGrid>
                <a:gridCol w="5120640"/>
                <a:gridCol w="1280160"/>
                <a:gridCol w="2103120"/>
              </a:tblGrid>
              <a:tr h="329184">
                <a:tc>
                  <a:txBody>
                    <a:bodyPr wrap="square"/>
                    <a:lstStyle/>
                    <a:p>
                      <a:r>
                        <a:rPr sz="1000" b="1">
                          <a:solidFill>
                            <a:srgbClr val="FFFFFF"/>
                          </a:solidFill>
                          <a:latin typeface="Arial"/>
                        </a:rPr>
                        <a:t>Cost head</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202124"/>
                    </a:solidFill>
                  </a:tcPr>
                </a:tc>
                <a:tc>
                  <a:txBody>
                    <a:bodyPr wrap="square"/>
                    <a:lstStyle/>
                    <a:p>
                      <a:r>
                        <a:rPr sz="1000" b="1">
                          <a:solidFill>
                            <a:srgbClr val="FFFFFF"/>
                          </a:solidFill>
                          <a:latin typeface="Arial"/>
                        </a:rPr>
                        <a:t>Type</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202124"/>
                    </a:solidFill>
                  </a:tcPr>
                </a:tc>
                <a:tc>
                  <a:txBody>
                    <a:bodyPr wrap="square"/>
                    <a:lstStyle/>
                    <a:p>
                      <a:r>
                        <a:rPr sz="1000" b="1">
                          <a:solidFill>
                            <a:srgbClr val="FFFFFF"/>
                          </a:solidFill>
                          <a:latin typeface="Arial"/>
                        </a:rPr>
                        <a:t>Estimate (INR)</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202124"/>
                    </a:solidFill>
                  </a:tcPr>
                </a:tc>
              </a:tr>
              <a:tr h="329184">
                <a:tc>
                  <a:txBody>
                    <a:bodyPr wrap="square"/>
                    <a:lstStyle/>
                    <a:p>
                      <a:r>
                        <a:rPr sz="1000" b="0">
                          <a:solidFill>
                            <a:srgbClr val="202124"/>
                          </a:solidFill>
                          <a:latin typeface="Arial"/>
                        </a:rPr>
                        <a:t>Production hardening — 3-member team, about 4 months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1000" b="0">
                          <a:solidFill>
                            <a:srgbClr val="202124"/>
                          </a:solidFill>
                          <a:latin typeface="Arial"/>
                        </a:rPr>
                        <a:t>One-time</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1000" b="0">
                          <a:solidFill>
                            <a:srgbClr val="202124"/>
                          </a:solidFill>
                          <a:latin typeface="Arial"/>
                        </a:rPr>
                        <a:t>₹ 14 L</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r>
              <a:tr h="329184">
                <a:tc>
                  <a:txBody>
                    <a:bodyPr wrap="square"/>
                    <a:lstStyle/>
                    <a:p>
                      <a:r>
                        <a:rPr sz="1000" b="0">
                          <a:solidFill>
                            <a:srgbClr val="202124"/>
                          </a:solidFill>
                          <a:latin typeface="Arial"/>
                        </a:rPr>
                        <a:t>Security testing and RBI / DPDP compliance audit</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1000" b="0">
                          <a:solidFill>
                            <a:srgbClr val="202124"/>
                          </a:solidFill>
                          <a:latin typeface="Arial"/>
                        </a:rPr>
                        <a:t>One-time</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1000" b="0">
                          <a:solidFill>
                            <a:srgbClr val="202124"/>
                          </a:solidFill>
                          <a:latin typeface="Arial"/>
                        </a:rPr>
                        <a:t>₹ 4 L</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r>
              <a:tr h="329184">
                <a:tc>
                  <a:txBody>
                    <a:bodyPr wrap="square"/>
                    <a:lstStyle/>
                    <a:p>
                      <a:r>
                        <a:rPr sz="1000" b="0">
                          <a:solidFill>
                            <a:srgbClr val="202124"/>
                          </a:solidFill>
                          <a:latin typeface="Arial"/>
                        </a:rPr>
                        <a:t>Google Cloud — Cloud Run (HA), Cloud SQL (HA), Cloud Storage</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1000" b="0">
                          <a:solidFill>
                            <a:srgbClr val="202124"/>
                          </a:solidFill>
                          <a:latin typeface="Arial"/>
                        </a:rPr>
                        <a:t>Annual</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1000" b="0">
                          <a:solidFill>
                            <a:srgbClr val="202124"/>
                          </a:solidFill>
                          <a:latin typeface="Arial"/>
                        </a:rPr>
                        <a:t>₹ 8 L</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r>
              <a:tr h="329184">
                <a:tc>
                  <a:txBody>
                    <a:bodyPr wrap="square"/>
                    <a:lstStyle/>
                    <a:p>
                      <a:r>
                        <a:rPr sz="1000" b="0">
                          <a:solidFill>
                            <a:srgbClr val="202124"/>
                          </a:solidFill>
                          <a:latin typeface="Arial"/>
                        </a:rPr>
                        <a:t>Vertex AI — Gemini extraction, investigation, credit decisions, embeddings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1000" b="0">
                          <a:solidFill>
                            <a:srgbClr val="202124"/>
                          </a:solidFill>
                          <a:latin typeface="Arial"/>
                        </a:rPr>
                        <a:t>Annual</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1000" b="0">
                          <a:solidFill>
                            <a:srgbClr val="202124"/>
                          </a:solidFill>
                          <a:latin typeface="Arial"/>
                        </a:rPr>
                        <a:t>₹ 6 L</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r>
              <a:tr h="329184">
                <a:tc>
                  <a:txBody>
                    <a:bodyPr wrap="square"/>
                    <a:lstStyle/>
                    <a:p>
                      <a:r>
                        <a:rPr sz="1000" b="0">
                          <a:solidFill>
                            <a:srgbClr val="202124"/>
                          </a:solidFill>
                          <a:latin typeface="Arial"/>
                        </a:rPr>
                        <a:t>Data access — Account Aggregator and registry APIs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1000" b="0">
                          <a:solidFill>
                            <a:srgbClr val="202124"/>
                          </a:solidFill>
                          <a:latin typeface="Arial"/>
                        </a:rPr>
                        <a:t>Annual</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1000" b="0">
                          <a:solidFill>
                            <a:srgbClr val="202124"/>
                          </a:solidFill>
                          <a:latin typeface="Arial"/>
                        </a:rPr>
                        <a:t>₹ 10 L</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r>
              <a:tr h="329184">
                <a:tc>
                  <a:txBody>
                    <a:bodyPr wrap="square"/>
                    <a:lstStyle/>
                    <a:p>
                      <a:r>
                        <a:rPr sz="1000" b="0">
                          <a:solidFill>
                            <a:srgbClr val="202124"/>
                          </a:solidFill>
                          <a:latin typeface="Arial"/>
                        </a:rPr>
                        <a:t>Maintenance, support and model re-evaluation</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1000" b="0">
                          <a:solidFill>
                            <a:srgbClr val="202124"/>
                          </a:solidFill>
                          <a:latin typeface="Arial"/>
                        </a:rPr>
                        <a:t>Annual</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1000" b="0">
                          <a:solidFill>
                            <a:srgbClr val="202124"/>
                          </a:solidFill>
                          <a:latin typeface="Arial"/>
                        </a:rPr>
                        <a:t>₹ 8 L</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TextBox 135"/>
          <p:cNvSpPr txBox="1"/>
          <p:nvPr/>
        </p:nvSpPr>
        <p:spPr>
          <a:xfrm>
            <a:off x="320040" y="1371600"/>
            <a:ext cx="4160520" cy="246888"/>
          </a:xfrm>
          <a:prstGeom prst="rect">
            <a:avLst/>
          </a:prstGeom>
          <a:noFill/>
        </p:spPr>
        <p:txBody>
          <a:bodyPr wrap="square" anchor="t" lIns="0" rIns="0" tIns="0" bIns="0">
            <a:noAutofit/>
          </a:bodyPr>
          <a:lstStyle/>
          <a:p>
            <a:pPr algn="l">
              <a:spcBef>
                <a:spcPts val="0"/>
              </a:spcBef>
              <a:spcAft>
                <a:spcPts val="300"/>
              </a:spcAft>
            </a:pPr>
            <a:r>
              <a:rPr sz="1150" b="1" i="0">
                <a:solidFill>
                  <a:srgbClr val="202124"/>
                </a:solidFill>
                <a:latin typeface="Arial"/>
              </a:rPr>
              <a:t>Home page</a:t>
            </a:r>
          </a:p>
        </p:txBody>
      </p:sp>
      <p:sp>
        <p:nvSpPr>
          <p:cNvPr id="137" name="TextBox 136"/>
          <p:cNvSpPr txBox="1"/>
          <p:nvPr/>
        </p:nvSpPr>
        <p:spPr>
          <a:xfrm>
            <a:off x="320040" y="1609344"/>
            <a:ext cx="4160520" cy="228600"/>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Customers start here with their Udyam number</a:t>
            </a:r>
          </a:p>
        </p:txBody>
      </p:sp>
      <p:pic>
        <p:nvPicPr>
          <p:cNvPr id="138" name="snap_home_v2" descr="home_v2.png"/>
          <p:cNvPicPr>
            <a:picLocks noChangeAspect="1"/>
          </p:cNvPicPr>
          <p:nvPr/>
        </p:nvPicPr>
        <p:blipFill>
          <a:blip r:embed="rId5"/>
          <a:stretch>
            <a:fillRect/>
          </a:stretch>
        </p:blipFill>
        <p:spPr>
          <a:xfrm>
            <a:off x="320040" y="1920240"/>
            <a:ext cx="4160520" cy="2626328"/>
          </a:xfrm>
          <a:prstGeom prst="rect">
            <a:avLst/>
          </a:prstGeom>
          <a:ln w="9525">
            <a:solidFill>
              <a:srgbClr val="DADCE0"/>
            </a:solidFill>
          </a:ln>
        </p:spPr>
      </p:pic>
      <p:sp>
        <p:nvSpPr>
          <p:cNvPr id="139" name="TextBox 138"/>
          <p:cNvSpPr txBox="1"/>
          <p:nvPr/>
        </p:nvSpPr>
        <p:spPr>
          <a:xfrm>
            <a:off x="4663440" y="1371600"/>
            <a:ext cx="4160520" cy="246888"/>
          </a:xfrm>
          <a:prstGeom prst="rect">
            <a:avLst/>
          </a:prstGeom>
          <a:noFill/>
        </p:spPr>
        <p:txBody>
          <a:bodyPr wrap="square" anchor="t" lIns="0" rIns="0" tIns="0" bIns="0">
            <a:noAutofit/>
          </a:bodyPr>
          <a:lstStyle/>
          <a:p>
            <a:pPr algn="l">
              <a:spcBef>
                <a:spcPts val="0"/>
              </a:spcBef>
              <a:spcAft>
                <a:spcPts val="300"/>
              </a:spcAft>
            </a:pPr>
            <a:r>
              <a:rPr sz="1150" b="1" i="0">
                <a:solidFill>
                  <a:srgbClr val="202124"/>
                </a:solidFill>
                <a:latin typeface="Arial"/>
              </a:rPr>
              <a:t>Customers</a:t>
            </a:r>
          </a:p>
        </p:txBody>
      </p:sp>
      <p:sp>
        <p:nvSpPr>
          <p:cNvPr id="140" name="TextBox 139"/>
          <p:cNvSpPr txBox="1"/>
          <p:nvPr/>
        </p:nvSpPr>
        <p:spPr>
          <a:xfrm>
            <a:off x="4663440" y="1609344"/>
            <a:ext cx="4160520" cy="228600"/>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A risk status for every customer</a:t>
            </a:r>
          </a:p>
        </p:txBody>
      </p:sp>
      <p:pic>
        <p:nvPicPr>
          <p:cNvPr id="141" name="snap_customers_v2" descr="customers_v2.png"/>
          <p:cNvPicPr>
            <a:picLocks noChangeAspect="1"/>
          </p:cNvPicPr>
          <p:nvPr/>
        </p:nvPicPr>
        <p:blipFill>
          <a:blip r:embed="rId6"/>
          <a:stretch>
            <a:fillRect/>
          </a:stretch>
        </p:blipFill>
        <p:spPr>
          <a:xfrm>
            <a:off x="4663440" y="1920240"/>
            <a:ext cx="4160520" cy="2661043"/>
          </a:xfrm>
          <a:prstGeom prst="rect">
            <a:avLst/>
          </a:prstGeom>
          <a:ln w="9525">
            <a:solidFill>
              <a:srgbClr val="DADCE0"/>
            </a:solid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TextBox 135"/>
          <p:cNvSpPr txBox="1"/>
          <p:nvPr/>
        </p:nvSpPr>
        <p:spPr>
          <a:xfrm>
            <a:off x="320040" y="1371600"/>
            <a:ext cx="4160520" cy="246888"/>
          </a:xfrm>
          <a:prstGeom prst="rect">
            <a:avLst/>
          </a:prstGeom>
          <a:noFill/>
        </p:spPr>
        <p:txBody>
          <a:bodyPr wrap="square" anchor="t" lIns="0" rIns="0" tIns="0" bIns="0">
            <a:noAutofit/>
          </a:bodyPr>
          <a:lstStyle/>
          <a:p>
            <a:pPr algn="l">
              <a:spcBef>
                <a:spcPts val="0"/>
              </a:spcBef>
              <a:spcAft>
                <a:spcPts val="300"/>
              </a:spcAft>
            </a:pPr>
            <a:r>
              <a:rPr sz="1150" b="1" i="0">
                <a:solidFill>
                  <a:srgbClr val="202124"/>
                </a:solidFill>
                <a:latin typeface="Arial"/>
              </a:rPr>
              <a:t>One page per customer</a:t>
            </a:r>
          </a:p>
        </p:txBody>
      </p:sp>
      <p:sp>
        <p:nvSpPr>
          <p:cNvPr id="137" name="TextBox 136"/>
          <p:cNvSpPr txBox="1"/>
          <p:nvPr/>
        </p:nvSpPr>
        <p:spPr>
          <a:xfrm>
            <a:off x="320040" y="1609344"/>
            <a:ext cx="4160520" cy="228600"/>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Opens on the Risk Lens; every source in its own tab</a:t>
            </a:r>
          </a:p>
        </p:txBody>
      </p:sp>
      <p:pic>
        <p:nvPicPr>
          <p:cNvPr id="138" name="snap_customer_top_v2" descr="customer_top_v2.png"/>
          <p:cNvPicPr>
            <a:picLocks noChangeAspect="1"/>
          </p:cNvPicPr>
          <p:nvPr/>
        </p:nvPicPr>
        <p:blipFill>
          <a:blip r:embed="rId2"/>
          <a:stretch>
            <a:fillRect/>
          </a:stretch>
        </p:blipFill>
        <p:spPr>
          <a:xfrm>
            <a:off x="320040" y="1920240"/>
            <a:ext cx="4160520" cy="2652332"/>
          </a:xfrm>
          <a:prstGeom prst="rect">
            <a:avLst/>
          </a:prstGeom>
          <a:ln w="9525">
            <a:solidFill>
              <a:srgbClr val="DADCE0"/>
            </a:solidFill>
          </a:ln>
        </p:spPr>
      </p:pic>
      <p:sp>
        <p:nvSpPr>
          <p:cNvPr id="139" name="TextBox 138"/>
          <p:cNvSpPr txBox="1"/>
          <p:nvPr/>
        </p:nvSpPr>
        <p:spPr>
          <a:xfrm>
            <a:off x="4663440" y="1371600"/>
            <a:ext cx="4160520" cy="246888"/>
          </a:xfrm>
          <a:prstGeom prst="rect">
            <a:avLst/>
          </a:prstGeom>
          <a:noFill/>
        </p:spPr>
        <p:txBody>
          <a:bodyPr wrap="square" anchor="t" lIns="0" rIns="0" tIns="0" bIns="0">
            <a:noAutofit/>
          </a:bodyPr>
          <a:lstStyle/>
          <a:p>
            <a:pPr algn="l">
              <a:spcBef>
                <a:spcPts val="0"/>
              </a:spcBef>
              <a:spcAft>
                <a:spcPts val="300"/>
              </a:spcAft>
            </a:pPr>
            <a:r>
              <a:rPr sz="1150" b="1" i="0">
                <a:solidFill>
                  <a:srgbClr val="202124"/>
                </a:solidFill>
                <a:latin typeface="Arial"/>
              </a:rPr>
              <a:t>Clear → loan case</a:t>
            </a:r>
          </a:p>
        </p:txBody>
      </p:sp>
      <p:sp>
        <p:nvSpPr>
          <p:cNvPr id="140" name="TextBox 139"/>
          <p:cNvSpPr txBox="1"/>
          <p:nvPr/>
        </p:nvSpPr>
        <p:spPr>
          <a:xfrm>
            <a:off x="4663440" y="1609344"/>
            <a:ext cx="4160520" cy="228600"/>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Sections by source; the AI credit decision once Clear</a:t>
            </a:r>
          </a:p>
        </p:txBody>
      </p:sp>
      <p:pic>
        <p:nvPicPr>
          <p:cNvPr id="141" name="snap_loan_case_v2" descr="loan_case_v2.png"/>
          <p:cNvPicPr>
            <a:picLocks noChangeAspect="1"/>
          </p:cNvPicPr>
          <p:nvPr/>
        </p:nvPicPr>
        <p:blipFill>
          <a:blip r:embed="rId5"/>
          <a:stretch>
            <a:fillRect/>
          </a:stretch>
        </p:blipFill>
        <p:spPr>
          <a:xfrm>
            <a:off x="4663440" y="1920240"/>
            <a:ext cx="4160520" cy="2661043"/>
          </a:xfrm>
          <a:prstGeom prst="rect">
            <a:avLst/>
          </a:prstGeom>
          <a:ln w="9525">
            <a:solidFill>
              <a:srgbClr val="DADCE0"/>
            </a:solid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perf_0"/>
          <p:cNvSpPr/>
          <p:nvPr/>
        </p:nvSpPr>
        <p:spPr>
          <a:xfrm>
            <a:off x="320040" y="1188720"/>
            <a:ext cx="2011680" cy="1024128"/>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429768" y="1280160"/>
            <a:ext cx="1792224" cy="457200"/>
          </a:xfrm>
          <a:prstGeom prst="rect">
            <a:avLst/>
          </a:prstGeom>
          <a:noFill/>
        </p:spPr>
        <p:txBody>
          <a:bodyPr wrap="square" anchor="ctr" lIns="0" rIns="0" tIns="0" bIns="0">
            <a:noAutofit/>
          </a:bodyPr>
          <a:lstStyle/>
          <a:p>
            <a:pPr algn="l">
              <a:spcBef>
                <a:spcPts val="0"/>
              </a:spcBef>
              <a:spcAft>
                <a:spcPts val="300"/>
              </a:spcAft>
            </a:pPr>
            <a:r>
              <a:rPr sz="2200" b="1" i="0">
                <a:solidFill>
                  <a:srgbClr val="7A1230"/>
                </a:solidFill>
                <a:latin typeface="Arial"/>
              </a:rPr>
              <a:t>99.8–100%</a:t>
            </a:r>
          </a:p>
        </p:txBody>
      </p:sp>
      <p:sp>
        <p:nvSpPr>
          <p:cNvPr id="146" name="TextBox 145"/>
          <p:cNvSpPr txBox="1"/>
          <p:nvPr/>
        </p:nvSpPr>
        <p:spPr>
          <a:xfrm>
            <a:off x="429768" y="1755648"/>
            <a:ext cx="1792224" cy="402336"/>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of 1,298 statement rows read exactly — two live runs</a:t>
            </a:r>
          </a:p>
        </p:txBody>
      </p:sp>
      <p:sp>
        <p:nvSpPr>
          <p:cNvPr id="147" name="perf_1"/>
          <p:cNvSpPr/>
          <p:nvPr/>
        </p:nvSpPr>
        <p:spPr>
          <a:xfrm>
            <a:off x="2487168" y="1188720"/>
            <a:ext cx="2011680" cy="1024128"/>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2596896" y="1280160"/>
            <a:ext cx="1792224" cy="457200"/>
          </a:xfrm>
          <a:prstGeom prst="rect">
            <a:avLst/>
          </a:prstGeom>
          <a:noFill/>
        </p:spPr>
        <p:txBody>
          <a:bodyPr wrap="square" anchor="ctr" lIns="0" rIns="0" tIns="0" bIns="0">
            <a:noAutofit/>
          </a:bodyPr>
          <a:lstStyle/>
          <a:p>
            <a:pPr algn="l">
              <a:spcBef>
                <a:spcPts val="0"/>
              </a:spcBef>
              <a:spcAft>
                <a:spcPts val="300"/>
              </a:spcAft>
            </a:pPr>
            <a:r>
              <a:rPr sz="2200" b="1" i="0">
                <a:solidFill>
                  <a:srgbClr val="7A1230"/>
                </a:solidFill>
                <a:latin typeface="Arial"/>
              </a:rPr>
              <a:t>20 / 20</a:t>
            </a:r>
          </a:p>
        </p:txBody>
      </p:sp>
      <p:sp>
        <p:nvSpPr>
          <p:cNvPr id="149" name="TextBox 148"/>
          <p:cNvSpPr txBox="1"/>
          <p:nvPr/>
        </p:nvSpPr>
        <p:spPr>
          <a:xfrm>
            <a:off x="2596896" y="1755648"/>
            <a:ext cx="1792224" cy="402336"/>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demo assessments raise exactly their expected findings</a:t>
            </a:r>
          </a:p>
        </p:txBody>
      </p:sp>
      <p:sp>
        <p:nvSpPr>
          <p:cNvPr id="150" name="perf_2"/>
          <p:cNvSpPr/>
          <p:nvPr/>
        </p:nvSpPr>
        <p:spPr>
          <a:xfrm>
            <a:off x="4654296" y="1188720"/>
            <a:ext cx="2011680" cy="1024128"/>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4764024" y="1280160"/>
            <a:ext cx="1792224" cy="457200"/>
          </a:xfrm>
          <a:prstGeom prst="rect">
            <a:avLst/>
          </a:prstGeom>
          <a:noFill/>
        </p:spPr>
        <p:txBody>
          <a:bodyPr wrap="square" anchor="ctr" lIns="0" rIns="0" tIns="0" bIns="0">
            <a:noAutofit/>
          </a:bodyPr>
          <a:lstStyle/>
          <a:p>
            <a:pPr algn="l">
              <a:spcBef>
                <a:spcPts val="0"/>
              </a:spcBef>
              <a:spcAft>
                <a:spcPts val="300"/>
              </a:spcAft>
            </a:pPr>
            <a:r>
              <a:rPr sz="2200" b="1" i="0">
                <a:solidFill>
                  <a:srgbClr val="1E8E3E"/>
                </a:solidFill>
                <a:latin typeface="Arial"/>
              </a:rPr>
              <a:t>0</a:t>
            </a:r>
          </a:p>
        </p:txBody>
      </p:sp>
      <p:sp>
        <p:nvSpPr>
          <p:cNvPr id="152" name="TextBox 151"/>
          <p:cNvSpPr txBox="1"/>
          <p:nvPr/>
        </p:nvSpPr>
        <p:spPr>
          <a:xfrm>
            <a:off x="4764024" y="1755648"/>
            <a:ext cx="1792224" cy="402336"/>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false alarms on genuine applicants — checks and AI</a:t>
            </a:r>
          </a:p>
        </p:txBody>
      </p:sp>
      <p:sp>
        <p:nvSpPr>
          <p:cNvPr id="153" name="perf_3"/>
          <p:cNvSpPr/>
          <p:nvPr/>
        </p:nvSpPr>
        <p:spPr>
          <a:xfrm>
            <a:off x="6821424" y="1188720"/>
            <a:ext cx="2011680" cy="1024128"/>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6931152" y="1280160"/>
            <a:ext cx="1792224" cy="457200"/>
          </a:xfrm>
          <a:prstGeom prst="rect">
            <a:avLst/>
          </a:prstGeom>
          <a:noFill/>
        </p:spPr>
        <p:txBody>
          <a:bodyPr wrap="square" anchor="ctr" lIns="0" rIns="0" tIns="0" bIns="0">
            <a:noAutofit/>
          </a:bodyPr>
          <a:lstStyle/>
          <a:p>
            <a:pPr algn="l">
              <a:spcBef>
                <a:spcPts val="0"/>
              </a:spcBef>
              <a:spcAft>
                <a:spcPts val="300"/>
              </a:spcAft>
            </a:pPr>
            <a:r>
              <a:rPr sz="2200" b="1" i="0">
                <a:solidFill>
                  <a:srgbClr val="7A1230"/>
                </a:solidFill>
                <a:latin typeface="Arial"/>
              </a:rPr>
              <a:t>5 / 5</a:t>
            </a:r>
          </a:p>
        </p:txBody>
      </p:sp>
      <p:sp>
        <p:nvSpPr>
          <p:cNvPr id="155" name="TextBox 154"/>
          <p:cNvSpPr txBox="1"/>
          <p:nvPr/>
        </p:nvSpPr>
        <p:spPr>
          <a:xfrm>
            <a:off x="6931152" y="1755648"/>
            <a:ext cx="1792224" cy="402336"/>
          </a:xfrm>
          <a:prstGeom prst="rect">
            <a:avLst/>
          </a:prstGeom>
          <a:noFill/>
        </p:spPr>
        <p:txBody>
          <a:bodyPr wrap="square" anchor="t" lIns="0" rIns="0" tIns="0" bIns="0">
            <a:noAutofit/>
          </a:bodyPr>
          <a:lstStyle/>
          <a:p>
            <a:pPr algn="l">
              <a:spcBef>
                <a:spcPts val="0"/>
              </a:spcBef>
              <a:spcAft>
                <a:spcPts val="300"/>
              </a:spcAft>
            </a:pPr>
            <a:r>
              <a:rPr sz="1000" b="0" i="0">
                <a:solidFill>
                  <a:srgbClr val="5F6368"/>
                </a:solidFill>
                <a:latin typeface="Arial"/>
              </a:rPr>
              <a:t>expected AI findings found by the investigator</a:t>
            </a:r>
          </a:p>
        </p:txBody>
      </p:sp>
      <p:sp>
        <p:nvSpPr>
          <p:cNvPr id="156" name="TextBox 155"/>
          <p:cNvSpPr txBox="1"/>
          <p:nvPr/>
        </p:nvSpPr>
        <p:spPr>
          <a:xfrm>
            <a:off x="320040" y="2331720"/>
            <a:ext cx="8503920" cy="228600"/>
          </a:xfrm>
          <a:prstGeom prst="rect">
            <a:avLst/>
          </a:prstGeom>
          <a:noFill/>
        </p:spPr>
        <p:txBody>
          <a:bodyPr wrap="square" anchor="t" lIns="0" rIns="0" tIns="0" bIns="0">
            <a:noAutofit/>
          </a:bodyPr>
          <a:lstStyle/>
          <a:p>
            <a:pPr algn="l">
              <a:spcBef>
                <a:spcPts val="0"/>
              </a:spcBef>
              <a:spcAft>
                <a:spcPts val="300"/>
              </a:spcAft>
            </a:pPr>
            <a:r>
              <a:rPr sz="1000" b="1" i="0">
                <a:solidFill>
                  <a:srgbClr val="7A1230"/>
                </a:solidFill>
                <a:latin typeface="Arial"/>
              </a:rPr>
              <a:t>How it is measured: </a:t>
            </a:r>
            <a:r>
              <a:rPr sz="1000" b="0" i="0">
                <a:solidFill>
                  <a:srgbClr val="5F6368"/>
                </a:solidFill>
                <a:latin typeface="Arial"/>
              </a:rPr>
              <a:t>synthetic documents with known ground truth, read by live Gemini, scored row by row, checks run on Gemini's own reading</a:t>
            </a:r>
          </a:p>
        </p:txBody>
      </p:sp>
      <p:graphicFrame>
        <p:nvGraphicFramePr>
          <p:cNvPr id="157" name="bench_table"/>
          <p:cNvGraphicFramePr>
            <a:graphicFrameLocks noGrp="1"/>
          </p:cNvGraphicFramePr>
          <p:nvPr/>
        </p:nvGraphicFramePr>
        <p:xfrm>
          <a:off x="320040" y="2633472"/>
          <a:ext cx="8503920" cy="2112264"/>
        </p:xfrm>
        <a:graphic>
          <a:graphicData uri="http://schemas.openxmlformats.org/drawingml/2006/table">
            <a:tbl>
              <a:tblPr firstRow="1" bandRow="0"/>
              <a:tblGrid>
                <a:gridCol w="2148840"/>
                <a:gridCol w="2743200"/>
                <a:gridCol w="3611880"/>
              </a:tblGrid>
              <a:tr h="301752">
                <a:tc>
                  <a:txBody>
                    <a:bodyPr wrap="square"/>
                    <a:lstStyle/>
                    <a:p>
                      <a:r>
                        <a:rPr sz="950" b="1">
                          <a:solidFill>
                            <a:srgbClr val="FFFFFF"/>
                          </a:solidFill>
                          <a:latin typeface="Arial"/>
                        </a:rPr>
                        <a:t>Check</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202124"/>
                    </a:solidFill>
                  </a:tcPr>
                </a:tc>
                <a:tc>
                  <a:txBody>
                    <a:bodyPr wrap="square"/>
                    <a:lstStyle/>
                    <a:p>
                      <a:r>
                        <a:rPr sz="950" b="1">
                          <a:solidFill>
                            <a:srgbClr val="FFFFFF"/>
                          </a:solidFill>
                          <a:latin typeface="Arial"/>
                        </a:rPr>
                        <a:t>Manual review</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202124"/>
                    </a:solidFill>
                  </a:tcPr>
                </a:tc>
                <a:tc>
                  <a:txBody>
                    <a:bodyPr wrap="square"/>
                    <a:lstStyle/>
                    <a:p>
                      <a:r>
                        <a:rPr sz="950" b="1">
                          <a:solidFill>
                            <a:srgbClr val="FFFFFF"/>
                          </a:solidFill>
                          <a:latin typeface="Arial"/>
                        </a:rPr>
                        <a:t>FinRiskLens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202124"/>
                    </a:solidFill>
                  </a:tcPr>
                </a:tc>
              </a:tr>
              <a:tr h="301752">
                <a:tc>
                  <a:txBody>
                    <a:bodyPr wrap="square"/>
                    <a:lstStyle/>
                    <a:p>
                      <a:r>
                        <a:rPr sz="950" b="1">
                          <a:solidFill>
                            <a:srgbClr val="202124"/>
                          </a:solidFill>
                          <a:latin typeface="Arial"/>
                        </a:rPr>
                        <a:t>Statement arithmetic</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Spot-checked by eye</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Every row and page: balance, carry-over, totals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r>
              <a:tr h="301752">
                <a:tc>
                  <a:txBody>
                    <a:bodyPr wrap="square"/>
                    <a:lstStyle/>
                    <a:p>
                      <a:r>
                        <a:rPr sz="950" b="1">
                          <a:solidFill>
                            <a:srgbClr val="202124"/>
                          </a:solidFill>
                          <a:latin typeface="Arial"/>
                        </a:rPr>
                        <a:t>Statement vs bank</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Ask for a bank-certified copy</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Automatic when Account Aggregator is linked</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r>
              <a:tr h="301752">
                <a:tc>
                  <a:txBody>
                    <a:bodyPr wrap="square"/>
                    <a:lstStyle/>
                    <a:p>
                      <a:r>
                        <a:rPr sz="950" b="1">
                          <a:solidFill>
                            <a:srgbClr val="202124"/>
                          </a:solidFill>
                          <a:latin typeface="Arial"/>
                        </a:rPr>
                        <a:t>Edited files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Rarely examined</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Producer, creator and edit dates read on upload</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r>
              <a:tr h="301752">
                <a:tc>
                  <a:txBody>
                    <a:bodyPr wrap="square"/>
                    <a:lstStyle/>
                    <a:p>
                      <a:r>
                        <a:rPr sz="950" b="1">
                          <a:solidFill>
                            <a:srgbClr val="202124"/>
                          </a:solidFill>
                          <a:latin typeface="Arial"/>
                        </a:rPr>
                        <a:t>Links across customers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One customer at a time</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Shared file, account, director or contacts; GST loops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r>
              <a:tr h="301752">
                <a:tc>
                  <a:txBody>
                    <a:bodyPr wrap="square"/>
                    <a:lstStyle/>
                    <a:p>
                      <a:r>
                        <a:rPr sz="950" b="1">
                          <a:solidFill>
                            <a:srgbClr val="202124"/>
                          </a:solidFill>
                          <a:latin typeface="Arial"/>
                        </a:rPr>
                        <a:t>Credit decision</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FOIR worked out by hand</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Capacity computed in code; every AI figure traced</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r>
              <a:tr h="301752">
                <a:tc>
                  <a:txBody>
                    <a:bodyPr wrap="square"/>
                    <a:lstStyle/>
                    <a:p>
                      <a:r>
                        <a:rPr sz="950" b="1">
                          <a:solidFill>
                            <a:srgbClr val="202124"/>
                          </a:solidFill>
                          <a:latin typeface="Arial"/>
                        </a:rPr>
                        <a:t>Speed</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Analyst time per file</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10–60 s per statement · 12–43 s per investigation</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fut_0"/>
          <p:cNvSpPr/>
          <p:nvPr/>
        </p:nvSpPr>
        <p:spPr>
          <a:xfrm>
            <a:off x="320040" y="1188720"/>
            <a:ext cx="420624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fut_0_circle"/>
          <p:cNvSpPr/>
          <p:nvPr/>
        </p:nvSpPr>
        <p:spPr>
          <a:xfrm>
            <a:off x="457200" y="1325880"/>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4" name="fut_0_icon" descr="finger_w.png"/>
          <p:cNvPicPr>
            <a:picLocks noChangeAspect="1"/>
          </p:cNvPicPr>
          <p:nvPr/>
        </p:nvPicPr>
        <p:blipFill>
          <a:blip r:embed="rId5"/>
          <a:stretch>
            <a:fillRect/>
          </a:stretch>
        </p:blipFill>
        <p:spPr>
          <a:xfrm>
            <a:off x="541690" y="1410370"/>
            <a:ext cx="215066" cy="215066"/>
          </a:xfrm>
          <a:prstGeom prst="rect">
            <a:avLst/>
          </a:prstGeom>
        </p:spPr>
      </p:pic>
      <p:sp>
        <p:nvSpPr>
          <p:cNvPr id="155" name="TextBox 154"/>
          <p:cNvSpPr txBox="1"/>
          <p:nvPr/>
        </p:nvSpPr>
        <p:spPr>
          <a:xfrm>
            <a:off x="941832" y="1325880"/>
            <a:ext cx="347472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Registry cross-checks</a:t>
            </a:r>
          </a:p>
        </p:txBody>
      </p:sp>
      <p:sp>
        <p:nvSpPr>
          <p:cNvPr id="156" name="TextBox 155"/>
          <p:cNvSpPr txBox="1"/>
          <p:nvPr/>
        </p:nvSpPr>
        <p:spPr>
          <a:xfrm>
            <a:off x="457200" y="1792224"/>
            <a:ext cx="393192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150" b="0" i="0">
                <a:solidFill>
                  <a:srgbClr val="202124"/>
                </a:solidFill>
                <a:latin typeface="Arial"/>
              </a:rPr>
              <a:t>GST, ITR and bank turnover reconciled</a:t>
            </a:r>
          </a:p>
          <a:p>
            <a:pPr algn="l" marL="146304" indent="-146304">
              <a:spcBef>
                <a:spcPts val="0"/>
              </a:spcBef>
              <a:spcAft>
                <a:spcPts val="300"/>
              </a:spcAft>
              <a:buFont typeface="Arial"/>
              <a:buChar char="•"/>
            </a:pPr>
            <a:r>
              <a:rPr sz="1150" b="0" i="0">
                <a:solidFill>
                  <a:srgbClr val="202124"/>
                </a:solidFill>
                <a:latin typeface="Arial"/>
              </a:rPr>
              <a:t>Name, PAN and address across every source</a:t>
            </a:r>
          </a:p>
          <a:p>
            <a:pPr algn="l" marL="146304" indent="-146304">
              <a:spcBef>
                <a:spcPts val="0"/>
              </a:spcBef>
              <a:spcAft>
                <a:spcPts val="300"/>
              </a:spcAft>
              <a:buFont typeface="Arial"/>
              <a:buChar char="•"/>
            </a:pPr>
            <a:r>
              <a:rPr sz="1150" b="0" i="0">
                <a:solidFill>
                  <a:srgbClr val="202124"/>
                </a:solidFill>
                <a:latin typeface="Arial"/>
              </a:rPr>
              <a:t>Password-protected and scanned statements</a:t>
            </a:r>
          </a:p>
        </p:txBody>
      </p:sp>
      <p:sp>
        <p:nvSpPr>
          <p:cNvPr id="157" name="fut_1"/>
          <p:cNvSpPr/>
          <p:nvPr/>
        </p:nvSpPr>
        <p:spPr>
          <a:xfrm>
            <a:off x="4617720" y="1188720"/>
            <a:ext cx="420624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fut_1_circle"/>
          <p:cNvSpPr/>
          <p:nvPr/>
        </p:nvSpPr>
        <p:spPr>
          <a:xfrm>
            <a:off x="4754880" y="1325880"/>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9" name="fut_1_icon" descr="search_w.png"/>
          <p:cNvPicPr>
            <a:picLocks noChangeAspect="1"/>
          </p:cNvPicPr>
          <p:nvPr/>
        </p:nvPicPr>
        <p:blipFill>
          <a:blip r:embed="rId6"/>
          <a:stretch>
            <a:fillRect/>
          </a:stretch>
        </p:blipFill>
        <p:spPr>
          <a:xfrm>
            <a:off x="4839370" y="1410370"/>
            <a:ext cx="215066" cy="215066"/>
          </a:xfrm>
          <a:prstGeom prst="rect">
            <a:avLst/>
          </a:prstGeom>
        </p:spPr>
      </p:pic>
      <p:sp>
        <p:nvSpPr>
          <p:cNvPr id="160" name="TextBox 159"/>
          <p:cNvSpPr txBox="1"/>
          <p:nvPr/>
        </p:nvSpPr>
        <p:spPr>
          <a:xfrm>
            <a:off x="5239512" y="1325880"/>
            <a:ext cx="347472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Evidence highlighting</a:t>
            </a:r>
          </a:p>
        </p:txBody>
      </p:sp>
      <p:sp>
        <p:nvSpPr>
          <p:cNvPr id="161" name="TextBox 160"/>
          <p:cNvSpPr txBox="1"/>
          <p:nvPr/>
        </p:nvSpPr>
        <p:spPr>
          <a:xfrm>
            <a:off x="4754880" y="1792224"/>
            <a:ext cx="393192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150" b="0" i="0">
                <a:solidFill>
                  <a:srgbClr val="202124"/>
                </a:solidFill>
                <a:latin typeface="Arial"/>
              </a:rPr>
              <a:t>Highlight the exact row on the PDF page</a:t>
            </a:r>
          </a:p>
          <a:p>
            <a:pPr algn="l" marL="146304" indent="-146304">
              <a:spcBef>
                <a:spcPts val="0"/>
              </a:spcBef>
              <a:spcAft>
                <a:spcPts val="300"/>
              </a:spcAft>
              <a:buFont typeface="Arial"/>
              <a:buChar char="•"/>
            </a:pPr>
            <a:r>
              <a:rPr sz="1150" b="0" i="0">
                <a:solidFill>
                  <a:srgbClr val="202124"/>
                </a:solidFill>
                <a:latin typeface="Arial"/>
              </a:rPr>
              <a:t>Bounding boxes already in the extraction contract</a:t>
            </a:r>
          </a:p>
          <a:p>
            <a:pPr algn="l" marL="146304" indent="-146304">
              <a:spcBef>
                <a:spcPts val="0"/>
              </a:spcBef>
              <a:spcAft>
                <a:spcPts val="300"/>
              </a:spcAft>
              <a:buFont typeface="Arial"/>
              <a:buChar char="•"/>
            </a:pPr>
            <a:r>
              <a:rPr sz="1150" b="0" i="0">
                <a:solidFill>
                  <a:srgbClr val="202124"/>
                </a:solidFill>
                <a:latin typeface="Arial"/>
              </a:rPr>
              <a:t>Side-by-side PDF and bank record view</a:t>
            </a:r>
          </a:p>
        </p:txBody>
      </p:sp>
      <p:sp>
        <p:nvSpPr>
          <p:cNvPr id="162" name="fut_2"/>
          <p:cNvSpPr/>
          <p:nvPr/>
        </p:nvSpPr>
        <p:spPr>
          <a:xfrm>
            <a:off x="320040" y="3081528"/>
            <a:ext cx="420624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fut_2_circle"/>
          <p:cNvSpPr/>
          <p:nvPr/>
        </p:nvSpPr>
        <p:spPr>
          <a:xfrm>
            <a:off x="457200" y="3218688"/>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4" name="fut_2_icon" descr="book_w.png"/>
          <p:cNvPicPr>
            <a:picLocks noChangeAspect="1"/>
          </p:cNvPicPr>
          <p:nvPr/>
        </p:nvPicPr>
        <p:blipFill>
          <a:blip r:embed="rId7"/>
          <a:stretch>
            <a:fillRect/>
          </a:stretch>
        </p:blipFill>
        <p:spPr>
          <a:xfrm>
            <a:off x="541690" y="3303178"/>
            <a:ext cx="215066" cy="215066"/>
          </a:xfrm>
          <a:prstGeom prst="rect">
            <a:avLst/>
          </a:prstGeom>
        </p:spPr>
      </p:pic>
      <p:sp>
        <p:nvSpPr>
          <p:cNvPr id="165" name="TextBox 164"/>
          <p:cNvSpPr txBox="1"/>
          <p:nvPr/>
        </p:nvSpPr>
        <p:spPr>
          <a:xfrm>
            <a:off x="941832" y="3218688"/>
            <a:ext cx="347472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Case memory and policy Q&amp;A</a:t>
            </a:r>
          </a:p>
        </p:txBody>
      </p:sp>
      <p:sp>
        <p:nvSpPr>
          <p:cNvPr id="166" name="TextBox 165"/>
          <p:cNvSpPr txBox="1"/>
          <p:nvPr/>
        </p:nvSpPr>
        <p:spPr>
          <a:xfrm>
            <a:off x="457200" y="3685032"/>
            <a:ext cx="393192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150" b="0" i="0">
                <a:solidFill>
                  <a:srgbClr val="202124"/>
                </a:solidFill>
                <a:latin typeface="Arial"/>
              </a:rPr>
              <a:t>Confirmed findings feed the knowledge base</a:t>
            </a:r>
          </a:p>
          <a:p>
            <a:pPr algn="l" marL="146304" indent="-146304">
              <a:spcBef>
                <a:spcPts val="0"/>
              </a:spcBef>
              <a:spcAft>
                <a:spcPts val="300"/>
              </a:spcAft>
              <a:buFont typeface="Arial"/>
              <a:buChar char="•"/>
            </a:pPr>
            <a:r>
              <a:rPr sz="1150" b="0" i="0">
                <a:solidFill>
                  <a:srgbClr val="202124"/>
                </a:solidFill>
                <a:latin typeface="Arial"/>
              </a:rPr>
              <a:t>Policy questions answered with citations</a:t>
            </a:r>
          </a:p>
          <a:p>
            <a:pPr algn="l" marL="146304" indent="-146304">
              <a:spcBef>
                <a:spcPts val="0"/>
              </a:spcBef>
              <a:spcAft>
                <a:spcPts val="300"/>
              </a:spcAft>
              <a:buFont typeface="Arial"/>
              <a:buChar char="•"/>
            </a:pPr>
            <a:r>
              <a:rPr sz="1150" b="0" i="0">
                <a:solidFill>
                  <a:srgbClr val="202124"/>
                </a:solidFill>
                <a:latin typeface="Arial"/>
              </a:rPr>
              <a:t>Refusal when the policy is silent</a:t>
            </a:r>
          </a:p>
        </p:txBody>
      </p:sp>
      <p:sp>
        <p:nvSpPr>
          <p:cNvPr id="167" name="fut_3"/>
          <p:cNvSpPr/>
          <p:nvPr/>
        </p:nvSpPr>
        <p:spPr>
          <a:xfrm>
            <a:off x="4617720" y="3081528"/>
            <a:ext cx="4206240" cy="17830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fut_3_circle"/>
          <p:cNvSpPr/>
          <p:nvPr/>
        </p:nvSpPr>
        <p:spPr>
          <a:xfrm>
            <a:off x="4754880" y="3218688"/>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9" name="fut_3_icon" descr="layers_w.png"/>
          <p:cNvPicPr>
            <a:picLocks noChangeAspect="1"/>
          </p:cNvPicPr>
          <p:nvPr/>
        </p:nvPicPr>
        <p:blipFill>
          <a:blip r:embed="rId8"/>
          <a:stretch>
            <a:fillRect/>
          </a:stretch>
        </p:blipFill>
        <p:spPr>
          <a:xfrm>
            <a:off x="4839370" y="3303178"/>
            <a:ext cx="215066" cy="215066"/>
          </a:xfrm>
          <a:prstGeom prst="rect">
            <a:avLst/>
          </a:prstGeom>
        </p:spPr>
      </p:pic>
      <p:sp>
        <p:nvSpPr>
          <p:cNvPr id="170" name="TextBox 169"/>
          <p:cNvSpPr txBox="1"/>
          <p:nvPr/>
        </p:nvSpPr>
        <p:spPr>
          <a:xfrm>
            <a:off x="5239512" y="3218688"/>
            <a:ext cx="3474720" cy="384048"/>
          </a:xfrm>
          <a:prstGeom prst="rect">
            <a:avLst/>
          </a:prstGeom>
          <a:noFill/>
        </p:spPr>
        <p:txBody>
          <a:bodyPr wrap="square" anchor="ctr" lIns="0" rIns="0" tIns="0" bIns="0">
            <a:noAutofit/>
          </a:bodyPr>
          <a:lstStyle/>
          <a:p>
            <a:pPr algn="l">
              <a:spcBef>
                <a:spcPts val="0"/>
              </a:spcBef>
              <a:spcAft>
                <a:spcPts val="300"/>
              </a:spcAft>
            </a:pPr>
            <a:r>
              <a:rPr sz="1200" b="1" i="0">
                <a:solidFill>
                  <a:srgbClr val="202124"/>
                </a:solidFill>
                <a:latin typeface="Arial"/>
              </a:rPr>
              <a:t>Scale and integration</a:t>
            </a:r>
          </a:p>
        </p:txBody>
      </p:sp>
      <p:sp>
        <p:nvSpPr>
          <p:cNvPr id="171" name="TextBox 170"/>
          <p:cNvSpPr txBox="1"/>
          <p:nvPr/>
        </p:nvSpPr>
        <p:spPr>
          <a:xfrm>
            <a:off x="4754880" y="3685032"/>
            <a:ext cx="3931920" cy="1088136"/>
          </a:xfrm>
          <a:prstGeom prst="rect">
            <a:avLst/>
          </a:prstGeom>
          <a:noFill/>
        </p:spPr>
        <p:txBody>
          <a:bodyPr wrap="square" anchor="t" lIns="0" rIns="0" tIns="0" bIns="0">
            <a:noAutofit/>
          </a:bodyPr>
          <a:lstStyle/>
          <a:p>
            <a:pPr algn="l" marL="146304" indent="-146304">
              <a:spcBef>
                <a:spcPts val="0"/>
              </a:spcBef>
              <a:spcAft>
                <a:spcPts val="300"/>
              </a:spcAft>
              <a:buFont typeface="Arial"/>
              <a:buChar char="•"/>
            </a:pPr>
            <a:r>
              <a:rPr sz="1150" b="0" i="0">
                <a:solidFill>
                  <a:srgbClr val="202124"/>
                </a:solidFill>
                <a:latin typeface="Arial"/>
              </a:rPr>
              <a:t>Entity link tables for portfolio-scale customer links</a:t>
            </a:r>
          </a:p>
          <a:p>
            <a:pPr algn="l" marL="146304" indent="-146304">
              <a:spcBef>
                <a:spcPts val="0"/>
              </a:spcBef>
              <a:spcAft>
                <a:spcPts val="300"/>
              </a:spcAft>
              <a:buFont typeface="Arial"/>
              <a:buChar char="•"/>
            </a:pPr>
            <a:r>
              <a:rPr sz="1150" b="0" i="0">
                <a:solidFill>
                  <a:srgbClr val="202124"/>
                </a:solidFill>
                <a:latin typeface="Arial"/>
              </a:rPr>
              <a:t>Live GST, ITR and MCA through licensed providers</a:t>
            </a:r>
          </a:p>
          <a:p>
            <a:pPr algn="l" marL="146304" indent="-146304">
              <a:spcBef>
                <a:spcPts val="0"/>
              </a:spcBef>
              <a:spcAft>
                <a:spcPts val="300"/>
              </a:spcAft>
              <a:buFont typeface="Arial"/>
              <a:buChar char="•"/>
            </a:pPr>
            <a:r>
              <a:rPr sz="1150" b="0" i="0">
                <a:solidFill>
                  <a:srgbClr val="202124"/>
                </a:solidFill>
                <a:latin typeface="Arial"/>
              </a:rPr>
              <a:t>Per-lender policies and thresholds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4630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 </a:t>
            </a:r>
            <a:r>
              <a:rPr>
                <a:hlinkClick r:id="rId5"/>
              </a:rPr>
              <a:t>https://github.com/abhinavmukwane/FinRiskLensAI-RAG-V2</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 </a:t>
            </a:r>
            <a:r>
              <a:rPr b="1">
                <a:solidFill>
                  <a:srgbClr val="B06000"/>
                </a:solidFill>
              </a:rPr>
              <a:t>add the link after uploading the video</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 </a:t>
            </a:r>
            <a:r>
              <a:rPr>
                <a:hlinkClick r:id="rId6"/>
              </a:rPr>
              <a:t>https://finrisklensai.cloud.run</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60" name="access_box"/>
          <p:cNvSpPr/>
          <p:nvPr/>
        </p:nvSpPr>
        <p:spPr>
          <a:xfrm>
            <a:off x="320040" y="2423160"/>
            <a:ext cx="8503920" cy="86868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access_circle"/>
          <p:cNvSpPr/>
          <p:nvPr/>
        </p:nvSpPr>
        <p:spPr>
          <a:xfrm>
            <a:off x="457200" y="2560320"/>
            <a:ext cx="384048" cy="384048"/>
          </a:xfrm>
          <a:prstGeom prst="ellipse">
            <a:avLst/>
          </a:prstGeom>
          <a:solidFill>
            <a:srgbClr val="7A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access_icon" descr="lock_w.png"/>
          <p:cNvPicPr>
            <a:picLocks noChangeAspect="1"/>
          </p:cNvPicPr>
          <p:nvPr/>
        </p:nvPicPr>
        <p:blipFill>
          <a:blip r:embed="rId7"/>
          <a:stretch>
            <a:fillRect/>
          </a:stretch>
        </p:blipFill>
        <p:spPr>
          <a:xfrm>
            <a:off x="541690" y="2644810"/>
            <a:ext cx="215066" cy="215066"/>
          </a:xfrm>
          <a:prstGeom prst="rect">
            <a:avLst/>
          </a:prstGeom>
        </p:spPr>
      </p:pic>
      <p:sp>
        <p:nvSpPr>
          <p:cNvPr id="163" name="TextBox 162"/>
          <p:cNvSpPr txBox="1"/>
          <p:nvPr/>
        </p:nvSpPr>
        <p:spPr>
          <a:xfrm>
            <a:off x="960119" y="2514600"/>
            <a:ext cx="7726680" cy="914400"/>
          </a:xfrm>
          <a:prstGeom prst="rect">
            <a:avLst/>
          </a:prstGeom>
          <a:noFill/>
        </p:spPr>
        <p:txBody>
          <a:bodyPr wrap="square" anchor="t" lIns="0" rIns="0" tIns="0" bIns="0">
            <a:noAutofit/>
          </a:bodyPr>
          <a:lstStyle/>
          <a:p>
            <a:pPr algn="l">
              <a:spcBef>
                <a:spcPts val="0"/>
              </a:spcBef>
              <a:spcAft>
                <a:spcPts val="300"/>
              </a:spcAft>
            </a:pPr>
            <a:r>
              <a:rPr sz="1200" b="1" i="0">
                <a:solidFill>
                  <a:srgbClr val="202124"/>
                </a:solidFill>
                <a:latin typeface="Arial"/>
              </a:rPr>
              <a:t>For the evaluation panel</a:t>
            </a:r>
          </a:p>
          <a:p>
            <a:pPr algn="l">
              <a:spcBef>
                <a:spcPts val="0"/>
              </a:spcBef>
              <a:spcAft>
                <a:spcPts val="300"/>
              </a:spcAft>
            </a:pPr>
            <a:r>
              <a:rPr sz="1050" b="0" i="0">
                <a:solidFill>
                  <a:srgbClr val="202124"/>
                </a:solidFill>
                <a:latin typeface="Arial"/>
              </a:rPr>
              <a:t>Bank portal: https://finrisklensai.cloud.run/Auth/BankLogin — credentials are shared with the panel directly.</a:t>
            </a:r>
          </a:p>
          <a:p>
            <a:pPr algn="l">
              <a:spcBef>
                <a:spcPts val="0"/>
              </a:spcBef>
              <a:spcAft>
                <a:spcPts val="300"/>
              </a:spcAft>
            </a:pPr>
            <a:r>
              <a:rPr sz="1050" b="0" i="0">
                <a:solidFill>
                  <a:srgbClr val="5F6368"/>
                </a:solidFill>
                <a:latin typeface="Arial"/>
              </a:rPr>
              <a:t>All demo data is synthetic. GST, ITR and MCA are generated samples; OFAC/AML screening is a demo.</a:t>
            </a:r>
          </a:p>
        </p:txBody>
      </p:sp>
      <p:sp>
        <p:nvSpPr>
          <p:cNvPr id="164" name="repo_box"/>
          <p:cNvSpPr/>
          <p:nvPr/>
        </p:nvSpPr>
        <p:spPr>
          <a:xfrm>
            <a:off x="320040" y="3429000"/>
            <a:ext cx="8503920" cy="105156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po_circle"/>
          <p:cNvSpPr/>
          <p:nvPr/>
        </p:nvSpPr>
        <p:spPr>
          <a:xfrm>
            <a:off x="457200" y="3566160"/>
            <a:ext cx="384048" cy="384048"/>
          </a:xfrm>
          <a:prstGeom prst="ellipse">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6" name="repo_icon" descr="github_w.png"/>
          <p:cNvPicPr>
            <a:picLocks noChangeAspect="1"/>
          </p:cNvPicPr>
          <p:nvPr/>
        </p:nvPicPr>
        <p:blipFill>
          <a:blip r:embed="rId8"/>
          <a:stretch>
            <a:fillRect/>
          </a:stretch>
        </p:blipFill>
        <p:spPr>
          <a:xfrm>
            <a:off x="541690" y="3650650"/>
            <a:ext cx="215066" cy="215066"/>
          </a:xfrm>
          <a:prstGeom prst="rect">
            <a:avLst/>
          </a:prstGeom>
        </p:spPr>
      </p:pic>
      <p:sp>
        <p:nvSpPr>
          <p:cNvPr id="167" name="TextBox 166"/>
          <p:cNvSpPr txBox="1"/>
          <p:nvPr/>
        </p:nvSpPr>
        <p:spPr>
          <a:xfrm>
            <a:off x="960119" y="3520440"/>
            <a:ext cx="7726680" cy="914400"/>
          </a:xfrm>
          <a:prstGeom prst="rect">
            <a:avLst/>
          </a:prstGeom>
          <a:noFill/>
        </p:spPr>
        <p:txBody>
          <a:bodyPr wrap="square" anchor="t" lIns="0" rIns="0" tIns="0" bIns="0">
            <a:noAutofit/>
          </a:bodyPr>
          <a:lstStyle/>
          <a:p>
            <a:pPr algn="l">
              <a:spcBef>
                <a:spcPts val="0"/>
              </a:spcBef>
              <a:spcAft>
                <a:spcPts val="300"/>
              </a:spcAft>
            </a:pPr>
            <a:r>
              <a:rPr sz="1200" b="1" i="0">
                <a:solidFill>
                  <a:srgbClr val="202124"/>
                </a:solidFill>
                <a:latin typeface="Arial"/>
              </a:rPr>
              <a:t>In the repository</a:t>
            </a:r>
          </a:p>
          <a:p>
            <a:pPr algn="l">
              <a:spcBef>
                <a:spcPts val="0"/>
              </a:spcBef>
              <a:spcAft>
                <a:spcPts val="300"/>
              </a:spcAft>
            </a:pPr>
            <a:r>
              <a:rPr sz="1050" b="0" i="0">
                <a:solidFill>
                  <a:srgbClr val="202124"/>
                </a:solidFill>
                <a:latin typeface="Arial"/>
              </a:rPr>
              <a:t>README — how it works and every measurement · Doc/12_CUSTOMER_RISK_LENS.md — the customer flow · Doc/ARCHITECTURE.md</a:t>
            </a:r>
          </a:p>
          <a:p>
            <a:pPr algn="l">
              <a:spcBef>
                <a:spcPts val="0"/>
              </a:spcBef>
              <a:spcAft>
                <a:spcPts val="300"/>
              </a:spcAft>
            </a:pPr>
            <a:r>
              <a:rPr sz="1050" b="0" i="0">
                <a:solidFill>
                  <a:srgbClr val="5F6368"/>
                </a:solidFill>
                <a:latin typeface="Arial"/>
              </a:rPr>
              <a:t>Run it yourself: dotnet test (70 tests) · DemoData eval (live extraction scored against ground truth)</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Demo customers on the live site</a:t>
            </a:r>
            <a:endParaRPr sz="1600">
              <a:latin typeface="Google Sans Flex Medium"/>
              <a:ea typeface="Google Sans Flex Medium"/>
              <a:cs typeface="Google Sans Flex Medium"/>
              <a:sym typeface="Google Sans Flex Medium"/>
            </a:endParaRPr>
          </a:p>
        </p:txBody>
      </p:sp>
      <p:graphicFrame>
        <p:nvGraphicFramePr>
          <p:cNvPr id="168" name="demo_table"/>
          <p:cNvGraphicFramePr>
            <a:graphicFrameLocks noGrp="1"/>
          </p:cNvGraphicFramePr>
          <p:nvPr/>
        </p:nvGraphicFramePr>
        <p:xfrm>
          <a:off x="320040" y="1188720"/>
          <a:ext cx="8503920" cy="2688336"/>
        </p:xfrm>
        <a:graphic>
          <a:graphicData uri="http://schemas.openxmlformats.org/drawingml/2006/table">
            <a:tbl>
              <a:tblPr firstRow="1" bandRow="0"/>
              <a:tblGrid>
                <a:gridCol w="1920240"/>
                <a:gridCol w="3291840"/>
                <a:gridCol w="3291840"/>
              </a:tblGrid>
              <a:tr h="384048">
                <a:tc>
                  <a:txBody>
                    <a:bodyPr wrap="square"/>
                    <a:lstStyle/>
                    <a:p>
                      <a:r>
                        <a:rPr sz="950" b="1">
                          <a:solidFill>
                            <a:srgbClr val="FFFFFF"/>
                          </a:solidFill>
                          <a:latin typeface="Arial"/>
                        </a:rPr>
                        <a:t>Customer (Udyam)</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202124"/>
                    </a:solidFill>
                  </a:tcPr>
                </a:tc>
                <a:tc>
                  <a:txBody>
                    <a:bodyPr wrap="square"/>
                    <a:lstStyle/>
                    <a:p>
                      <a:r>
                        <a:rPr sz="950" b="1">
                          <a:solidFill>
                            <a:srgbClr val="FFFFFF"/>
                          </a:solidFill>
                          <a:latin typeface="Arial"/>
                        </a:rPr>
                        <a:t>Story</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202124"/>
                    </a:solidFill>
                  </a:tcPr>
                </a:tc>
                <a:tc>
                  <a:txBody>
                    <a:bodyPr wrap="square"/>
                    <a:lstStyle/>
                    <a:p>
                      <a:r>
                        <a:rPr sz="950" b="1">
                          <a:solidFill>
                            <a:srgbClr val="FFFFFF"/>
                          </a:solidFill>
                          <a:latin typeface="Arial"/>
                        </a:rPr>
                        <a:t>What FinRiskLens shows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202124"/>
                    </a:solidFill>
                  </a:tcPr>
                </a:tc>
              </a:tr>
              <a:tr h="384048">
                <a:tc>
                  <a:txBody>
                    <a:bodyPr wrap="square"/>
                    <a:lstStyle/>
                    <a:p>
                      <a:r>
                        <a:rPr sz="950" b="1">
                          <a:solidFill>
                            <a:srgbClr val="202124"/>
                          </a:solidFill>
                          <a:latin typeface="Arial"/>
                        </a:rPr>
                        <a:t>Clear · …-0301</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Consistent everywhere</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Clear → AI credit decision → Approve → LOS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r>
              <a:tr h="384048">
                <a:tc>
                  <a:txBody>
                    <a:bodyPr wrap="square"/>
                    <a:lstStyle/>
                    <a:p>
                      <a:r>
                        <a:rPr sz="950" b="1">
                          <a:solidFill>
                            <a:srgbClr val="202124"/>
                          </a:solidFill>
                          <a:latin typeface="Arial"/>
                        </a:rPr>
                        <a:t>Edited statement · …-0302</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Uploaded statement disagrees with the bank</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High risk — statement vs Account Aggregator</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r>
              <a:tr h="384048">
                <a:tc>
                  <a:txBody>
                    <a:bodyPr wrap="square"/>
                    <a:lstStyle/>
                    <a:p>
                      <a:r>
                        <a:rPr sz="950" b="1">
                          <a:solidFill>
                            <a:srgbClr val="202124"/>
                          </a:solidFill>
                          <a:latin typeface="Arial"/>
                        </a:rPr>
                        <a:t>Turnover inflation · …-0303</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Bank credits about 3× GST and ITR turnover</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High risk — turnover mismatch across sources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r>
              <a:tr h="384048">
                <a:tc>
                  <a:txBody>
                    <a:bodyPr wrap="square"/>
                    <a:lstStyle/>
                    <a:p>
                      <a:r>
                        <a:rPr sz="950" b="1">
                          <a:solidFill>
                            <a:srgbClr val="202124"/>
                          </a:solidFill>
                          <a:latin typeface="Arial"/>
                        </a:rPr>
                        <a:t>Edited ITR · …-0304</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Uploaded ITR shows more than the filed return</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High risk — uploaded vs filed ITR</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r>
              <a:tr h="384048">
                <a:tc>
                  <a:txBody>
                    <a:bodyPr wrap="square"/>
                    <a:lstStyle/>
                    <a:p>
                      <a:r>
                        <a:rPr sz="950" b="1">
                          <a:solidFill>
                            <a:srgbClr val="202124"/>
                          </a:solidFill>
                          <a:latin typeface="Arial"/>
                        </a:rPr>
                        <a:t>Mule-like account · …-0305</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Every receipt forwarded the same day</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c>
                  <a:txBody>
                    <a:bodyPr wrap="square"/>
                    <a:lstStyle/>
                    <a:p>
                      <a:r>
                        <a:rPr sz="950" b="0">
                          <a:solidFill>
                            <a:srgbClr val="202124"/>
                          </a:solidFill>
                          <a:latin typeface="Arial"/>
                        </a:rPr>
                        <a:t>High risk — pass-through in the bank data</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FFFFF"/>
                    </a:solidFill>
                  </a:tcPr>
                </a:tc>
              </a:tr>
              <a:tr h="384048">
                <a:tc>
                  <a:txBody>
                    <a:bodyPr wrap="square"/>
                    <a:lstStyle/>
                    <a:p>
                      <a:r>
                        <a:rPr sz="950" b="1">
                          <a:solidFill>
                            <a:srgbClr val="202124"/>
                          </a:solidFill>
                          <a:latin typeface="Arial"/>
                        </a:rPr>
                        <a:t>Circular traders · …-0306–0308</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Invoice each other in a loop; one director</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c>
                  <a:txBody>
                    <a:bodyPr wrap="square"/>
                    <a:lstStyle/>
                    <a:p>
                      <a:r>
                        <a:rPr sz="950" b="0">
                          <a:solidFill>
                            <a:srgbClr val="202124"/>
                          </a:solidFill>
                          <a:latin typeface="Arial"/>
                        </a:rPr>
                        <a:t>High risk for all three — linked customers</a:t>
                      </a:r>
                    </a:p>
                  </a:txBody>
                  <a:tcPr marL="64008" marR="64008" marT="27432" marB="27432" anchor="ctr">
                    <a:lnL w="6350" cap="flat" cmpd="sng" algn="ctr">
                      <a:solidFill>
                        <a:srgbClr val="DADCE0"/>
                      </a:solidFill>
                      <a:prstDash val="solid"/>
                    </a:lnL>
                    <a:lnR w="6350" cap="flat" cmpd="sng" algn="ctr">
                      <a:solidFill>
                        <a:srgbClr val="DADCE0"/>
                      </a:solidFill>
                      <a:prstDash val="solid"/>
                    </a:lnR>
                    <a:lnT w="6350" cap="flat" cmpd="sng" algn="ctr">
                      <a:solidFill>
                        <a:srgbClr val="DADCE0"/>
                      </a:solidFill>
                      <a:prstDash val="solid"/>
                    </a:lnT>
                    <a:lnB w="6350" cap="flat" cmpd="sng" algn="ctr">
                      <a:solidFill>
                        <a:srgbClr val="DADCE0"/>
                      </a:solidFill>
                      <a:prstDash val="solid"/>
                    </a:lnB>
                    <a:solidFill>
                      <a:srgbClr val="F8F9FA"/>
                    </a:solidFill>
                  </a:tcPr>
                </a:tc>
              </a:tr>
            </a:tbl>
          </a:graphicData>
        </a:graphic>
      </p:graphicFrame>
      <p:sp>
        <p:nvSpPr>
          <p:cNvPr id="169" name="TextBox 168"/>
          <p:cNvSpPr txBox="1"/>
          <p:nvPr/>
        </p:nvSpPr>
        <p:spPr>
          <a:xfrm>
            <a:off x="320040" y="4023360"/>
            <a:ext cx="8503920" cy="274320"/>
          </a:xfrm>
          <a:prstGeom prst="rect">
            <a:avLst/>
          </a:prstGeom>
          <a:noFill/>
        </p:spPr>
        <p:txBody>
          <a:bodyPr wrap="square" anchor="t" lIns="0" rIns="0" tIns="0" bIns="0">
            <a:noAutofit/>
          </a:bodyPr>
          <a:lstStyle/>
          <a:p>
            <a:pPr algn="l">
              <a:spcBef>
                <a:spcPts val="0"/>
              </a:spcBef>
              <a:spcAft>
                <a:spcPts val="300"/>
              </a:spcAft>
            </a:pPr>
            <a:r>
              <a:rPr sz="950" b="1" i="0">
                <a:solidFill>
                  <a:srgbClr val="5F6368"/>
                </a:solidFill>
                <a:latin typeface="Arial"/>
              </a:rPr>
              <a:t>Udyam numbers </a:t>
            </a:r>
            <a:r>
              <a:rPr sz="950" b="0" i="0">
                <a:solidFill>
                  <a:srgbClr val="5F6368"/>
                </a:solidFill>
                <a:latin typeface="Arial"/>
              </a:rPr>
              <a:t>UDYAM-MH-99-0000301 to 0000308 · bank sign-in details for the panel are on the links slide</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