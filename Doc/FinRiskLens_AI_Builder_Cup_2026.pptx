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23"/>
  </p:notesMasterIdLst>
  <p:sldIdLst>
    <p:sldId id="278" r:id="rId2"/>
    <p:sldId id="258" r:id="rId3"/>
    <p:sldId id="259" r:id="rId4"/>
    <p:sldId id="260" r:id="rId5"/>
    <p:sldId id="261" r:id="rId6"/>
    <p:sldId id="262" r:id="rId7"/>
    <p:sldId id="263" r:id="rId8"/>
    <p:sldId id="264" r:id="rId9"/>
    <p:sldId id="265" r:id="rId10"/>
    <p:sldId id="266" r:id="rId11"/>
    <p:sldId id="277" r:id="rId12"/>
    <p:sldId id="276" r:id="rId13"/>
    <p:sldId id="275" r:id="rId14"/>
    <p:sldId id="274" r:id="rId15"/>
    <p:sldId id="273" r:id="rId16"/>
    <p:sldId id="272" r:id="rId17"/>
    <p:sldId id="267" r:id="rId18"/>
    <p:sldId id="268" r:id="rId19"/>
    <p:sldId id="269" r:id="rId20"/>
    <p:sldId id="270" r:id="rId21"/>
    <p:sldId id="271" r:id="rId22"/>
  </p:sldIdLst>
  <p:sldSz cx="9144000" cy="5143500" type="screen16x9"/>
  <p:notesSz cx="6858000" cy="9144000"/>
  <p:embeddedFontLst>
    <p:embeddedFont>
      <p:font typeface="Google Sans Flex" panose="020B0604020202020204" charset="0"/>
      <p:regular r:id="rId24"/>
      <p:bold r:id="rId25"/>
    </p:embeddedFont>
    <p:embeddedFont>
      <p:font typeface="Google Sans Flex Medium" panose="020B0604020202020204" charset="0"/>
      <p:regular r:id="rId26"/>
      <p:bold r:id="rId27"/>
    </p:embeddedFont>
    <p:embeddedFont>
      <p:font typeface="Google Sans Flex SemiBold" panose="020B0604020202020204" charset="0"/>
      <p:regular r:id="rId28"/>
      <p:bold r:id="rId2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5" d="100"/>
          <a:sy n="105" d="100"/>
        </p:scale>
        <p:origin x="802" y="62"/>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3.fntdata"/><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2.fntdata"/><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6.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1.fntdata"/><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font" Target="fonts/font5.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4.fntdata"/><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FinRiskLens — evidence-based fraud detection and risk analysis for MSME lending, built on Google Cloud by team AS FinTech Developer.</a:t>
            </a:r>
          </a:p>
        </p:txBody>
      </p:sp>
    </p:spTree>
    <p:extLst>
      <p:ext uri="{BB962C8B-B14F-4D97-AF65-F5344CB8AC3E}">
        <p14:creationId xmlns:p14="http://schemas.microsoft.com/office/powerpoint/2010/main" val="372417503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
        <p:cNvGrpSpPr/>
        <p:nvPr/>
      </p:nvGrpSpPr>
      <p:grpSpPr>
        <a:xfrm>
          <a:off x="0" y="0"/>
          <a:ext cx="0" cy="0"/>
          <a:chOff x="0" y="0"/>
          <a:chExt cx="0" cy="0"/>
        </a:xfrm>
      </p:grpSpPr>
      <p:sp>
        <p:nvSpPr>
          <p:cNvPr id="66" name="Google Shape;66;g3fb085bff3c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 name="Google Shape;67;g3fb085bff3c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RBI figures from the RBI Annual Report 2024-25 (released May 2025), date-of-reporting basis.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g3fb085bff3c_0_1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 name="Google Shape;74;g3fb085bff3c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g3fb085bff3c_0_1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fb085bff3c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
        <p:cNvGrpSpPr/>
        <p:nvPr/>
      </p:nvGrpSpPr>
      <p:grpSpPr>
        <a:xfrm>
          <a:off x="0" y="0"/>
          <a:ext cx="0" cy="0"/>
          <a:chOff x="0" y="0"/>
          <a:chExt cx="0" cy="0"/>
        </a:xfrm>
      </p:grpSpPr>
      <p:sp>
        <p:nvSpPr>
          <p:cNvPr id="89" name="Google Shape;89;g3fb085bff3c_0_2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 name="Google Shape;90;g3fb085bff3c_0_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Steps 2–5 run in a background worker whenever a customer shares a source or uploads a document; the Risk Lens refreshes until they finish. Step 7 runs only for a Clear customer — a confirmed finding blocks it — and only an accepted Approve can be sent.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p:cNvGrpSpPr/>
        <p:nvPr/>
      </p:nvGrpSpPr>
      <p:grpSpPr>
        <a:xfrm>
          <a:off x="0" y="0"/>
          <a:ext cx="0" cy="0"/>
          <a:chOff x="0" y="0"/>
          <a:chExt cx="0" cy="0"/>
        </a:xfrm>
      </p:grpSpPr>
      <p:sp>
        <p:nvSpPr>
          <p:cNvPr id="97" name="Google Shape;97;g3fb085bff3c_0_2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 name="Google Shape;98;g3fb085bff3c_0_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3fb085bff3c_0_3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3fb085bff3c_0_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Customer documents are stored, read and embedded in Mumbai; only Gemini Pro (investigator and credit decision) and the Flash reranker run on the global endpoint, and Pro sees extracted facts, never the files.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g3fb085bff3c_0_3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4" name="Google Shape;114;g3fb085bff3c_0_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
        <p:cNvGrpSpPr/>
        <p:nvPr/>
      </p:nvGrpSpPr>
      <p:grpSpPr>
        <a:xfrm>
          <a:off x="0" y="0"/>
          <a:ext cx="0" cy="0"/>
          <a:chOff x="0" y="0"/>
          <a:chExt cx="0" cy="0"/>
        </a:xfrm>
      </p:grpSpPr>
      <p:sp>
        <p:nvSpPr>
          <p:cNvPr id="121" name="Google Shape;121;g3fb085bff3c_0_4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2" name="Google Shape;122;g3fb085bff3c_0_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All figures are planning estimates for budgeting. Gemini usage scales with pages read, investigations run and credit decisions made.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g3fb085bff3c_0_4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 name="Google Shape;130;g3fb085bff3c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g3fb085bff3c_0_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 name="Google Shape;130;g3fb085bff3c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g3fb085bff3c_0_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 name="Google Shape;130;g3fb085bff3c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g3fb085bff3c_0_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 name="Google Shape;130;g3fb085bff3c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g3fb085bff3c_0_5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 name="Google Shape;138;g3fb085bff3c_0_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Extraction accuracy: two consecutive live runs on 14 scenarios (17 documents, 1,298 rows) scored 99.8% and 100%; the 6 linked-applicant scenarios scored 428/428. The eval also caught a model drift (95.6%) that day-first date guidance and an arithmetic-triggered re-read fixed.</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
        <p:cNvGrpSpPr/>
        <p:nvPr/>
      </p:nvGrpSpPr>
      <p:grpSpPr>
        <a:xfrm>
          <a:off x="0" y="0"/>
          <a:ext cx="0" cy="0"/>
          <a:chOff x="0" y="0"/>
          <a:chExt cx="0" cy="0"/>
        </a:xfrm>
      </p:grpSpPr>
      <p:sp>
        <p:nvSpPr>
          <p:cNvPr id="145" name="Google Shape;145;g3fb085bff3c_0_5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6" name="Google Shape;146;g3fb085bff3c_0_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
        <p:cNvGrpSpPr/>
        <p:nvPr/>
      </p:nvGrpSpPr>
      <p:grpSpPr>
        <a:xfrm>
          <a:off x="0" y="0"/>
          <a:ext cx="0" cy="0"/>
          <a:chOff x="0" y="0"/>
          <a:chExt cx="0" cy="0"/>
        </a:xfrm>
      </p:grpSpPr>
      <p:sp>
        <p:nvSpPr>
          <p:cNvPr id="153" name="Google Shape;153;g3fb085bff3c_0_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4" name="Google Shape;154;g3fb085bff3c_0_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g3fb085bff3c_0_10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2" name="Google Shape;162;g3fb085bff3c_0_10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
        <p:cNvGrpSpPr/>
        <p:nvPr/>
      </p:nvGrpSpPr>
      <p:grpSpPr>
        <a:xfrm>
          <a:off x="0" y="0"/>
          <a:ext cx="0" cy="0"/>
          <a:chOff x="0" y="0"/>
          <a:chExt cx="0" cy="0"/>
        </a:xfrm>
      </p:grpSpPr>
      <p:sp>
        <p:nvSpPr>
          <p:cNvPr id="168" name="Google Shape;168;g3fb085bff3c_0_6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 name="Google Shape;169;g3fb085bff3c_0_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GB"/>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2.png"/><Relationship Id="rId7"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10" Type="http://schemas.openxmlformats.org/officeDocument/2006/relationships/image" Target="../media/image14.png"/><Relationship Id="rId4" Type="http://schemas.openxmlformats.org/officeDocument/2006/relationships/image" Target="../media/image3.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2.png"/><Relationship Id="rId7" Type="http://schemas.openxmlformats.org/officeDocument/2006/relationships/image" Target="../media/image13.png"/><Relationship Id="rId12"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2.png"/><Relationship Id="rId11" Type="http://schemas.openxmlformats.org/officeDocument/2006/relationships/image" Target="../media/image14.png"/><Relationship Id="rId5" Type="http://schemas.openxmlformats.org/officeDocument/2006/relationships/image" Target="../media/image15.png"/><Relationship Id="rId10" Type="http://schemas.openxmlformats.org/officeDocument/2006/relationships/image" Target="../media/image16.png"/><Relationship Id="rId4" Type="http://schemas.openxmlformats.org/officeDocument/2006/relationships/image" Target="../media/image3.png"/><Relationship Id="rId9" Type="http://schemas.openxmlformats.org/officeDocument/2006/relationships/image" Target="../media/image7.png"/><Relationship Id="rId14" Type="http://schemas.openxmlformats.org/officeDocument/2006/relationships/image" Target="../media/image17.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20.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2.png"/><Relationship Id="rId7" Type="http://schemas.openxmlformats.org/officeDocument/2006/relationships/image" Target="../media/image22.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5" Type="http://schemas.openxmlformats.org/officeDocument/2006/relationships/image" Target="../media/image33.png"/><Relationship Id="rId4" Type="http://schemas.openxmlformats.org/officeDocument/2006/relationships/image" Target="../media/image32.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5" Type="http://schemas.openxmlformats.org/officeDocument/2006/relationships/image" Target="../media/image35.png"/><Relationship Id="rId4" Type="http://schemas.openxmlformats.org/officeDocument/2006/relationships/image" Target="../media/image34.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5" Type="http://schemas.openxmlformats.org/officeDocument/2006/relationships/image" Target="../media/image37.png"/><Relationship Id="rId4" Type="http://schemas.openxmlformats.org/officeDocument/2006/relationships/image" Target="../media/image36.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image" Target="../media/image2.png"/><Relationship Id="rId7" Type="http://schemas.openxmlformats.org/officeDocument/2006/relationships/image" Target="../media/image39.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38.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8" Type="http://schemas.openxmlformats.org/officeDocument/2006/relationships/image" Target="../media/image41.png"/><Relationship Id="rId3" Type="http://schemas.openxmlformats.org/officeDocument/2006/relationships/image" Target="../media/image2.png"/><Relationship Id="rId7" Type="http://schemas.openxmlformats.org/officeDocument/2006/relationships/hyperlink" Target="https://finrisklensai.cloud.run" TargetMode="External"/><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hyperlink" Target="https://video-ai-builder-cup.finrisklensai.com/" TargetMode="External"/><Relationship Id="rId5" Type="http://schemas.openxmlformats.org/officeDocument/2006/relationships/hyperlink" Target="https://github.com/abhinavmukwane/FinRiskLensAI-RAG-V2" TargetMode="External"/><Relationship Id="rId10" Type="http://schemas.openxmlformats.org/officeDocument/2006/relationships/image" Target="../media/image42.png"/><Relationship Id="rId4" Type="http://schemas.openxmlformats.org/officeDocument/2006/relationships/image" Target="../media/image3.png"/><Relationship Id="rId9" Type="http://schemas.openxmlformats.org/officeDocument/2006/relationships/hyperlink" Target="https://finrisklensai.cloud.run/Auth/BankLogin" TargetMode="External"/></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11.pn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4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p:nvPr/>
        </p:nvSpPr>
        <p:spPr>
          <a:xfrm>
            <a:off x="146600" y="2902694"/>
            <a:ext cx="8760000" cy="2003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2100" dirty="0">
                <a:latin typeface="Google Sans Flex SemiBold"/>
                <a:ea typeface="Google Sans Flex SemiBold"/>
                <a:cs typeface="Google Sans Flex SemiBold"/>
                <a:sym typeface="Google Sans Flex SemiBold"/>
              </a:rPr>
              <a:t>Team Details</a:t>
            </a:r>
            <a:endParaRPr sz="2100" dirty="0">
              <a:latin typeface="Google Sans Flex SemiBold"/>
              <a:ea typeface="Google Sans Flex SemiBold"/>
              <a:cs typeface="Google Sans Flex SemiBold"/>
              <a:sym typeface="Google Sans Flex SemiBold"/>
            </a:endParaRPr>
          </a:p>
          <a:p>
            <a:pPr marL="914400" lvl="1" indent="-342900" algn="l" rtl="0">
              <a:spcBef>
                <a:spcPts val="0"/>
              </a:spcBef>
              <a:spcAft>
                <a:spcPts val="0"/>
              </a:spcAft>
              <a:buSzPts val="1800"/>
              <a:buFont typeface="Google Sans Flex"/>
              <a:buAutoNum type="alphaLcPeriod"/>
            </a:pPr>
            <a:r>
              <a:rPr lang="en-GB" sz="1800" dirty="0">
                <a:latin typeface="Google Sans Flex"/>
                <a:ea typeface="Google Sans Flex"/>
                <a:cs typeface="Google Sans Flex"/>
                <a:sym typeface="Google Sans Flex"/>
              </a:rPr>
              <a:t>Team name: </a:t>
            </a:r>
            <a:r>
              <a:rPr lang="en-GB" sz="1800" b="1" dirty="0">
                <a:latin typeface="Google Sans Flex"/>
                <a:ea typeface="Google Sans Flex"/>
                <a:cs typeface="Google Sans Flex"/>
                <a:sym typeface="Google Sans Flex"/>
              </a:rPr>
              <a:t>AS FinTech Developer</a:t>
            </a:r>
            <a:endParaRPr sz="1800" dirty="0">
              <a:latin typeface="Google Sans Flex"/>
              <a:ea typeface="Google Sans Flex"/>
              <a:cs typeface="Google Sans Flex"/>
              <a:sym typeface="Google Sans Flex"/>
            </a:endParaRPr>
          </a:p>
          <a:p>
            <a:pPr marL="914400" lvl="1" indent="-342900" algn="l" rtl="0">
              <a:spcBef>
                <a:spcPts val="0"/>
              </a:spcBef>
              <a:spcAft>
                <a:spcPts val="0"/>
              </a:spcAft>
              <a:buSzPts val="1800"/>
              <a:buFont typeface="Google Sans Flex"/>
              <a:buAutoNum type="alphaLcPeriod"/>
            </a:pPr>
            <a:r>
              <a:rPr lang="en-GB" sz="1800" dirty="0">
                <a:latin typeface="Google Sans Flex"/>
                <a:ea typeface="Google Sans Flex"/>
                <a:cs typeface="Google Sans Flex"/>
                <a:sym typeface="Google Sans Flex"/>
              </a:rPr>
              <a:t>Team leader name: </a:t>
            </a:r>
            <a:r>
              <a:rPr lang="en-GB" sz="1800" b="1" dirty="0">
                <a:latin typeface="Google Sans Flex"/>
                <a:ea typeface="Google Sans Flex"/>
                <a:cs typeface="Google Sans Flex"/>
                <a:sym typeface="Google Sans Flex"/>
              </a:rPr>
              <a:t>Abhinav Mukwane &amp; Sourabh Thakre</a:t>
            </a:r>
            <a:endParaRPr sz="1800" dirty="0">
              <a:latin typeface="Google Sans Flex"/>
              <a:ea typeface="Google Sans Flex"/>
              <a:cs typeface="Google Sans Flex"/>
              <a:sym typeface="Google Sans Flex"/>
            </a:endParaRPr>
          </a:p>
          <a:p>
            <a:pPr marL="914400" lvl="1" indent="-342900" algn="l" rtl="0">
              <a:spcBef>
                <a:spcPts val="0"/>
              </a:spcBef>
              <a:spcAft>
                <a:spcPts val="0"/>
              </a:spcAft>
              <a:buSzPts val="1800"/>
              <a:buFont typeface="Google Sans Flex"/>
              <a:buAutoNum type="alphaLcPeriod"/>
            </a:pPr>
            <a:r>
              <a:rPr lang="en-GB" sz="1800" dirty="0">
                <a:latin typeface="Google Sans Flex"/>
                <a:ea typeface="Google Sans Flex"/>
                <a:cs typeface="Google Sans Flex"/>
                <a:sym typeface="Google Sans Flex"/>
              </a:rPr>
              <a:t>Problem Statement: </a:t>
            </a:r>
            <a:r>
              <a:rPr lang="en-GB" sz="1600" b="1" dirty="0">
                <a:latin typeface="Google Sans Flex"/>
                <a:ea typeface="Google Sans Flex"/>
                <a:cs typeface="Google Sans Flex"/>
                <a:sym typeface="Google Sans Flex"/>
              </a:rPr>
              <a:t>Intelligent Risk, Fraud &amp; Financial Experiences (BFSI). </a:t>
            </a:r>
            <a:r>
              <a:rPr lang="en-GB" sz="1600" b="1" dirty="0" err="1">
                <a:latin typeface="Google Sans Flex"/>
                <a:ea typeface="Google Sans Flex"/>
                <a:cs typeface="Google Sans Flex"/>
                <a:sym typeface="Google Sans Flex"/>
              </a:rPr>
              <a:t>FinRiskLens</a:t>
            </a:r>
            <a:r>
              <a:rPr lang="en-GB" sz="1600" b="1">
                <a:latin typeface="Google Sans Flex"/>
                <a:ea typeface="Google Sans Flex"/>
                <a:cs typeface="Google Sans Flex"/>
                <a:sym typeface="Google Sans Flex"/>
              </a:rPr>
              <a:t> AI</a:t>
            </a:r>
            <a:r>
              <a:rPr lang="en-GB" sz="1600" b="0">
                <a:latin typeface="Google Sans Flex"/>
                <a:ea typeface="Google Sans Flex"/>
                <a:cs typeface="Google Sans Flex"/>
                <a:sym typeface="Google Sans Flex"/>
              </a:rPr>
              <a:t> </a:t>
            </a:r>
            <a:r>
              <a:rPr lang="en-GB" sz="1600" b="0" dirty="0">
                <a:latin typeface="Google Sans Flex"/>
                <a:ea typeface="Google Sans Flex"/>
                <a:cs typeface="Google Sans Flex"/>
                <a:sym typeface="Google Sans Flex"/>
              </a:rPr>
              <a:t>— fraud detection and risk analysis for every MSME customer, from shared data to a grounded AI credit decision</a:t>
            </a:r>
            <a:endParaRPr sz="1800" dirty="0">
              <a:latin typeface="Google Sans Flex"/>
              <a:ea typeface="Google Sans Flex"/>
              <a:cs typeface="Google Sans Flex"/>
              <a:sym typeface="Google Sans Flex"/>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a:stretch/>
        </p:blipFill>
        <p:spPr>
          <a:xfrm>
            <a:off x="0" y="5093562"/>
            <a:ext cx="9144000" cy="54275"/>
          </a:xfrm>
          <a:prstGeom prst="rect">
            <a:avLst/>
          </a:prstGeom>
          <a:noFill/>
          <a:ln>
            <a:noFill/>
          </a:ln>
        </p:spPr>
      </p:pic>
    </p:spTree>
    <p:extLst>
      <p:ext uri="{BB962C8B-B14F-4D97-AF65-F5344CB8AC3E}">
        <p14:creationId xmlns:p14="http://schemas.microsoft.com/office/powerpoint/2010/main" val="59082647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1" name="Google Shape;71;p15"/>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stat_fraud"/>
          <p:cNvSpPr/>
          <p:nvPr/>
        </p:nvSpPr>
        <p:spPr>
          <a:xfrm>
            <a:off x="320040" y="1188720"/>
            <a:ext cx="2011680" cy="105156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Box 72"/>
          <p:cNvSpPr txBox="1"/>
          <p:nvPr/>
        </p:nvSpPr>
        <p:spPr>
          <a:xfrm>
            <a:off x="429768" y="1280160"/>
            <a:ext cx="1792224" cy="457200"/>
          </a:xfrm>
          <a:prstGeom prst="rect">
            <a:avLst/>
          </a:prstGeom>
          <a:noFill/>
        </p:spPr>
        <p:txBody>
          <a:bodyPr wrap="square" lIns="0" tIns="0" rIns="0" bIns="0" anchor="ctr">
            <a:noAutofit/>
          </a:bodyPr>
          <a:lstStyle/>
          <a:p>
            <a:pPr algn="l">
              <a:spcBef>
                <a:spcPts val="0"/>
              </a:spcBef>
              <a:spcAft>
                <a:spcPts val="300"/>
              </a:spcAft>
            </a:pPr>
            <a:r>
              <a:rPr sz="2400" b="1" i="0">
                <a:solidFill>
                  <a:srgbClr val="C5221F"/>
                </a:solidFill>
                <a:latin typeface="Arial"/>
              </a:rPr>
              <a:t>₹36,014 cr</a:t>
            </a:r>
          </a:p>
        </p:txBody>
      </p:sp>
      <p:sp>
        <p:nvSpPr>
          <p:cNvPr id="74" name="TextBox 73"/>
          <p:cNvSpPr txBox="1"/>
          <p:nvPr/>
        </p:nvSpPr>
        <p:spPr>
          <a:xfrm>
            <a:off x="429768" y="1755648"/>
            <a:ext cx="1792224" cy="429767"/>
          </a:xfrm>
          <a:prstGeom prst="rect">
            <a:avLst/>
          </a:prstGeom>
          <a:noFill/>
        </p:spPr>
        <p:txBody>
          <a:bodyPr wrap="square" lIns="0" tIns="0" rIns="0" bIns="0" anchor="t">
            <a:noAutofit/>
          </a:bodyPr>
          <a:lstStyle/>
          <a:p>
            <a:pPr algn="l">
              <a:spcBef>
                <a:spcPts val="0"/>
              </a:spcBef>
              <a:spcAft>
                <a:spcPts val="300"/>
              </a:spcAft>
            </a:pPr>
            <a:r>
              <a:rPr sz="1000" b="0" i="0">
                <a:solidFill>
                  <a:srgbClr val="5F6368"/>
                </a:solidFill>
                <a:latin typeface="Arial"/>
              </a:rPr>
              <a:t>involved in bank frauds in FY25</a:t>
            </a:r>
          </a:p>
        </p:txBody>
      </p:sp>
      <p:sp>
        <p:nvSpPr>
          <p:cNvPr id="75" name="stat_loans"/>
          <p:cNvSpPr/>
          <p:nvPr/>
        </p:nvSpPr>
        <p:spPr>
          <a:xfrm>
            <a:off x="2468880" y="1188720"/>
            <a:ext cx="2011680" cy="105156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TextBox 75"/>
          <p:cNvSpPr txBox="1"/>
          <p:nvPr/>
        </p:nvSpPr>
        <p:spPr>
          <a:xfrm>
            <a:off x="2578608" y="1280160"/>
            <a:ext cx="1792224" cy="457200"/>
          </a:xfrm>
          <a:prstGeom prst="rect">
            <a:avLst/>
          </a:prstGeom>
          <a:noFill/>
        </p:spPr>
        <p:txBody>
          <a:bodyPr wrap="square" lIns="0" tIns="0" rIns="0" bIns="0" anchor="ctr">
            <a:noAutofit/>
          </a:bodyPr>
          <a:lstStyle/>
          <a:p>
            <a:pPr algn="l">
              <a:spcBef>
                <a:spcPts val="0"/>
              </a:spcBef>
              <a:spcAft>
                <a:spcPts val="300"/>
              </a:spcAft>
            </a:pPr>
            <a:r>
              <a:rPr sz="2400" b="1" i="0">
                <a:solidFill>
                  <a:srgbClr val="C5221F"/>
                </a:solidFill>
                <a:latin typeface="Arial"/>
              </a:rPr>
              <a:t>₹33,148 cr</a:t>
            </a:r>
          </a:p>
        </p:txBody>
      </p:sp>
      <p:sp>
        <p:nvSpPr>
          <p:cNvPr id="77" name="TextBox 76"/>
          <p:cNvSpPr txBox="1"/>
          <p:nvPr/>
        </p:nvSpPr>
        <p:spPr>
          <a:xfrm>
            <a:off x="2578608" y="1755648"/>
            <a:ext cx="1792224" cy="429767"/>
          </a:xfrm>
          <a:prstGeom prst="rect">
            <a:avLst/>
          </a:prstGeom>
          <a:noFill/>
        </p:spPr>
        <p:txBody>
          <a:bodyPr wrap="square" lIns="0" tIns="0" rIns="0" bIns="0" anchor="t">
            <a:noAutofit/>
          </a:bodyPr>
          <a:lstStyle/>
          <a:p>
            <a:pPr algn="l">
              <a:spcBef>
                <a:spcPts val="0"/>
              </a:spcBef>
              <a:spcAft>
                <a:spcPts val="300"/>
              </a:spcAft>
            </a:pPr>
            <a:r>
              <a:rPr sz="1000" b="0" i="0">
                <a:solidFill>
                  <a:srgbClr val="5F6368"/>
                </a:solidFill>
                <a:latin typeface="Arial"/>
              </a:rPr>
              <a:t>of it in loans — the largest category</a:t>
            </a:r>
          </a:p>
        </p:txBody>
      </p:sp>
      <p:sp>
        <p:nvSpPr>
          <p:cNvPr id="78" name="TextBox 77"/>
          <p:cNvSpPr txBox="1"/>
          <p:nvPr/>
        </p:nvSpPr>
        <p:spPr>
          <a:xfrm>
            <a:off x="320040" y="2304288"/>
            <a:ext cx="4160520" cy="228600"/>
          </a:xfrm>
          <a:prstGeom prst="rect">
            <a:avLst/>
          </a:prstGeom>
          <a:noFill/>
        </p:spPr>
        <p:txBody>
          <a:bodyPr wrap="square" lIns="0" tIns="0" rIns="0" bIns="0" anchor="t">
            <a:noAutofit/>
          </a:bodyPr>
          <a:lstStyle/>
          <a:p>
            <a:pPr algn="l">
              <a:spcBef>
                <a:spcPts val="0"/>
              </a:spcBef>
              <a:spcAft>
                <a:spcPts val="300"/>
              </a:spcAft>
            </a:pPr>
            <a:r>
              <a:rPr sz="850" b="0" i="0">
                <a:solidFill>
                  <a:srgbClr val="5F6368"/>
                </a:solidFill>
                <a:latin typeface="Arial"/>
              </a:rPr>
              <a:t>Source: RBI Annual Report 2024-25 (date of reporting)</a:t>
            </a:r>
          </a:p>
        </p:txBody>
      </p:sp>
      <p:sp>
        <p:nvSpPr>
          <p:cNvPr id="79" name="brief_text"/>
          <p:cNvSpPr txBox="1"/>
          <p:nvPr/>
        </p:nvSpPr>
        <p:spPr>
          <a:xfrm>
            <a:off x="320040" y="2606040"/>
            <a:ext cx="4160520" cy="2331720"/>
          </a:xfrm>
          <a:prstGeom prst="rect">
            <a:avLst/>
          </a:prstGeom>
          <a:noFill/>
        </p:spPr>
        <p:txBody>
          <a:bodyPr wrap="square" lIns="0" tIns="0" rIns="0" bIns="0" anchor="t">
            <a:noAutofit/>
          </a:bodyPr>
          <a:lstStyle/>
          <a:p>
            <a:pPr algn="l">
              <a:spcBef>
                <a:spcPts val="0"/>
              </a:spcBef>
              <a:spcAft>
                <a:spcPts val="800"/>
              </a:spcAft>
            </a:pPr>
            <a:r>
              <a:rPr sz="1150" b="1" i="0" dirty="0">
                <a:solidFill>
                  <a:srgbClr val="202124"/>
                </a:solidFill>
                <a:latin typeface="Arial"/>
              </a:rPr>
              <a:t>MSME loans are decided on shared data and uploaded documents. </a:t>
            </a:r>
            <a:r>
              <a:rPr sz="1150" b="0" i="0" dirty="0">
                <a:solidFill>
                  <a:srgbClr val="202124"/>
                </a:solidFill>
                <a:latin typeface="Arial"/>
              </a:rPr>
              <a:t>A statement or ITR can be edited in minutes; one fabricator can supply many applicants.</a:t>
            </a:r>
          </a:p>
          <a:p>
            <a:pPr algn="l">
              <a:spcBef>
                <a:spcPts val="0"/>
              </a:spcBef>
              <a:spcAft>
                <a:spcPts val="800"/>
              </a:spcAft>
            </a:pPr>
            <a:r>
              <a:rPr sz="1150" b="1" i="0" dirty="0" err="1">
                <a:solidFill>
                  <a:srgbClr val="7A1230"/>
                </a:solidFill>
                <a:latin typeface="Arial"/>
              </a:rPr>
              <a:t>FinRiskLens</a:t>
            </a:r>
            <a:r>
              <a:rPr lang="en-US" sz="1150" b="1" i="0" dirty="0">
                <a:solidFill>
                  <a:srgbClr val="7A1230"/>
                </a:solidFill>
                <a:latin typeface="Arial"/>
              </a:rPr>
              <a:t> AI</a:t>
            </a:r>
            <a:r>
              <a:rPr sz="1150" b="1" i="0" dirty="0">
                <a:solidFill>
                  <a:srgbClr val="7A1230"/>
                </a:solidFill>
                <a:latin typeface="Arial"/>
              </a:rPr>
              <a:t> gives the bank one fraud and risk page per customer. </a:t>
            </a:r>
            <a:r>
              <a:rPr sz="1150" b="0" i="0" dirty="0">
                <a:solidFill>
                  <a:srgbClr val="202124"/>
                </a:solidFill>
                <a:latin typeface="Arial"/>
              </a:rPr>
              <a:t>Customers share bank data through Account Aggregator, fetch GST, ITR and MCA, and upload documents. Gemini reads every page, code checks the arithmetic and the bank's own record, and the network lens links related customers.</a:t>
            </a:r>
          </a:p>
          <a:p>
            <a:pPr algn="l">
              <a:spcBef>
                <a:spcPts val="0"/>
              </a:spcBef>
              <a:spcAft>
                <a:spcPts val="300"/>
              </a:spcAft>
            </a:pPr>
            <a:r>
              <a:rPr sz="1150" b="0" i="0" dirty="0">
                <a:solidFill>
                  <a:srgbClr val="202124"/>
                </a:solidFill>
                <a:latin typeface="Arial"/>
              </a:rPr>
              <a:t>Every finding links to its evidence. A Clear customer gets </a:t>
            </a:r>
            <a:r>
              <a:rPr sz="1150" b="1" i="0" dirty="0">
                <a:solidFill>
                  <a:srgbClr val="202124"/>
                </a:solidFill>
                <a:latin typeface="Arial"/>
              </a:rPr>
              <a:t>a grounded AI credit decision, sent to the LOS, ULI (OCEN) or ONDC.</a:t>
            </a:r>
          </a:p>
        </p:txBody>
      </p:sp>
      <p:sp>
        <p:nvSpPr>
          <p:cNvPr id="80" name="lens_0"/>
          <p:cNvSpPr/>
          <p:nvPr/>
        </p:nvSpPr>
        <p:spPr>
          <a:xfrm>
            <a:off x="4709160" y="1188720"/>
            <a:ext cx="4114800" cy="82296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lens_0_circle"/>
          <p:cNvSpPr/>
          <p:nvPr/>
        </p:nvSpPr>
        <p:spPr>
          <a:xfrm>
            <a:off x="4846320" y="1389888"/>
            <a:ext cx="420624" cy="420624"/>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2" name="lens_0_icon" descr="doc_w.png"/>
          <p:cNvPicPr>
            <a:picLocks noChangeAspect="1"/>
          </p:cNvPicPr>
          <p:nvPr/>
        </p:nvPicPr>
        <p:blipFill>
          <a:blip r:embed="rId4"/>
          <a:stretch>
            <a:fillRect/>
          </a:stretch>
        </p:blipFill>
        <p:spPr>
          <a:xfrm>
            <a:off x="4938857" y="1482425"/>
            <a:ext cx="235549" cy="235549"/>
          </a:xfrm>
          <a:prstGeom prst="rect">
            <a:avLst/>
          </a:prstGeom>
        </p:spPr>
      </p:pic>
      <p:sp>
        <p:nvSpPr>
          <p:cNvPr id="83" name="TextBox 82"/>
          <p:cNvSpPr txBox="1"/>
          <p:nvPr/>
        </p:nvSpPr>
        <p:spPr>
          <a:xfrm>
            <a:off x="5413248" y="1298448"/>
            <a:ext cx="3291840" cy="274320"/>
          </a:xfrm>
          <a:prstGeom prst="rect">
            <a:avLst/>
          </a:prstGeom>
          <a:noFill/>
        </p:spPr>
        <p:txBody>
          <a:bodyPr wrap="square" lIns="0" tIns="0" rIns="0" bIns="0" anchor="t">
            <a:noAutofit/>
          </a:bodyPr>
          <a:lstStyle/>
          <a:p>
            <a:pPr algn="l">
              <a:spcBef>
                <a:spcPts val="0"/>
              </a:spcBef>
              <a:spcAft>
                <a:spcPts val="300"/>
              </a:spcAft>
            </a:pPr>
            <a:r>
              <a:rPr sz="1200" b="1" i="0">
                <a:solidFill>
                  <a:srgbClr val="202124"/>
                </a:solidFill>
                <a:latin typeface="Arial"/>
              </a:rPr>
              <a:t>Every source, one page</a:t>
            </a:r>
          </a:p>
        </p:txBody>
      </p:sp>
      <p:sp>
        <p:nvSpPr>
          <p:cNvPr id="84" name="TextBox 83"/>
          <p:cNvSpPr txBox="1"/>
          <p:nvPr/>
        </p:nvSpPr>
        <p:spPr>
          <a:xfrm>
            <a:off x="5413248" y="1572768"/>
            <a:ext cx="3291840" cy="384048"/>
          </a:xfrm>
          <a:prstGeom prst="rect">
            <a:avLst/>
          </a:prstGeom>
          <a:noFill/>
        </p:spPr>
        <p:txBody>
          <a:bodyPr wrap="square" lIns="0" tIns="0" rIns="0" bIns="0" anchor="t">
            <a:noAutofit/>
          </a:bodyPr>
          <a:lstStyle/>
          <a:p>
            <a:pPr algn="l">
              <a:spcBef>
                <a:spcPts val="0"/>
              </a:spcBef>
              <a:spcAft>
                <a:spcPts val="300"/>
              </a:spcAft>
            </a:pPr>
            <a:r>
              <a:rPr sz="1050" b="0" i="0">
                <a:solidFill>
                  <a:srgbClr val="5F6368"/>
                </a:solidFill>
                <a:latin typeface="Arial"/>
              </a:rPr>
              <a:t>Udyam, GST, bank, ITR, MCA and uploads, section by section</a:t>
            </a:r>
          </a:p>
        </p:txBody>
      </p:sp>
      <p:sp>
        <p:nvSpPr>
          <p:cNvPr id="85" name="lens_1"/>
          <p:cNvSpPr/>
          <p:nvPr/>
        </p:nvSpPr>
        <p:spPr>
          <a:xfrm>
            <a:off x="4709160" y="2130552"/>
            <a:ext cx="4114800" cy="82296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6" name="lens_1_circle"/>
          <p:cNvSpPr/>
          <p:nvPr/>
        </p:nvSpPr>
        <p:spPr>
          <a:xfrm>
            <a:off x="4846320" y="2331720"/>
            <a:ext cx="420624" cy="420624"/>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7" name="lens_1_icon" descr="bank_w.png"/>
          <p:cNvPicPr>
            <a:picLocks noChangeAspect="1"/>
          </p:cNvPicPr>
          <p:nvPr/>
        </p:nvPicPr>
        <p:blipFill>
          <a:blip r:embed="rId5"/>
          <a:stretch>
            <a:fillRect/>
          </a:stretch>
        </p:blipFill>
        <p:spPr>
          <a:xfrm>
            <a:off x="4938857" y="2424257"/>
            <a:ext cx="235549" cy="235549"/>
          </a:xfrm>
          <a:prstGeom prst="rect">
            <a:avLst/>
          </a:prstGeom>
        </p:spPr>
      </p:pic>
      <p:sp>
        <p:nvSpPr>
          <p:cNvPr id="88" name="TextBox 87"/>
          <p:cNvSpPr txBox="1"/>
          <p:nvPr/>
        </p:nvSpPr>
        <p:spPr>
          <a:xfrm>
            <a:off x="5413248" y="2240280"/>
            <a:ext cx="3291840" cy="274320"/>
          </a:xfrm>
          <a:prstGeom prst="rect">
            <a:avLst/>
          </a:prstGeom>
          <a:noFill/>
        </p:spPr>
        <p:txBody>
          <a:bodyPr wrap="square" lIns="0" tIns="0" rIns="0" bIns="0" anchor="t">
            <a:noAutofit/>
          </a:bodyPr>
          <a:lstStyle/>
          <a:p>
            <a:pPr algn="l">
              <a:spcBef>
                <a:spcPts val="0"/>
              </a:spcBef>
              <a:spcAft>
                <a:spcPts val="300"/>
              </a:spcAft>
            </a:pPr>
            <a:r>
              <a:rPr sz="1200" b="1" i="0">
                <a:solidFill>
                  <a:srgbClr val="202124"/>
                </a:solidFill>
                <a:latin typeface="Arial"/>
              </a:rPr>
              <a:t>The bank's own record</a:t>
            </a:r>
          </a:p>
        </p:txBody>
      </p:sp>
      <p:sp>
        <p:nvSpPr>
          <p:cNvPr id="89" name="TextBox 88"/>
          <p:cNvSpPr txBox="1"/>
          <p:nvPr/>
        </p:nvSpPr>
        <p:spPr>
          <a:xfrm>
            <a:off x="5413248" y="2514600"/>
            <a:ext cx="3291840" cy="384048"/>
          </a:xfrm>
          <a:prstGeom prst="rect">
            <a:avLst/>
          </a:prstGeom>
          <a:noFill/>
        </p:spPr>
        <p:txBody>
          <a:bodyPr wrap="square" lIns="0" tIns="0" rIns="0" bIns="0" anchor="t">
            <a:noAutofit/>
          </a:bodyPr>
          <a:lstStyle/>
          <a:p>
            <a:pPr algn="l">
              <a:spcBef>
                <a:spcPts val="0"/>
              </a:spcBef>
              <a:spcAft>
                <a:spcPts val="300"/>
              </a:spcAft>
            </a:pPr>
            <a:r>
              <a:rPr sz="1050" b="0" i="0">
                <a:solidFill>
                  <a:srgbClr val="5F6368"/>
                </a:solidFill>
                <a:latin typeface="Arial"/>
              </a:rPr>
              <a:t>Uploaded statements against the Account Aggregator feed</a:t>
            </a:r>
          </a:p>
        </p:txBody>
      </p:sp>
      <p:sp>
        <p:nvSpPr>
          <p:cNvPr id="90" name="lens_2"/>
          <p:cNvSpPr/>
          <p:nvPr/>
        </p:nvSpPr>
        <p:spPr>
          <a:xfrm>
            <a:off x="4709160" y="3072384"/>
            <a:ext cx="4114800" cy="82296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lens_2_circle"/>
          <p:cNvSpPr/>
          <p:nvPr/>
        </p:nvSpPr>
        <p:spPr>
          <a:xfrm>
            <a:off x="4846320" y="3273552"/>
            <a:ext cx="420624" cy="420624"/>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2" name="lens_2_icon" descr="ring_w.png"/>
          <p:cNvPicPr>
            <a:picLocks noChangeAspect="1"/>
          </p:cNvPicPr>
          <p:nvPr/>
        </p:nvPicPr>
        <p:blipFill>
          <a:blip r:embed="rId6"/>
          <a:stretch>
            <a:fillRect/>
          </a:stretch>
        </p:blipFill>
        <p:spPr>
          <a:xfrm>
            <a:off x="4938857" y="3366089"/>
            <a:ext cx="235549" cy="235549"/>
          </a:xfrm>
          <a:prstGeom prst="rect">
            <a:avLst/>
          </a:prstGeom>
        </p:spPr>
      </p:pic>
      <p:sp>
        <p:nvSpPr>
          <p:cNvPr id="93" name="TextBox 92"/>
          <p:cNvSpPr txBox="1"/>
          <p:nvPr/>
        </p:nvSpPr>
        <p:spPr>
          <a:xfrm>
            <a:off x="5413248" y="3182112"/>
            <a:ext cx="3291840" cy="274320"/>
          </a:xfrm>
          <a:prstGeom prst="rect">
            <a:avLst/>
          </a:prstGeom>
          <a:noFill/>
        </p:spPr>
        <p:txBody>
          <a:bodyPr wrap="square" lIns="0" tIns="0" rIns="0" bIns="0" anchor="t">
            <a:noAutofit/>
          </a:bodyPr>
          <a:lstStyle/>
          <a:p>
            <a:pPr algn="l">
              <a:spcBef>
                <a:spcPts val="0"/>
              </a:spcBef>
              <a:spcAft>
                <a:spcPts val="300"/>
              </a:spcAft>
            </a:pPr>
            <a:r>
              <a:rPr sz="1200" b="1" i="0">
                <a:solidFill>
                  <a:srgbClr val="202124"/>
                </a:solidFill>
                <a:latin typeface="Arial"/>
              </a:rPr>
              <a:t>The network</a:t>
            </a:r>
          </a:p>
        </p:txBody>
      </p:sp>
      <p:sp>
        <p:nvSpPr>
          <p:cNvPr id="94" name="TextBox 93"/>
          <p:cNvSpPr txBox="1"/>
          <p:nvPr/>
        </p:nvSpPr>
        <p:spPr>
          <a:xfrm>
            <a:off x="5413248" y="3456432"/>
            <a:ext cx="3291840" cy="384048"/>
          </a:xfrm>
          <a:prstGeom prst="rect">
            <a:avLst/>
          </a:prstGeom>
          <a:noFill/>
        </p:spPr>
        <p:txBody>
          <a:bodyPr wrap="square" lIns="0" tIns="0" rIns="0" bIns="0" anchor="t">
            <a:noAutofit/>
          </a:bodyPr>
          <a:lstStyle/>
          <a:p>
            <a:pPr algn="l">
              <a:spcBef>
                <a:spcPts val="0"/>
              </a:spcBef>
              <a:spcAft>
                <a:spcPts val="300"/>
              </a:spcAft>
            </a:pPr>
            <a:r>
              <a:rPr sz="1050" b="0" i="0">
                <a:solidFill>
                  <a:srgbClr val="5F6368"/>
                </a:solidFill>
                <a:latin typeface="Arial"/>
              </a:rPr>
              <a:t>Shared directors, contacts and files; circular GST trading</a:t>
            </a:r>
          </a:p>
        </p:txBody>
      </p:sp>
      <p:sp>
        <p:nvSpPr>
          <p:cNvPr id="95" name="lens_3"/>
          <p:cNvSpPr/>
          <p:nvPr/>
        </p:nvSpPr>
        <p:spPr>
          <a:xfrm>
            <a:off x="4709160" y="4014215"/>
            <a:ext cx="4114800" cy="82296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6" name="lens_3_circle"/>
          <p:cNvSpPr/>
          <p:nvPr/>
        </p:nvSpPr>
        <p:spPr>
          <a:xfrm>
            <a:off x="4846320" y="4215383"/>
            <a:ext cx="420624" cy="420624"/>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7" name="lens_3_icon" descr="bot_w.png"/>
          <p:cNvPicPr>
            <a:picLocks noChangeAspect="1"/>
          </p:cNvPicPr>
          <p:nvPr/>
        </p:nvPicPr>
        <p:blipFill>
          <a:blip r:embed="rId7"/>
          <a:stretch>
            <a:fillRect/>
          </a:stretch>
        </p:blipFill>
        <p:spPr>
          <a:xfrm>
            <a:off x="4938857" y="4307921"/>
            <a:ext cx="235549" cy="235549"/>
          </a:xfrm>
          <a:prstGeom prst="rect">
            <a:avLst/>
          </a:prstGeom>
        </p:spPr>
      </p:pic>
      <p:sp>
        <p:nvSpPr>
          <p:cNvPr id="98" name="TextBox 97"/>
          <p:cNvSpPr txBox="1"/>
          <p:nvPr/>
        </p:nvSpPr>
        <p:spPr>
          <a:xfrm>
            <a:off x="5413248" y="4123944"/>
            <a:ext cx="3291840" cy="274320"/>
          </a:xfrm>
          <a:prstGeom prst="rect">
            <a:avLst/>
          </a:prstGeom>
          <a:noFill/>
        </p:spPr>
        <p:txBody>
          <a:bodyPr wrap="square" lIns="0" tIns="0" rIns="0" bIns="0" anchor="t">
            <a:noAutofit/>
          </a:bodyPr>
          <a:lstStyle/>
          <a:p>
            <a:pPr algn="l">
              <a:spcBef>
                <a:spcPts val="0"/>
              </a:spcBef>
              <a:spcAft>
                <a:spcPts val="300"/>
              </a:spcAft>
            </a:pPr>
            <a:r>
              <a:rPr sz="1200" b="1" i="0">
                <a:solidFill>
                  <a:srgbClr val="202124"/>
                </a:solidFill>
                <a:latin typeface="Arial"/>
              </a:rPr>
              <a:t>Grounded AI decisions</a:t>
            </a:r>
          </a:p>
        </p:txBody>
      </p:sp>
      <p:sp>
        <p:nvSpPr>
          <p:cNvPr id="99" name="TextBox 98"/>
          <p:cNvSpPr txBox="1"/>
          <p:nvPr/>
        </p:nvSpPr>
        <p:spPr>
          <a:xfrm>
            <a:off x="5413248" y="4398264"/>
            <a:ext cx="3291840" cy="384048"/>
          </a:xfrm>
          <a:prstGeom prst="rect">
            <a:avLst/>
          </a:prstGeom>
          <a:noFill/>
        </p:spPr>
        <p:txBody>
          <a:bodyPr wrap="square" lIns="0" tIns="0" rIns="0" bIns="0" anchor="t">
            <a:noAutofit/>
          </a:bodyPr>
          <a:lstStyle/>
          <a:p>
            <a:pPr algn="l">
              <a:spcBef>
                <a:spcPts val="0"/>
              </a:spcBef>
              <a:spcAft>
                <a:spcPts val="300"/>
              </a:spcAft>
            </a:pPr>
            <a:r>
              <a:rPr sz="1050" b="0" i="0">
                <a:solidFill>
                  <a:srgbClr val="5F6368"/>
                </a:solidFill>
                <a:latin typeface="Arial"/>
              </a:rPr>
              <a:t>Investigation and credit decision; every figure traced</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9" name="Google Shape;79;p16"/>
          <p:cNvSpPr txBox="1"/>
          <p:nvPr/>
        </p:nvSpPr>
        <p:spPr>
          <a:xfrm>
            <a:off x="265350" y="663825"/>
            <a:ext cx="8943000" cy="557784"/>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SemiBold"/>
                <a:ea typeface="Google Sans Flex SemiBold"/>
                <a:cs typeface="Google Sans Flex SemiBold"/>
                <a:sym typeface="Google Sans Flex SemiBold"/>
              </a:rPr>
              <a:t>Opportunities</a:t>
            </a:r>
            <a:br>
              <a:rPr lang="en-GB" sz="1600">
                <a:latin typeface="Google Sans Flex SemiBold"/>
                <a:ea typeface="Google Sans Flex SemiBold"/>
                <a:cs typeface="Google Sans Flex SemiBold"/>
                <a:sym typeface="Google Sans Flex SemiBold"/>
              </a:rPr>
            </a:br>
            <a:endParaRPr sz="1600">
              <a:latin typeface="Google Sans Flex SemiBold"/>
              <a:ea typeface="Google Sans Flex SemiBold"/>
              <a:cs typeface="Google Sans Flex SemiBold"/>
              <a:sym typeface="Google Sans Flex SemiBold"/>
            </a:endParaRPr>
          </a:p>
        </p:txBody>
      </p:sp>
      <p:sp>
        <p:nvSpPr>
          <p:cNvPr id="80" name="opp_0"/>
          <p:cNvSpPr/>
          <p:nvPr/>
        </p:nvSpPr>
        <p:spPr>
          <a:xfrm>
            <a:off x="320040" y="1188720"/>
            <a:ext cx="2743200" cy="278892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opp_0_circle"/>
          <p:cNvSpPr/>
          <p:nvPr/>
        </p:nvSpPr>
        <p:spPr>
          <a:xfrm>
            <a:off x="457200" y="1325880"/>
            <a:ext cx="384048" cy="384048"/>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2" name="opp_0_icon" descr="search_w.png"/>
          <p:cNvPicPr>
            <a:picLocks noChangeAspect="1"/>
          </p:cNvPicPr>
          <p:nvPr/>
        </p:nvPicPr>
        <p:blipFill>
          <a:blip r:embed="rId5"/>
          <a:stretch>
            <a:fillRect/>
          </a:stretch>
        </p:blipFill>
        <p:spPr>
          <a:xfrm>
            <a:off x="541690" y="1410370"/>
            <a:ext cx="215066" cy="215066"/>
          </a:xfrm>
          <a:prstGeom prst="rect">
            <a:avLst/>
          </a:prstGeom>
        </p:spPr>
      </p:pic>
      <p:sp>
        <p:nvSpPr>
          <p:cNvPr id="83" name="TextBox 82"/>
          <p:cNvSpPr txBox="1"/>
          <p:nvPr/>
        </p:nvSpPr>
        <p:spPr>
          <a:xfrm>
            <a:off x="941832" y="1325880"/>
            <a:ext cx="2011680" cy="384048"/>
          </a:xfrm>
          <a:prstGeom prst="rect">
            <a:avLst/>
          </a:prstGeom>
          <a:noFill/>
        </p:spPr>
        <p:txBody>
          <a:bodyPr wrap="square" lIns="0" tIns="0" rIns="0" bIns="0" anchor="ctr">
            <a:noAutofit/>
          </a:bodyPr>
          <a:lstStyle/>
          <a:p>
            <a:pPr algn="l">
              <a:spcBef>
                <a:spcPts val="0"/>
              </a:spcBef>
              <a:spcAft>
                <a:spcPts val="300"/>
              </a:spcAft>
            </a:pPr>
            <a:r>
              <a:rPr sz="1200" b="1" i="0">
                <a:solidFill>
                  <a:srgbClr val="202124"/>
                </a:solidFill>
                <a:latin typeface="Arial"/>
              </a:rPr>
              <a:t>How it differs from existing tools</a:t>
            </a:r>
          </a:p>
        </p:txBody>
      </p:sp>
      <p:sp>
        <p:nvSpPr>
          <p:cNvPr id="84" name="TextBox 83"/>
          <p:cNvSpPr txBox="1"/>
          <p:nvPr/>
        </p:nvSpPr>
        <p:spPr>
          <a:xfrm>
            <a:off x="457200" y="1792224"/>
            <a:ext cx="2468880" cy="2093976"/>
          </a:xfrm>
          <a:prstGeom prst="rect">
            <a:avLst/>
          </a:prstGeom>
          <a:noFill/>
        </p:spPr>
        <p:txBody>
          <a:bodyPr wrap="square" lIns="0" tIns="0" rIns="0" bIns="0" anchor="t">
            <a:noAutofit/>
          </a:bodyPr>
          <a:lstStyle/>
          <a:p>
            <a:pPr marL="146304" indent="-146304" algn="l">
              <a:spcBef>
                <a:spcPts val="0"/>
              </a:spcBef>
              <a:spcAft>
                <a:spcPts val="300"/>
              </a:spcAft>
              <a:buFont typeface="Arial"/>
              <a:buChar char="•"/>
            </a:pPr>
            <a:r>
              <a:rPr sz="1050" b="1" i="0">
                <a:solidFill>
                  <a:srgbClr val="202124"/>
                </a:solidFill>
                <a:latin typeface="Arial"/>
              </a:rPr>
              <a:t>Statement analysers </a:t>
            </a:r>
            <a:r>
              <a:rPr sz="1050" b="0" i="0">
                <a:solidFill>
                  <a:srgbClr val="202124"/>
                </a:solidFill>
                <a:latin typeface="Arial"/>
              </a:rPr>
              <a:t>look at one document — FinRiskLens combines every source of a customer and returns findings with evidence</a:t>
            </a:r>
          </a:p>
          <a:p>
            <a:pPr marL="146304" indent="-146304" algn="l">
              <a:spcBef>
                <a:spcPts val="0"/>
              </a:spcBef>
              <a:spcAft>
                <a:spcPts val="300"/>
              </a:spcAft>
              <a:buFont typeface="Arial"/>
              <a:buChar char="•"/>
            </a:pPr>
            <a:r>
              <a:rPr sz="1050" b="1" i="0">
                <a:solidFill>
                  <a:srgbClr val="202124"/>
                </a:solidFill>
                <a:latin typeface="Arial"/>
              </a:rPr>
              <a:t>Arithmetic checks </a:t>
            </a:r>
            <a:r>
              <a:rPr sz="1050" b="0" i="0">
                <a:solidFill>
                  <a:srgbClr val="202124"/>
                </a:solidFill>
                <a:latin typeface="Arial"/>
              </a:rPr>
              <a:t>pass a careful forgery — FinRiskLens also compares it with the bank's own record</a:t>
            </a:r>
          </a:p>
          <a:p>
            <a:pPr marL="146304" indent="-146304" algn="l">
              <a:spcBef>
                <a:spcPts val="0"/>
              </a:spcBef>
              <a:spcAft>
                <a:spcPts val="300"/>
              </a:spcAft>
              <a:buFont typeface="Arial"/>
              <a:buChar char="•"/>
            </a:pPr>
            <a:r>
              <a:rPr sz="1050" b="1" i="0">
                <a:solidFill>
                  <a:srgbClr val="202124"/>
                </a:solidFill>
                <a:latin typeface="Arial"/>
              </a:rPr>
              <a:t>Single-customer review </a:t>
            </a:r>
            <a:r>
              <a:rPr sz="1050" b="0" i="0">
                <a:solidFill>
                  <a:srgbClr val="202124"/>
                </a:solidFill>
                <a:latin typeface="Arial"/>
              </a:rPr>
              <a:t>misses organised fraud — the network lens links related customers</a:t>
            </a:r>
          </a:p>
        </p:txBody>
      </p:sp>
      <p:sp>
        <p:nvSpPr>
          <p:cNvPr id="85" name="opp_1"/>
          <p:cNvSpPr/>
          <p:nvPr/>
        </p:nvSpPr>
        <p:spPr>
          <a:xfrm>
            <a:off x="3200400" y="1188720"/>
            <a:ext cx="2743200" cy="278892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6" name="opp_1_circle"/>
          <p:cNvSpPr/>
          <p:nvPr/>
        </p:nvSpPr>
        <p:spPr>
          <a:xfrm>
            <a:off x="3337560" y="1325880"/>
            <a:ext cx="384048" cy="384048"/>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7" name="opp_1_icon" descr="zap_w.png"/>
          <p:cNvPicPr>
            <a:picLocks noChangeAspect="1"/>
          </p:cNvPicPr>
          <p:nvPr/>
        </p:nvPicPr>
        <p:blipFill>
          <a:blip r:embed="rId6"/>
          <a:stretch>
            <a:fillRect/>
          </a:stretch>
        </p:blipFill>
        <p:spPr>
          <a:xfrm>
            <a:off x="3422050" y="1410370"/>
            <a:ext cx="215066" cy="215066"/>
          </a:xfrm>
          <a:prstGeom prst="rect">
            <a:avLst/>
          </a:prstGeom>
        </p:spPr>
      </p:pic>
      <p:sp>
        <p:nvSpPr>
          <p:cNvPr id="88" name="TextBox 87"/>
          <p:cNvSpPr txBox="1"/>
          <p:nvPr/>
        </p:nvSpPr>
        <p:spPr>
          <a:xfrm>
            <a:off x="3822191" y="1325880"/>
            <a:ext cx="2011680" cy="384048"/>
          </a:xfrm>
          <a:prstGeom prst="rect">
            <a:avLst/>
          </a:prstGeom>
          <a:noFill/>
        </p:spPr>
        <p:txBody>
          <a:bodyPr wrap="square" lIns="0" tIns="0" rIns="0" bIns="0" anchor="ctr">
            <a:noAutofit/>
          </a:bodyPr>
          <a:lstStyle/>
          <a:p>
            <a:pPr algn="l">
              <a:spcBef>
                <a:spcPts val="0"/>
              </a:spcBef>
              <a:spcAft>
                <a:spcPts val="300"/>
              </a:spcAft>
            </a:pPr>
            <a:r>
              <a:rPr sz="1200" b="1" i="0">
                <a:solidFill>
                  <a:srgbClr val="202124"/>
                </a:solidFill>
                <a:latin typeface="Arial"/>
              </a:rPr>
              <a:t>How it solves the problem</a:t>
            </a:r>
          </a:p>
        </p:txBody>
      </p:sp>
      <p:sp>
        <p:nvSpPr>
          <p:cNvPr id="89" name="TextBox 88"/>
          <p:cNvSpPr txBox="1"/>
          <p:nvPr/>
        </p:nvSpPr>
        <p:spPr>
          <a:xfrm>
            <a:off x="3337560" y="1792224"/>
            <a:ext cx="2468880" cy="2093976"/>
          </a:xfrm>
          <a:prstGeom prst="rect">
            <a:avLst/>
          </a:prstGeom>
          <a:noFill/>
        </p:spPr>
        <p:txBody>
          <a:bodyPr wrap="square" lIns="0" tIns="0" rIns="0" bIns="0" anchor="t">
            <a:noAutofit/>
          </a:bodyPr>
          <a:lstStyle/>
          <a:p>
            <a:pPr marL="146304" indent="-146304" algn="l">
              <a:spcBef>
                <a:spcPts val="0"/>
              </a:spcBef>
              <a:spcAft>
                <a:spcPts val="300"/>
              </a:spcAft>
              <a:buFont typeface="Arial"/>
              <a:buChar char="•"/>
            </a:pPr>
            <a:r>
              <a:rPr sz="1050" b="1" i="0">
                <a:solidFill>
                  <a:srgbClr val="202124"/>
                </a:solidFill>
                <a:latin typeface="Arial"/>
              </a:rPr>
              <a:t>Fast: </a:t>
            </a:r>
            <a:r>
              <a:rPr sz="1050" b="0" i="0">
                <a:solidFill>
                  <a:srgbClr val="202124"/>
                </a:solidFill>
                <a:latin typeface="Arial"/>
              </a:rPr>
              <a:t>a customer is reassessed as soon as a source arrives</a:t>
            </a:r>
          </a:p>
          <a:p>
            <a:pPr marL="146304" indent="-146304" algn="l">
              <a:spcBef>
                <a:spcPts val="0"/>
              </a:spcBef>
              <a:spcAft>
                <a:spcPts val="300"/>
              </a:spcAft>
              <a:buFont typeface="Arial"/>
              <a:buChar char="•"/>
            </a:pPr>
            <a:r>
              <a:rPr sz="1050" b="1" i="0">
                <a:solidFill>
                  <a:srgbClr val="202124"/>
                </a:solidFill>
                <a:latin typeface="Arial"/>
              </a:rPr>
              <a:t>Verifiable: </a:t>
            </a:r>
            <a:r>
              <a:rPr sz="1050" b="0" i="0">
                <a:solidFill>
                  <a:srgbClr val="202124"/>
                </a:solidFill>
                <a:latin typeface="Arial"/>
              </a:rPr>
              <a:t>every finding opens the document at its page and row</a:t>
            </a:r>
          </a:p>
          <a:p>
            <a:pPr marL="146304" indent="-146304" algn="l">
              <a:spcBef>
                <a:spcPts val="0"/>
              </a:spcBef>
              <a:spcAft>
                <a:spcPts val="300"/>
              </a:spcAft>
              <a:buFont typeface="Arial"/>
              <a:buChar char="•"/>
            </a:pPr>
            <a:r>
              <a:rPr sz="1050" b="1" i="0">
                <a:solidFill>
                  <a:srgbClr val="202124"/>
                </a:solidFill>
                <a:latin typeface="Arial"/>
              </a:rPr>
              <a:t>Decisive: </a:t>
            </a:r>
            <a:r>
              <a:rPr sz="1050" b="0" i="0">
                <a:solidFill>
                  <a:srgbClr val="202124"/>
                </a:solidFill>
                <a:latin typeface="Arial"/>
              </a:rPr>
              <a:t>the officer confirms or dismisses each finding; a Clear customer goes straight to a loan case</a:t>
            </a:r>
          </a:p>
          <a:p>
            <a:pPr marL="146304" indent="-146304" algn="l">
              <a:spcBef>
                <a:spcPts val="0"/>
              </a:spcBef>
              <a:spcAft>
                <a:spcPts val="300"/>
              </a:spcAft>
              <a:buFont typeface="Arial"/>
              <a:buChar char="•"/>
            </a:pPr>
            <a:r>
              <a:rPr sz="1050" b="1" i="0">
                <a:solidFill>
                  <a:srgbClr val="202124"/>
                </a:solidFill>
                <a:latin typeface="Arial"/>
              </a:rPr>
              <a:t>Policy-aware: </a:t>
            </a:r>
            <a:r>
              <a:rPr sz="1050" b="0" i="0">
                <a:solidFill>
                  <a:srgbClr val="202124"/>
                </a:solidFill>
                <a:latin typeface="Arial"/>
              </a:rPr>
              <a:t>findings and credit decisions cite the lender's credit policy</a:t>
            </a:r>
          </a:p>
        </p:txBody>
      </p:sp>
      <p:sp>
        <p:nvSpPr>
          <p:cNvPr id="90" name="opp_2"/>
          <p:cNvSpPr/>
          <p:nvPr/>
        </p:nvSpPr>
        <p:spPr>
          <a:xfrm>
            <a:off x="6080759" y="1188720"/>
            <a:ext cx="2743200" cy="278892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opp_2_circle"/>
          <p:cNvSpPr/>
          <p:nvPr/>
        </p:nvSpPr>
        <p:spPr>
          <a:xfrm>
            <a:off x="6217920" y="1325880"/>
            <a:ext cx="384048" cy="384048"/>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2" name="opp_2_icon" descr="target_w.png"/>
          <p:cNvPicPr>
            <a:picLocks noChangeAspect="1"/>
          </p:cNvPicPr>
          <p:nvPr/>
        </p:nvPicPr>
        <p:blipFill>
          <a:blip r:embed="rId7"/>
          <a:stretch>
            <a:fillRect/>
          </a:stretch>
        </p:blipFill>
        <p:spPr>
          <a:xfrm>
            <a:off x="6302410" y="1410370"/>
            <a:ext cx="215066" cy="215066"/>
          </a:xfrm>
          <a:prstGeom prst="rect">
            <a:avLst/>
          </a:prstGeom>
        </p:spPr>
      </p:pic>
      <p:sp>
        <p:nvSpPr>
          <p:cNvPr id="93" name="TextBox 92"/>
          <p:cNvSpPr txBox="1"/>
          <p:nvPr/>
        </p:nvSpPr>
        <p:spPr>
          <a:xfrm>
            <a:off x="6702551" y="1325880"/>
            <a:ext cx="2011680" cy="384048"/>
          </a:xfrm>
          <a:prstGeom prst="rect">
            <a:avLst/>
          </a:prstGeom>
          <a:noFill/>
        </p:spPr>
        <p:txBody>
          <a:bodyPr wrap="square" lIns="0" tIns="0" rIns="0" bIns="0" anchor="ctr">
            <a:noAutofit/>
          </a:bodyPr>
          <a:lstStyle/>
          <a:p>
            <a:pPr algn="l">
              <a:spcBef>
                <a:spcPts val="0"/>
              </a:spcBef>
              <a:spcAft>
                <a:spcPts val="300"/>
              </a:spcAft>
            </a:pPr>
            <a:r>
              <a:rPr sz="1200" b="1" i="0">
                <a:solidFill>
                  <a:srgbClr val="202124"/>
                </a:solidFill>
                <a:latin typeface="Arial"/>
              </a:rPr>
              <a:t>USP</a:t>
            </a:r>
          </a:p>
        </p:txBody>
      </p:sp>
      <p:sp>
        <p:nvSpPr>
          <p:cNvPr id="94" name="TextBox 93"/>
          <p:cNvSpPr txBox="1"/>
          <p:nvPr/>
        </p:nvSpPr>
        <p:spPr>
          <a:xfrm>
            <a:off x="6217920" y="1792224"/>
            <a:ext cx="2468880" cy="2093976"/>
          </a:xfrm>
          <a:prstGeom prst="rect">
            <a:avLst/>
          </a:prstGeom>
          <a:noFill/>
        </p:spPr>
        <p:txBody>
          <a:bodyPr wrap="square" lIns="0" tIns="0" rIns="0" bIns="0" anchor="t">
            <a:noAutofit/>
          </a:bodyPr>
          <a:lstStyle/>
          <a:p>
            <a:pPr marL="146304" indent="-146304" algn="l">
              <a:spcBef>
                <a:spcPts val="0"/>
              </a:spcBef>
              <a:spcAft>
                <a:spcPts val="300"/>
              </a:spcAft>
              <a:buFont typeface="Arial"/>
              <a:buChar char="•"/>
            </a:pPr>
            <a:r>
              <a:rPr sz="1050" b="1" i="0">
                <a:solidFill>
                  <a:srgbClr val="202124"/>
                </a:solidFill>
                <a:latin typeface="Arial"/>
              </a:rPr>
              <a:t>Grounded AI: </a:t>
            </a:r>
            <a:r>
              <a:rPr sz="1050" b="0" i="0">
                <a:solidFill>
                  <a:srgbClr val="202124"/>
                </a:solidFill>
                <a:latin typeface="Arial"/>
              </a:rPr>
              <a:t>a claim or figure that cannot be traced is set aside — and shown</a:t>
            </a:r>
          </a:p>
          <a:p>
            <a:pPr marL="146304" indent="-146304" algn="l">
              <a:spcBef>
                <a:spcPts val="0"/>
              </a:spcBef>
              <a:spcAft>
                <a:spcPts val="300"/>
              </a:spcAft>
              <a:buFont typeface="Arial"/>
              <a:buChar char="•"/>
            </a:pPr>
            <a:r>
              <a:rPr sz="1050" b="1" i="0">
                <a:solidFill>
                  <a:srgbClr val="202124"/>
                </a:solidFill>
                <a:latin typeface="Arial"/>
              </a:rPr>
              <a:t>Bank-record cross-check </a:t>
            </a:r>
            <a:r>
              <a:rPr sz="1050" b="0" i="0">
                <a:solidFill>
                  <a:srgbClr val="202124"/>
                </a:solidFill>
                <a:latin typeface="Arial"/>
              </a:rPr>
              <a:t>through Account Aggregator</a:t>
            </a:r>
          </a:p>
          <a:p>
            <a:pPr marL="146304" indent="-146304" algn="l">
              <a:spcBef>
                <a:spcPts val="0"/>
              </a:spcBef>
              <a:spcAft>
                <a:spcPts val="300"/>
              </a:spcAft>
              <a:buFont typeface="Arial"/>
              <a:buChar char="•"/>
            </a:pPr>
            <a:r>
              <a:rPr sz="1050" b="1" i="0">
                <a:solidFill>
                  <a:srgbClr val="202124"/>
                </a:solidFill>
                <a:latin typeface="Arial"/>
              </a:rPr>
              <a:t>Linked customers </a:t>
            </a:r>
            <a:r>
              <a:rPr sz="1050" b="0" i="0">
                <a:solidFill>
                  <a:srgbClr val="202124"/>
                </a:solidFill>
                <a:latin typeface="Arial"/>
              </a:rPr>
              <a:t>through directors, contacts, files and GST invoices</a:t>
            </a:r>
          </a:p>
          <a:p>
            <a:pPr marL="146304" indent="-146304" algn="l">
              <a:spcBef>
                <a:spcPts val="0"/>
              </a:spcBef>
              <a:spcAft>
                <a:spcPts val="300"/>
              </a:spcAft>
              <a:buFont typeface="Arial"/>
              <a:buChar char="•"/>
            </a:pPr>
            <a:r>
              <a:rPr sz="1050" b="1" i="0">
                <a:solidFill>
                  <a:srgbClr val="202124"/>
                </a:solidFill>
                <a:latin typeface="Arial"/>
              </a:rPr>
              <a:t>Risk to loan: </a:t>
            </a:r>
            <a:r>
              <a:rPr sz="1050" b="0" i="0">
                <a:solidFill>
                  <a:srgbClr val="202124"/>
                </a:solidFill>
                <a:latin typeface="Arial"/>
              </a:rPr>
              <a:t>AI credit decision, then LOS, ULI (OCEN) or ONDC</a:t>
            </a:r>
          </a:p>
          <a:p>
            <a:pPr marL="146304" indent="-146304" algn="l">
              <a:spcBef>
                <a:spcPts val="0"/>
              </a:spcBef>
              <a:spcAft>
                <a:spcPts val="300"/>
              </a:spcAft>
              <a:buFont typeface="Arial"/>
              <a:buChar char="•"/>
            </a:pPr>
            <a:r>
              <a:rPr sz="1050" b="1" i="0">
                <a:solidFill>
                  <a:srgbClr val="202124"/>
                </a:solidFill>
                <a:latin typeface="Arial"/>
              </a:rPr>
              <a:t>Documents stay in India: </a:t>
            </a:r>
            <a:r>
              <a:rPr sz="1050" b="0" i="0">
                <a:solidFill>
                  <a:srgbClr val="202124"/>
                </a:solidFill>
                <a:latin typeface="Arial"/>
              </a:rPr>
              <a:t>read and stored in Mumbai</a:t>
            </a:r>
          </a:p>
        </p:txBody>
      </p:sp>
      <p:sp>
        <p:nvSpPr>
          <p:cNvPr id="95" name="who_gains"/>
          <p:cNvSpPr/>
          <p:nvPr/>
        </p:nvSpPr>
        <p:spPr>
          <a:xfrm>
            <a:off x="320040" y="4114800"/>
            <a:ext cx="8503920" cy="777240"/>
          </a:xfrm>
          <a:prstGeom prst="roundRect">
            <a:avLst>
              <a:gd name="adj" fmla="val 6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6" name="TextBox 95"/>
          <p:cNvSpPr txBox="1"/>
          <p:nvPr/>
        </p:nvSpPr>
        <p:spPr>
          <a:xfrm>
            <a:off x="457200" y="4178808"/>
            <a:ext cx="1188720" cy="640080"/>
          </a:xfrm>
          <a:prstGeom prst="rect">
            <a:avLst/>
          </a:prstGeom>
          <a:noFill/>
        </p:spPr>
        <p:txBody>
          <a:bodyPr wrap="square" lIns="0" tIns="0" rIns="0" bIns="0" anchor="ctr">
            <a:noAutofit/>
          </a:bodyPr>
          <a:lstStyle/>
          <a:p>
            <a:pPr algn="l">
              <a:spcBef>
                <a:spcPts val="0"/>
              </a:spcBef>
              <a:spcAft>
                <a:spcPts val="300"/>
              </a:spcAft>
            </a:pPr>
            <a:r>
              <a:rPr sz="1200" b="1" i="0">
                <a:solidFill>
                  <a:srgbClr val="7A1230"/>
                </a:solidFill>
                <a:latin typeface="Arial"/>
              </a:rPr>
              <a:t>Who gains</a:t>
            </a:r>
          </a:p>
        </p:txBody>
      </p:sp>
      <p:sp>
        <p:nvSpPr>
          <p:cNvPr id="97" name="TextBox 96"/>
          <p:cNvSpPr txBox="1"/>
          <p:nvPr/>
        </p:nvSpPr>
        <p:spPr>
          <a:xfrm>
            <a:off x="1691640" y="4206240"/>
            <a:ext cx="2286000" cy="228600"/>
          </a:xfrm>
          <a:prstGeom prst="rect">
            <a:avLst/>
          </a:prstGeom>
          <a:noFill/>
        </p:spPr>
        <p:txBody>
          <a:bodyPr wrap="square" lIns="0" tIns="0" rIns="0" bIns="0" anchor="t">
            <a:noAutofit/>
          </a:bodyPr>
          <a:lstStyle/>
          <a:p>
            <a:pPr algn="l">
              <a:spcBef>
                <a:spcPts val="0"/>
              </a:spcBef>
              <a:spcAft>
                <a:spcPts val="300"/>
              </a:spcAft>
            </a:pPr>
            <a:r>
              <a:rPr sz="1100" b="1" i="0">
                <a:solidFill>
                  <a:srgbClr val="202124"/>
                </a:solidFill>
                <a:latin typeface="Arial"/>
              </a:rPr>
              <a:t>Credit officers</a:t>
            </a:r>
          </a:p>
        </p:txBody>
      </p:sp>
      <p:sp>
        <p:nvSpPr>
          <p:cNvPr id="98" name="TextBox 97"/>
          <p:cNvSpPr txBox="1"/>
          <p:nvPr/>
        </p:nvSpPr>
        <p:spPr>
          <a:xfrm>
            <a:off x="1691640" y="4443984"/>
            <a:ext cx="2286000" cy="411480"/>
          </a:xfrm>
          <a:prstGeom prst="rect">
            <a:avLst/>
          </a:prstGeom>
          <a:noFill/>
        </p:spPr>
        <p:txBody>
          <a:bodyPr wrap="square" lIns="0" tIns="0" rIns="0" bIns="0" anchor="t">
            <a:noAutofit/>
          </a:bodyPr>
          <a:lstStyle/>
          <a:p>
            <a:pPr algn="l">
              <a:spcBef>
                <a:spcPts val="0"/>
              </a:spcBef>
              <a:spcAft>
                <a:spcPts val="300"/>
              </a:spcAft>
            </a:pPr>
            <a:r>
              <a:rPr sz="1000" b="0" i="0">
                <a:solidFill>
                  <a:srgbClr val="5F6368"/>
                </a:solidFill>
                <a:latin typeface="Arial"/>
              </a:rPr>
              <a:t>One page per customer, findings with evidence</a:t>
            </a:r>
          </a:p>
        </p:txBody>
      </p:sp>
      <p:sp>
        <p:nvSpPr>
          <p:cNvPr id="99" name="TextBox 98"/>
          <p:cNvSpPr txBox="1"/>
          <p:nvPr/>
        </p:nvSpPr>
        <p:spPr>
          <a:xfrm>
            <a:off x="4069080" y="4206240"/>
            <a:ext cx="2286000" cy="228600"/>
          </a:xfrm>
          <a:prstGeom prst="rect">
            <a:avLst/>
          </a:prstGeom>
          <a:noFill/>
        </p:spPr>
        <p:txBody>
          <a:bodyPr wrap="square" lIns="0" tIns="0" rIns="0" bIns="0" anchor="t">
            <a:noAutofit/>
          </a:bodyPr>
          <a:lstStyle/>
          <a:p>
            <a:pPr algn="l">
              <a:spcBef>
                <a:spcPts val="0"/>
              </a:spcBef>
              <a:spcAft>
                <a:spcPts val="300"/>
              </a:spcAft>
            </a:pPr>
            <a:r>
              <a:rPr sz="1100" b="1" i="0">
                <a:solidFill>
                  <a:srgbClr val="202124"/>
                </a:solidFill>
                <a:latin typeface="Arial"/>
              </a:rPr>
              <a:t>Fraud teams</a:t>
            </a:r>
          </a:p>
        </p:txBody>
      </p:sp>
      <p:sp>
        <p:nvSpPr>
          <p:cNvPr id="100" name="TextBox 99"/>
          <p:cNvSpPr txBox="1"/>
          <p:nvPr/>
        </p:nvSpPr>
        <p:spPr>
          <a:xfrm>
            <a:off x="4069080" y="4443984"/>
            <a:ext cx="2286000" cy="411480"/>
          </a:xfrm>
          <a:prstGeom prst="rect">
            <a:avLst/>
          </a:prstGeom>
          <a:noFill/>
        </p:spPr>
        <p:txBody>
          <a:bodyPr wrap="square" lIns="0" tIns="0" rIns="0" bIns="0" anchor="t">
            <a:noAutofit/>
          </a:bodyPr>
          <a:lstStyle/>
          <a:p>
            <a:pPr algn="l">
              <a:spcBef>
                <a:spcPts val="0"/>
              </a:spcBef>
              <a:spcAft>
                <a:spcPts val="300"/>
              </a:spcAft>
            </a:pPr>
            <a:r>
              <a:rPr sz="1000" b="0" i="0">
                <a:solidFill>
                  <a:srgbClr val="5F6368"/>
                </a:solidFill>
                <a:latin typeface="Arial"/>
              </a:rPr>
              <a:t>Linked customers across the portfolio</a:t>
            </a:r>
          </a:p>
        </p:txBody>
      </p:sp>
      <p:sp>
        <p:nvSpPr>
          <p:cNvPr id="101" name="TextBox 100"/>
          <p:cNvSpPr txBox="1"/>
          <p:nvPr/>
        </p:nvSpPr>
        <p:spPr>
          <a:xfrm>
            <a:off x="6446520" y="4206240"/>
            <a:ext cx="2286000" cy="228600"/>
          </a:xfrm>
          <a:prstGeom prst="rect">
            <a:avLst/>
          </a:prstGeom>
          <a:noFill/>
        </p:spPr>
        <p:txBody>
          <a:bodyPr wrap="square" lIns="0" tIns="0" rIns="0" bIns="0" anchor="t">
            <a:noAutofit/>
          </a:bodyPr>
          <a:lstStyle/>
          <a:p>
            <a:pPr algn="l">
              <a:spcBef>
                <a:spcPts val="0"/>
              </a:spcBef>
              <a:spcAft>
                <a:spcPts val="300"/>
              </a:spcAft>
            </a:pPr>
            <a:r>
              <a:rPr sz="1100" b="1" i="0">
                <a:solidFill>
                  <a:srgbClr val="202124"/>
                </a:solidFill>
                <a:latin typeface="Arial"/>
              </a:rPr>
              <a:t>Honest MSMEs</a:t>
            </a:r>
          </a:p>
        </p:txBody>
      </p:sp>
      <p:sp>
        <p:nvSpPr>
          <p:cNvPr id="102" name="TextBox 101"/>
          <p:cNvSpPr txBox="1"/>
          <p:nvPr/>
        </p:nvSpPr>
        <p:spPr>
          <a:xfrm>
            <a:off x="6446520" y="4443984"/>
            <a:ext cx="2286000" cy="411480"/>
          </a:xfrm>
          <a:prstGeom prst="rect">
            <a:avLst/>
          </a:prstGeom>
          <a:noFill/>
        </p:spPr>
        <p:txBody>
          <a:bodyPr wrap="square" lIns="0" tIns="0" rIns="0" bIns="0" anchor="t">
            <a:noAutofit/>
          </a:bodyPr>
          <a:lstStyle/>
          <a:p>
            <a:pPr algn="l">
              <a:spcBef>
                <a:spcPts val="0"/>
              </a:spcBef>
              <a:spcAft>
                <a:spcPts val="300"/>
              </a:spcAft>
            </a:pPr>
            <a:r>
              <a:rPr sz="1000" b="0" i="0">
                <a:solidFill>
                  <a:srgbClr val="5F6368"/>
                </a:solidFill>
                <a:latin typeface="Arial"/>
              </a:rPr>
              <a:t>A Clear verdict — a faster loan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87" name="Google Shape;87;p17"/>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feat_0"/>
          <p:cNvSpPr/>
          <p:nvPr/>
        </p:nvSpPr>
        <p:spPr>
          <a:xfrm>
            <a:off x="320040" y="1188720"/>
            <a:ext cx="2743200" cy="178308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9" name="feat_0_circle"/>
          <p:cNvSpPr/>
          <p:nvPr/>
        </p:nvSpPr>
        <p:spPr>
          <a:xfrm>
            <a:off x="457200" y="1325880"/>
            <a:ext cx="384048" cy="384048"/>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0" name="feat_0_icon" descr="users_w.png"/>
          <p:cNvPicPr>
            <a:picLocks noChangeAspect="1"/>
          </p:cNvPicPr>
          <p:nvPr/>
        </p:nvPicPr>
        <p:blipFill>
          <a:blip r:embed="rId5"/>
          <a:stretch>
            <a:fillRect/>
          </a:stretch>
        </p:blipFill>
        <p:spPr>
          <a:xfrm>
            <a:off x="541690" y="1410370"/>
            <a:ext cx="215066" cy="215066"/>
          </a:xfrm>
          <a:prstGeom prst="rect">
            <a:avLst/>
          </a:prstGeom>
        </p:spPr>
      </p:pic>
      <p:sp>
        <p:nvSpPr>
          <p:cNvPr id="91" name="TextBox 90"/>
          <p:cNvSpPr txBox="1"/>
          <p:nvPr/>
        </p:nvSpPr>
        <p:spPr>
          <a:xfrm>
            <a:off x="941832" y="1325880"/>
            <a:ext cx="2011680" cy="384048"/>
          </a:xfrm>
          <a:prstGeom prst="rect">
            <a:avLst/>
          </a:prstGeom>
          <a:noFill/>
        </p:spPr>
        <p:txBody>
          <a:bodyPr wrap="square" lIns="0" tIns="0" rIns="0" bIns="0" anchor="ctr">
            <a:noAutofit/>
          </a:bodyPr>
          <a:lstStyle/>
          <a:p>
            <a:pPr algn="l">
              <a:spcBef>
                <a:spcPts val="0"/>
              </a:spcBef>
              <a:spcAft>
                <a:spcPts val="300"/>
              </a:spcAft>
            </a:pPr>
            <a:r>
              <a:rPr sz="1200" b="1" i="0">
                <a:solidFill>
                  <a:srgbClr val="202124"/>
                </a:solidFill>
                <a:latin typeface="Arial"/>
              </a:rPr>
              <a:t>Customer data, one place</a:t>
            </a:r>
          </a:p>
        </p:txBody>
      </p:sp>
      <p:sp>
        <p:nvSpPr>
          <p:cNvPr id="92" name="TextBox 91"/>
          <p:cNvSpPr txBox="1"/>
          <p:nvPr/>
        </p:nvSpPr>
        <p:spPr>
          <a:xfrm>
            <a:off x="457200" y="1792224"/>
            <a:ext cx="2468880" cy="1088136"/>
          </a:xfrm>
          <a:prstGeom prst="rect">
            <a:avLst/>
          </a:prstGeom>
          <a:noFill/>
        </p:spPr>
        <p:txBody>
          <a:bodyPr wrap="square" lIns="0" tIns="0" rIns="0" bIns="0" anchor="t">
            <a:noAutofit/>
          </a:bodyPr>
          <a:lstStyle/>
          <a:p>
            <a:pPr marL="146304" indent="-146304" algn="l">
              <a:spcBef>
                <a:spcPts val="0"/>
              </a:spcBef>
              <a:spcAft>
                <a:spcPts val="300"/>
              </a:spcAft>
              <a:buFont typeface="Arial"/>
              <a:buChar char="•"/>
            </a:pPr>
            <a:r>
              <a:rPr sz="1000" b="0" i="0">
                <a:solidFill>
                  <a:srgbClr val="202124"/>
                </a:solidFill>
                <a:latin typeface="Arial"/>
              </a:rPr>
              <a:t>Business Registration (Udyam); Banking Data by Account Aggregator consent</a:t>
            </a:r>
          </a:p>
          <a:p>
            <a:pPr marL="146304" indent="-146304" algn="l">
              <a:spcBef>
                <a:spcPts val="0"/>
              </a:spcBef>
              <a:spcAft>
                <a:spcPts val="300"/>
              </a:spcAft>
              <a:buFont typeface="Arial"/>
              <a:buChar char="•"/>
            </a:pPr>
            <a:r>
              <a:rPr sz="1000" b="0" i="0">
                <a:solidFill>
                  <a:srgbClr val="202124"/>
                </a:solidFill>
                <a:latin typeface="Arial"/>
              </a:rPr>
              <a:t>Tax &amp; Sales (GST), Income Tax (ITR), Corporate Registry (MCA); uploads</a:t>
            </a:r>
          </a:p>
          <a:p>
            <a:pPr marL="146304" indent="-146304" algn="l">
              <a:spcBef>
                <a:spcPts val="0"/>
              </a:spcBef>
              <a:spcAft>
                <a:spcPts val="300"/>
              </a:spcAft>
              <a:buFont typeface="Arial"/>
              <a:buChar char="•"/>
            </a:pPr>
            <a:r>
              <a:rPr sz="1000" b="0" i="0">
                <a:solidFill>
                  <a:srgbClr val="202124"/>
                </a:solidFill>
                <a:latin typeface="Arial"/>
              </a:rPr>
              <a:t>Reassessed whenever a source arrives</a:t>
            </a:r>
          </a:p>
        </p:txBody>
      </p:sp>
      <p:sp>
        <p:nvSpPr>
          <p:cNvPr id="93" name="feat_1"/>
          <p:cNvSpPr/>
          <p:nvPr/>
        </p:nvSpPr>
        <p:spPr>
          <a:xfrm>
            <a:off x="3200400" y="1188720"/>
            <a:ext cx="2743200" cy="178308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4" name="feat_1_circle"/>
          <p:cNvSpPr/>
          <p:nvPr/>
        </p:nvSpPr>
        <p:spPr>
          <a:xfrm>
            <a:off x="3337560" y="1325880"/>
            <a:ext cx="384048" cy="384048"/>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5" name="feat_1_icon" descr="scan_w.png"/>
          <p:cNvPicPr>
            <a:picLocks noChangeAspect="1"/>
          </p:cNvPicPr>
          <p:nvPr/>
        </p:nvPicPr>
        <p:blipFill>
          <a:blip r:embed="rId6"/>
          <a:stretch>
            <a:fillRect/>
          </a:stretch>
        </p:blipFill>
        <p:spPr>
          <a:xfrm>
            <a:off x="3422050" y="1410370"/>
            <a:ext cx="215066" cy="215066"/>
          </a:xfrm>
          <a:prstGeom prst="rect">
            <a:avLst/>
          </a:prstGeom>
        </p:spPr>
      </p:pic>
      <p:sp>
        <p:nvSpPr>
          <p:cNvPr id="96" name="TextBox 95"/>
          <p:cNvSpPr txBox="1"/>
          <p:nvPr/>
        </p:nvSpPr>
        <p:spPr>
          <a:xfrm>
            <a:off x="3822191" y="1325880"/>
            <a:ext cx="2011680" cy="384048"/>
          </a:xfrm>
          <a:prstGeom prst="rect">
            <a:avLst/>
          </a:prstGeom>
          <a:noFill/>
        </p:spPr>
        <p:txBody>
          <a:bodyPr wrap="square" lIns="0" tIns="0" rIns="0" bIns="0" anchor="ctr">
            <a:noAutofit/>
          </a:bodyPr>
          <a:lstStyle/>
          <a:p>
            <a:pPr algn="l">
              <a:spcBef>
                <a:spcPts val="0"/>
              </a:spcBef>
              <a:spcAft>
                <a:spcPts val="300"/>
              </a:spcAft>
            </a:pPr>
            <a:r>
              <a:rPr sz="1200" b="1" i="0">
                <a:solidFill>
                  <a:srgbClr val="202124"/>
                </a:solidFill>
                <a:latin typeface="Arial"/>
              </a:rPr>
              <a:t>Document reading</a:t>
            </a:r>
          </a:p>
        </p:txBody>
      </p:sp>
      <p:sp>
        <p:nvSpPr>
          <p:cNvPr id="97" name="TextBox 96"/>
          <p:cNvSpPr txBox="1"/>
          <p:nvPr/>
        </p:nvSpPr>
        <p:spPr>
          <a:xfrm>
            <a:off x="3337560" y="1792224"/>
            <a:ext cx="2468880" cy="1088136"/>
          </a:xfrm>
          <a:prstGeom prst="rect">
            <a:avLst/>
          </a:prstGeom>
          <a:noFill/>
        </p:spPr>
        <p:txBody>
          <a:bodyPr wrap="square" lIns="0" tIns="0" rIns="0" bIns="0" anchor="t">
            <a:noAutofit/>
          </a:bodyPr>
          <a:lstStyle/>
          <a:p>
            <a:pPr marL="146304" indent="-146304" algn="l">
              <a:spcBef>
                <a:spcPts val="0"/>
              </a:spcBef>
              <a:spcAft>
                <a:spcPts val="300"/>
              </a:spcAft>
              <a:buFont typeface="Arial"/>
              <a:buChar char="•"/>
            </a:pPr>
            <a:r>
              <a:rPr sz="1000" b="0" i="0">
                <a:solidFill>
                  <a:srgbClr val="202124"/>
                </a:solidFill>
                <a:latin typeface="Arial"/>
              </a:rPr>
              <a:t>Gemini Flash in Mumbai reads every page in parallel</a:t>
            </a:r>
          </a:p>
          <a:p>
            <a:pPr marL="146304" indent="-146304" algn="l">
              <a:spcBef>
                <a:spcPts val="0"/>
              </a:spcBef>
              <a:spcAft>
                <a:spcPts val="300"/>
              </a:spcAft>
              <a:buFont typeface="Arial"/>
              <a:buChar char="•"/>
            </a:pPr>
            <a:r>
              <a:rPr sz="1000" b="0" i="0">
                <a:solidFill>
                  <a:srgbClr val="202124"/>
                </a:solidFill>
                <a:latin typeface="Arial"/>
              </a:rPr>
              <a:t>Numbers copied as printed, never corrected</a:t>
            </a:r>
          </a:p>
          <a:p>
            <a:pPr marL="146304" indent="-146304" algn="l">
              <a:spcBef>
                <a:spcPts val="0"/>
              </a:spcBef>
              <a:spcAft>
                <a:spcPts val="300"/>
              </a:spcAft>
              <a:buFont typeface="Arial"/>
              <a:buChar char="•"/>
            </a:pPr>
            <a:r>
              <a:rPr sz="1000" b="0" i="0">
                <a:solidFill>
                  <a:srgbClr val="202124"/>
                </a:solidFill>
                <a:latin typeface="Arial"/>
              </a:rPr>
              <a:t>A page that does not add up is read again</a:t>
            </a:r>
          </a:p>
        </p:txBody>
      </p:sp>
      <p:sp>
        <p:nvSpPr>
          <p:cNvPr id="98" name="feat_2"/>
          <p:cNvSpPr/>
          <p:nvPr/>
        </p:nvSpPr>
        <p:spPr>
          <a:xfrm>
            <a:off x="6080759" y="1188720"/>
            <a:ext cx="2743200" cy="178308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9" name="feat_2_circle"/>
          <p:cNvSpPr/>
          <p:nvPr/>
        </p:nvSpPr>
        <p:spPr>
          <a:xfrm>
            <a:off x="6217920" y="1325880"/>
            <a:ext cx="384048" cy="384048"/>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0" name="feat_2_icon" descr="calc_w.png"/>
          <p:cNvPicPr>
            <a:picLocks noChangeAspect="1"/>
          </p:cNvPicPr>
          <p:nvPr/>
        </p:nvPicPr>
        <p:blipFill>
          <a:blip r:embed="rId7"/>
          <a:stretch>
            <a:fillRect/>
          </a:stretch>
        </p:blipFill>
        <p:spPr>
          <a:xfrm>
            <a:off x="6302410" y="1410370"/>
            <a:ext cx="215066" cy="215066"/>
          </a:xfrm>
          <a:prstGeom prst="rect">
            <a:avLst/>
          </a:prstGeom>
        </p:spPr>
      </p:pic>
      <p:sp>
        <p:nvSpPr>
          <p:cNvPr id="101" name="TextBox 100"/>
          <p:cNvSpPr txBox="1"/>
          <p:nvPr/>
        </p:nvSpPr>
        <p:spPr>
          <a:xfrm>
            <a:off x="6702551" y="1325880"/>
            <a:ext cx="2011680" cy="384048"/>
          </a:xfrm>
          <a:prstGeom prst="rect">
            <a:avLst/>
          </a:prstGeom>
          <a:noFill/>
        </p:spPr>
        <p:txBody>
          <a:bodyPr wrap="square" lIns="0" tIns="0" rIns="0" bIns="0" anchor="ctr">
            <a:noAutofit/>
          </a:bodyPr>
          <a:lstStyle/>
          <a:p>
            <a:pPr algn="l">
              <a:spcBef>
                <a:spcPts val="0"/>
              </a:spcBef>
              <a:spcAft>
                <a:spcPts val="300"/>
              </a:spcAft>
            </a:pPr>
            <a:r>
              <a:rPr sz="1200" b="1" i="0">
                <a:solidFill>
                  <a:srgbClr val="202124"/>
                </a:solidFill>
                <a:latin typeface="Arial"/>
              </a:rPr>
              <a:t>Checks on every source</a:t>
            </a:r>
          </a:p>
        </p:txBody>
      </p:sp>
      <p:sp>
        <p:nvSpPr>
          <p:cNvPr id="102" name="TextBox 101"/>
          <p:cNvSpPr txBox="1"/>
          <p:nvPr/>
        </p:nvSpPr>
        <p:spPr>
          <a:xfrm>
            <a:off x="6217920" y="1792224"/>
            <a:ext cx="2468880" cy="1088136"/>
          </a:xfrm>
          <a:prstGeom prst="rect">
            <a:avLst/>
          </a:prstGeom>
          <a:noFill/>
        </p:spPr>
        <p:txBody>
          <a:bodyPr wrap="square" lIns="0" tIns="0" rIns="0" bIns="0" anchor="t">
            <a:noAutofit/>
          </a:bodyPr>
          <a:lstStyle/>
          <a:p>
            <a:pPr marL="146304" indent="-146304" algn="l">
              <a:spcBef>
                <a:spcPts val="0"/>
              </a:spcBef>
              <a:spcAft>
                <a:spcPts val="300"/>
              </a:spcAft>
              <a:buFont typeface="Arial"/>
              <a:buChar char="•"/>
            </a:pPr>
            <a:r>
              <a:rPr sz="1000" b="0" i="0">
                <a:solidFill>
                  <a:srgbClr val="202124"/>
                </a:solidFill>
                <a:latin typeface="Arial"/>
              </a:rPr>
              <a:t>Nine checks: balances, totals, slips, file history</a:t>
            </a:r>
          </a:p>
          <a:p>
            <a:pPr marL="146304" indent="-146304" algn="l">
              <a:spcBef>
                <a:spcPts val="0"/>
              </a:spcBef>
              <a:spcAft>
                <a:spcPts val="300"/>
              </a:spcAft>
              <a:buFont typeface="Arial"/>
              <a:buChar char="•"/>
            </a:pPr>
            <a:r>
              <a:rPr sz="1000" b="0" i="0">
                <a:solidFill>
                  <a:srgbClr val="202124"/>
                </a:solidFill>
                <a:latin typeface="Arial"/>
              </a:rPr>
              <a:t>Statement vs the bank's Account Aggregator record</a:t>
            </a:r>
          </a:p>
          <a:p>
            <a:pPr marL="146304" indent="-146304" algn="l">
              <a:spcBef>
                <a:spcPts val="0"/>
              </a:spcBef>
              <a:spcAft>
                <a:spcPts val="300"/>
              </a:spcAft>
              <a:buFont typeface="Arial"/>
              <a:buChar char="•"/>
            </a:pPr>
            <a:r>
              <a:rPr sz="1000" b="0" i="0">
                <a:solidFill>
                  <a:srgbClr val="202124"/>
                </a:solidFill>
                <a:latin typeface="Arial"/>
              </a:rPr>
              <a:t>Bank risk flags: pass-through, cash, bounces</a:t>
            </a:r>
          </a:p>
        </p:txBody>
      </p:sp>
      <p:sp>
        <p:nvSpPr>
          <p:cNvPr id="103" name="feat_3"/>
          <p:cNvSpPr/>
          <p:nvPr/>
        </p:nvSpPr>
        <p:spPr>
          <a:xfrm>
            <a:off x="320040" y="3081528"/>
            <a:ext cx="2743200" cy="178308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4" name="feat_3_circle"/>
          <p:cNvSpPr/>
          <p:nvPr/>
        </p:nvSpPr>
        <p:spPr>
          <a:xfrm>
            <a:off x="457200" y="3218688"/>
            <a:ext cx="384048" cy="384048"/>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5" name="feat_3_icon" descr="ring_w.png"/>
          <p:cNvPicPr>
            <a:picLocks noChangeAspect="1"/>
          </p:cNvPicPr>
          <p:nvPr/>
        </p:nvPicPr>
        <p:blipFill>
          <a:blip r:embed="rId8"/>
          <a:stretch>
            <a:fillRect/>
          </a:stretch>
        </p:blipFill>
        <p:spPr>
          <a:xfrm>
            <a:off x="541690" y="3303178"/>
            <a:ext cx="215066" cy="215066"/>
          </a:xfrm>
          <a:prstGeom prst="rect">
            <a:avLst/>
          </a:prstGeom>
        </p:spPr>
      </p:pic>
      <p:sp>
        <p:nvSpPr>
          <p:cNvPr id="106" name="TextBox 105"/>
          <p:cNvSpPr txBox="1"/>
          <p:nvPr/>
        </p:nvSpPr>
        <p:spPr>
          <a:xfrm>
            <a:off x="941832" y="3218688"/>
            <a:ext cx="2011680" cy="384048"/>
          </a:xfrm>
          <a:prstGeom prst="rect">
            <a:avLst/>
          </a:prstGeom>
          <a:noFill/>
        </p:spPr>
        <p:txBody>
          <a:bodyPr wrap="square" lIns="0" tIns="0" rIns="0" bIns="0" anchor="ctr">
            <a:noAutofit/>
          </a:bodyPr>
          <a:lstStyle/>
          <a:p>
            <a:pPr algn="l">
              <a:spcBef>
                <a:spcPts val="0"/>
              </a:spcBef>
              <a:spcAft>
                <a:spcPts val="300"/>
              </a:spcAft>
            </a:pPr>
            <a:r>
              <a:rPr sz="1200" b="1" i="0">
                <a:solidFill>
                  <a:srgbClr val="202124"/>
                </a:solidFill>
                <a:latin typeface="Arial"/>
              </a:rPr>
              <a:t>Linked customers</a:t>
            </a:r>
          </a:p>
        </p:txBody>
      </p:sp>
      <p:sp>
        <p:nvSpPr>
          <p:cNvPr id="107" name="TextBox 106"/>
          <p:cNvSpPr txBox="1"/>
          <p:nvPr/>
        </p:nvSpPr>
        <p:spPr>
          <a:xfrm>
            <a:off x="457200" y="3685032"/>
            <a:ext cx="2468880" cy="1088136"/>
          </a:xfrm>
          <a:prstGeom prst="rect">
            <a:avLst/>
          </a:prstGeom>
          <a:noFill/>
        </p:spPr>
        <p:txBody>
          <a:bodyPr wrap="square" lIns="0" tIns="0" rIns="0" bIns="0" anchor="t">
            <a:noAutofit/>
          </a:bodyPr>
          <a:lstStyle/>
          <a:p>
            <a:pPr marL="146304" indent="-146304" algn="l">
              <a:spcBef>
                <a:spcPts val="0"/>
              </a:spcBef>
              <a:spcAft>
                <a:spcPts val="300"/>
              </a:spcAft>
              <a:buFont typeface="Arial"/>
              <a:buChar char="•"/>
            </a:pPr>
            <a:r>
              <a:rPr sz="1000" b="0" i="0">
                <a:solidFill>
                  <a:srgbClr val="202124"/>
                </a:solidFill>
                <a:latin typeface="Arial"/>
              </a:rPr>
              <a:t>Same file, template or salary account</a:t>
            </a:r>
          </a:p>
          <a:p>
            <a:pPr marL="146304" indent="-146304" algn="l">
              <a:spcBef>
                <a:spcPts val="0"/>
              </a:spcBef>
              <a:spcAft>
                <a:spcPts val="300"/>
              </a:spcAft>
              <a:buFont typeface="Arial"/>
              <a:buChar char="•"/>
            </a:pPr>
            <a:r>
              <a:rPr sz="1000" b="0" i="0">
                <a:solidFill>
                  <a:srgbClr val="202124"/>
                </a:solidFill>
                <a:latin typeface="Arial"/>
              </a:rPr>
              <a:t>Same director, mobile, email or address</a:t>
            </a:r>
          </a:p>
          <a:p>
            <a:pPr marL="146304" indent="-146304" algn="l">
              <a:spcBef>
                <a:spcPts val="0"/>
              </a:spcBef>
              <a:spcAft>
                <a:spcPts val="300"/>
              </a:spcAft>
              <a:buFont typeface="Arial"/>
              <a:buChar char="•"/>
            </a:pPr>
            <a:r>
              <a:rPr sz="1000" b="0" i="0">
                <a:solidFill>
                  <a:srgbClr val="202124"/>
                </a:solidFill>
                <a:latin typeface="Arial"/>
              </a:rPr>
              <a:t>Circular trading in GST invoices</a:t>
            </a:r>
          </a:p>
        </p:txBody>
      </p:sp>
      <p:sp>
        <p:nvSpPr>
          <p:cNvPr id="108" name="feat_4"/>
          <p:cNvSpPr/>
          <p:nvPr/>
        </p:nvSpPr>
        <p:spPr>
          <a:xfrm>
            <a:off x="3200400" y="3081528"/>
            <a:ext cx="2743200" cy="178308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9" name="feat_4_circle"/>
          <p:cNvSpPr/>
          <p:nvPr/>
        </p:nvSpPr>
        <p:spPr>
          <a:xfrm>
            <a:off x="3337560" y="3218688"/>
            <a:ext cx="384048" cy="384048"/>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0" name="feat_4_icon" descr="bot_w.png"/>
          <p:cNvPicPr>
            <a:picLocks noChangeAspect="1"/>
          </p:cNvPicPr>
          <p:nvPr/>
        </p:nvPicPr>
        <p:blipFill>
          <a:blip r:embed="rId9"/>
          <a:stretch>
            <a:fillRect/>
          </a:stretch>
        </p:blipFill>
        <p:spPr>
          <a:xfrm>
            <a:off x="3422050" y="3303178"/>
            <a:ext cx="215066" cy="215066"/>
          </a:xfrm>
          <a:prstGeom prst="rect">
            <a:avLst/>
          </a:prstGeom>
        </p:spPr>
      </p:pic>
      <p:sp>
        <p:nvSpPr>
          <p:cNvPr id="111" name="TextBox 110"/>
          <p:cNvSpPr txBox="1"/>
          <p:nvPr/>
        </p:nvSpPr>
        <p:spPr>
          <a:xfrm>
            <a:off x="3822191" y="3218688"/>
            <a:ext cx="2011680" cy="384048"/>
          </a:xfrm>
          <a:prstGeom prst="rect">
            <a:avLst/>
          </a:prstGeom>
          <a:noFill/>
        </p:spPr>
        <p:txBody>
          <a:bodyPr wrap="square" lIns="0" tIns="0" rIns="0" bIns="0" anchor="ctr">
            <a:noAutofit/>
          </a:bodyPr>
          <a:lstStyle/>
          <a:p>
            <a:pPr algn="l">
              <a:spcBef>
                <a:spcPts val="0"/>
              </a:spcBef>
              <a:spcAft>
                <a:spcPts val="300"/>
              </a:spcAft>
            </a:pPr>
            <a:r>
              <a:rPr sz="1200" b="1" i="0">
                <a:solidFill>
                  <a:srgbClr val="202124"/>
                </a:solidFill>
                <a:latin typeface="Arial"/>
              </a:rPr>
              <a:t>AI investigator, grounded</a:t>
            </a:r>
          </a:p>
        </p:txBody>
      </p:sp>
      <p:sp>
        <p:nvSpPr>
          <p:cNvPr id="112" name="TextBox 111"/>
          <p:cNvSpPr txBox="1"/>
          <p:nvPr/>
        </p:nvSpPr>
        <p:spPr>
          <a:xfrm>
            <a:off x="3337560" y="3685032"/>
            <a:ext cx="2468880" cy="1088136"/>
          </a:xfrm>
          <a:prstGeom prst="rect">
            <a:avLst/>
          </a:prstGeom>
          <a:noFill/>
        </p:spPr>
        <p:txBody>
          <a:bodyPr wrap="square" lIns="0" tIns="0" rIns="0" bIns="0" anchor="t">
            <a:noAutofit/>
          </a:bodyPr>
          <a:lstStyle/>
          <a:p>
            <a:pPr marL="146304" indent="-146304" algn="l">
              <a:spcBef>
                <a:spcPts val="0"/>
              </a:spcBef>
              <a:spcAft>
                <a:spcPts val="300"/>
              </a:spcAft>
              <a:buFont typeface="Arial"/>
              <a:buChar char="•"/>
            </a:pPr>
            <a:r>
              <a:rPr sz="1000" b="0" i="0">
                <a:solidFill>
                  <a:srgbClr val="202124"/>
                </a:solidFill>
                <a:latin typeface="Arial"/>
              </a:rPr>
              <a:t>Gemini Pro with tools bound to one customer</a:t>
            </a:r>
          </a:p>
          <a:p>
            <a:pPr marL="146304" indent="-146304" algn="l">
              <a:spcBef>
                <a:spcPts val="0"/>
              </a:spcBef>
              <a:spcAft>
                <a:spcPts val="300"/>
              </a:spcAft>
              <a:buFont typeface="Arial"/>
              <a:buChar char="•"/>
            </a:pPr>
            <a:r>
              <a:rPr sz="1000" b="0" i="0">
                <a:solidFill>
                  <a:srgbClr val="202124"/>
                </a:solidFill>
                <a:latin typeface="Arial"/>
              </a:rPr>
              <a:t>Every claim cites rows; amounts must trace</a:t>
            </a:r>
          </a:p>
          <a:p>
            <a:pPr marL="146304" indent="-146304" algn="l">
              <a:spcBef>
                <a:spcPts val="0"/>
              </a:spcBef>
              <a:spcAft>
                <a:spcPts val="300"/>
              </a:spcAft>
              <a:buFont typeface="Arial"/>
              <a:buChar char="•"/>
            </a:pPr>
            <a:r>
              <a:rPr sz="1000" b="0" i="0">
                <a:solidFill>
                  <a:srgbClr val="202124"/>
                </a:solidFill>
                <a:latin typeface="Arial"/>
              </a:rPr>
              <a:t>Rejected claims shown, never hidden</a:t>
            </a:r>
          </a:p>
        </p:txBody>
      </p:sp>
      <p:sp>
        <p:nvSpPr>
          <p:cNvPr id="113" name="feat_5"/>
          <p:cNvSpPr/>
          <p:nvPr/>
        </p:nvSpPr>
        <p:spPr>
          <a:xfrm>
            <a:off x="6080759" y="3081528"/>
            <a:ext cx="2743200" cy="178308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4" name="feat_5_circle"/>
          <p:cNvSpPr/>
          <p:nvPr/>
        </p:nvSpPr>
        <p:spPr>
          <a:xfrm>
            <a:off x="6217920" y="3218688"/>
            <a:ext cx="384048" cy="384048"/>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5" name="feat_5_icon" descr="rupee_w.png"/>
          <p:cNvPicPr>
            <a:picLocks noChangeAspect="1"/>
          </p:cNvPicPr>
          <p:nvPr/>
        </p:nvPicPr>
        <p:blipFill>
          <a:blip r:embed="rId10"/>
          <a:stretch>
            <a:fillRect/>
          </a:stretch>
        </p:blipFill>
        <p:spPr>
          <a:xfrm>
            <a:off x="6302410" y="3303178"/>
            <a:ext cx="215066" cy="215066"/>
          </a:xfrm>
          <a:prstGeom prst="rect">
            <a:avLst/>
          </a:prstGeom>
        </p:spPr>
      </p:pic>
      <p:sp>
        <p:nvSpPr>
          <p:cNvPr id="116" name="TextBox 115"/>
          <p:cNvSpPr txBox="1"/>
          <p:nvPr/>
        </p:nvSpPr>
        <p:spPr>
          <a:xfrm>
            <a:off x="6702551" y="3218688"/>
            <a:ext cx="2011680" cy="384048"/>
          </a:xfrm>
          <a:prstGeom prst="rect">
            <a:avLst/>
          </a:prstGeom>
          <a:noFill/>
        </p:spPr>
        <p:txBody>
          <a:bodyPr wrap="square" lIns="0" tIns="0" rIns="0" bIns="0" anchor="ctr">
            <a:noAutofit/>
          </a:bodyPr>
          <a:lstStyle/>
          <a:p>
            <a:pPr algn="l">
              <a:spcBef>
                <a:spcPts val="0"/>
              </a:spcBef>
              <a:spcAft>
                <a:spcPts val="300"/>
              </a:spcAft>
            </a:pPr>
            <a:r>
              <a:rPr sz="1200" b="1" i="0">
                <a:solidFill>
                  <a:srgbClr val="202124"/>
                </a:solidFill>
                <a:latin typeface="Arial"/>
              </a:rPr>
              <a:t>AI credit decision</a:t>
            </a:r>
          </a:p>
        </p:txBody>
      </p:sp>
      <p:sp>
        <p:nvSpPr>
          <p:cNvPr id="117" name="TextBox 116"/>
          <p:cNvSpPr txBox="1"/>
          <p:nvPr/>
        </p:nvSpPr>
        <p:spPr>
          <a:xfrm>
            <a:off x="6217920" y="3685032"/>
            <a:ext cx="2468880" cy="1088136"/>
          </a:xfrm>
          <a:prstGeom prst="rect">
            <a:avLst/>
          </a:prstGeom>
          <a:noFill/>
        </p:spPr>
        <p:txBody>
          <a:bodyPr wrap="square" lIns="0" tIns="0" rIns="0" bIns="0" anchor="t">
            <a:noAutofit/>
          </a:bodyPr>
          <a:lstStyle/>
          <a:p>
            <a:pPr marL="146304" indent="-146304" algn="l">
              <a:spcBef>
                <a:spcPts val="0"/>
              </a:spcBef>
              <a:spcAft>
                <a:spcPts val="300"/>
              </a:spcAft>
              <a:buFont typeface="Arial"/>
              <a:buChar char="•"/>
            </a:pPr>
            <a:r>
              <a:rPr sz="1000" b="0" i="0">
                <a:solidFill>
                  <a:srgbClr val="202124"/>
                </a:solidFill>
                <a:latin typeface="Arial"/>
              </a:rPr>
              <a:t>Credit capacity (FOIR) computed in code</a:t>
            </a:r>
          </a:p>
          <a:p>
            <a:pPr marL="146304" indent="-146304" algn="l">
              <a:spcBef>
                <a:spcPts val="0"/>
              </a:spcBef>
              <a:spcAft>
                <a:spcPts val="300"/>
              </a:spcAft>
              <a:buFont typeface="Arial"/>
              <a:buChar char="•"/>
            </a:pPr>
            <a:r>
              <a:rPr sz="1000" b="0" i="0">
                <a:solidFill>
                  <a:srgbClr val="202124"/>
                </a:solidFill>
                <a:latin typeface="Arial"/>
              </a:rPr>
              <a:t>Gemini Pro decides within it, citing policy</a:t>
            </a:r>
          </a:p>
          <a:p>
            <a:pPr marL="146304" indent="-146304" algn="l">
              <a:spcBef>
                <a:spcPts val="0"/>
              </a:spcBef>
              <a:spcAft>
                <a:spcPts val="300"/>
              </a:spcAft>
              <a:buFont typeface="Arial"/>
              <a:buChar char="•"/>
            </a:pPr>
            <a:r>
              <a:rPr sz="1000" b="0" i="0">
                <a:solidFill>
                  <a:srgbClr val="202124"/>
                </a:solidFill>
                <a:latin typeface="Arial"/>
              </a:rPr>
              <a:t>Accepted decisions go to LOS, ULI or ONDC</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5" name="Google Shape;95;p18"/>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Process flow diagram</a:t>
            </a:r>
            <a:endParaRPr sz="1600">
              <a:latin typeface="Google Sans Flex Medium"/>
              <a:ea typeface="Google Sans Flex Medium"/>
              <a:cs typeface="Google Sans Flex Medium"/>
              <a:sym typeface="Google Sans Flex Medium"/>
            </a:endParaRPr>
          </a:p>
        </p:txBody>
      </p:sp>
      <p:sp>
        <p:nvSpPr>
          <p:cNvPr id="96" name="step_0"/>
          <p:cNvSpPr/>
          <p:nvPr/>
        </p:nvSpPr>
        <p:spPr>
          <a:xfrm>
            <a:off x="320040" y="1234440"/>
            <a:ext cx="1069848" cy="169164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7" name="step_0_circle"/>
          <p:cNvSpPr/>
          <p:nvPr/>
        </p:nvSpPr>
        <p:spPr>
          <a:xfrm>
            <a:off x="626364" y="1371600"/>
            <a:ext cx="457200" cy="457200"/>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8" name="step_0_icon" descr="upload_w.png"/>
          <p:cNvPicPr>
            <a:picLocks noChangeAspect="1"/>
          </p:cNvPicPr>
          <p:nvPr/>
        </p:nvPicPr>
        <p:blipFill>
          <a:blip r:embed="rId5"/>
          <a:stretch>
            <a:fillRect/>
          </a:stretch>
        </p:blipFill>
        <p:spPr>
          <a:xfrm>
            <a:off x="726947" y="1472184"/>
            <a:ext cx="256032" cy="256032"/>
          </a:xfrm>
          <a:prstGeom prst="rect">
            <a:avLst/>
          </a:prstGeom>
        </p:spPr>
      </p:pic>
      <p:sp>
        <p:nvSpPr>
          <p:cNvPr id="99" name="TextBox 98"/>
          <p:cNvSpPr txBox="1"/>
          <p:nvPr/>
        </p:nvSpPr>
        <p:spPr>
          <a:xfrm>
            <a:off x="374904" y="1901952"/>
            <a:ext cx="960119" cy="256032"/>
          </a:xfrm>
          <a:prstGeom prst="rect">
            <a:avLst/>
          </a:prstGeom>
          <a:noFill/>
        </p:spPr>
        <p:txBody>
          <a:bodyPr wrap="square" lIns="0" tIns="0" rIns="0" bIns="0" anchor="t">
            <a:noAutofit/>
          </a:bodyPr>
          <a:lstStyle/>
          <a:p>
            <a:pPr algn="ctr">
              <a:spcBef>
                <a:spcPts val="0"/>
              </a:spcBef>
              <a:spcAft>
                <a:spcPts val="300"/>
              </a:spcAft>
            </a:pPr>
            <a:r>
              <a:rPr sz="1100" b="1" i="0">
                <a:solidFill>
                  <a:srgbClr val="202124"/>
                </a:solidFill>
                <a:latin typeface="Arial"/>
              </a:rPr>
              <a:t>1. Share</a:t>
            </a:r>
          </a:p>
        </p:txBody>
      </p:sp>
      <p:sp>
        <p:nvSpPr>
          <p:cNvPr id="100" name="TextBox 99"/>
          <p:cNvSpPr txBox="1"/>
          <p:nvPr/>
        </p:nvSpPr>
        <p:spPr>
          <a:xfrm>
            <a:off x="393192" y="2176272"/>
            <a:ext cx="923544" cy="713232"/>
          </a:xfrm>
          <a:prstGeom prst="rect">
            <a:avLst/>
          </a:prstGeom>
          <a:noFill/>
        </p:spPr>
        <p:txBody>
          <a:bodyPr wrap="square" lIns="0" tIns="0" rIns="0" bIns="0" anchor="t">
            <a:noAutofit/>
          </a:bodyPr>
          <a:lstStyle/>
          <a:p>
            <a:pPr algn="ctr">
              <a:spcBef>
                <a:spcPts val="0"/>
              </a:spcBef>
              <a:spcAft>
                <a:spcPts val="300"/>
              </a:spcAft>
            </a:pPr>
            <a:r>
              <a:rPr sz="950" b="0" i="0">
                <a:solidFill>
                  <a:srgbClr val="5F6368"/>
                </a:solidFill>
                <a:latin typeface="Arial"/>
              </a:rPr>
              <a:t>AA consent; GST, ITR, MCA; uploads</a:t>
            </a:r>
          </a:p>
        </p:txBody>
      </p:sp>
      <p:cxnSp>
        <p:nvCxnSpPr>
          <p:cNvPr id="101" name="Connector 100"/>
          <p:cNvCxnSpPr/>
          <p:nvPr/>
        </p:nvCxnSpPr>
        <p:spPr>
          <a:xfrm>
            <a:off x="1408176" y="2075688"/>
            <a:ext cx="132588" cy="0"/>
          </a:xfrm>
          <a:prstGeom prst="line">
            <a:avLst/>
          </a:prstGeom>
          <a:ln w="15875">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2" name="step_1"/>
          <p:cNvSpPr/>
          <p:nvPr/>
        </p:nvSpPr>
        <p:spPr>
          <a:xfrm>
            <a:off x="1559052" y="1234440"/>
            <a:ext cx="1069848" cy="169164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3" name="step_1_circle"/>
          <p:cNvSpPr/>
          <p:nvPr/>
        </p:nvSpPr>
        <p:spPr>
          <a:xfrm>
            <a:off x="1865376" y="1371600"/>
            <a:ext cx="457200" cy="457200"/>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4" name="step_1_icon" descr="scan_w.png"/>
          <p:cNvPicPr>
            <a:picLocks noChangeAspect="1"/>
          </p:cNvPicPr>
          <p:nvPr/>
        </p:nvPicPr>
        <p:blipFill>
          <a:blip r:embed="rId6"/>
          <a:stretch>
            <a:fillRect/>
          </a:stretch>
        </p:blipFill>
        <p:spPr>
          <a:xfrm>
            <a:off x="1965960" y="1472184"/>
            <a:ext cx="256032" cy="256032"/>
          </a:xfrm>
          <a:prstGeom prst="rect">
            <a:avLst/>
          </a:prstGeom>
        </p:spPr>
      </p:pic>
      <p:sp>
        <p:nvSpPr>
          <p:cNvPr id="105" name="TextBox 104"/>
          <p:cNvSpPr txBox="1"/>
          <p:nvPr/>
        </p:nvSpPr>
        <p:spPr>
          <a:xfrm>
            <a:off x="1613916" y="1901952"/>
            <a:ext cx="960119" cy="256032"/>
          </a:xfrm>
          <a:prstGeom prst="rect">
            <a:avLst/>
          </a:prstGeom>
          <a:noFill/>
        </p:spPr>
        <p:txBody>
          <a:bodyPr wrap="square" lIns="0" tIns="0" rIns="0" bIns="0" anchor="t">
            <a:noAutofit/>
          </a:bodyPr>
          <a:lstStyle/>
          <a:p>
            <a:pPr algn="ctr">
              <a:spcBef>
                <a:spcPts val="0"/>
              </a:spcBef>
              <a:spcAft>
                <a:spcPts val="300"/>
              </a:spcAft>
            </a:pPr>
            <a:r>
              <a:rPr sz="1100" b="1" i="0">
                <a:solidFill>
                  <a:srgbClr val="202124"/>
                </a:solidFill>
                <a:latin typeface="Arial"/>
              </a:rPr>
              <a:t>2. Extract</a:t>
            </a:r>
          </a:p>
        </p:txBody>
      </p:sp>
      <p:sp>
        <p:nvSpPr>
          <p:cNvPr id="106" name="TextBox 105"/>
          <p:cNvSpPr txBox="1"/>
          <p:nvPr/>
        </p:nvSpPr>
        <p:spPr>
          <a:xfrm>
            <a:off x="1632204" y="2176272"/>
            <a:ext cx="923544" cy="713232"/>
          </a:xfrm>
          <a:prstGeom prst="rect">
            <a:avLst/>
          </a:prstGeom>
          <a:noFill/>
        </p:spPr>
        <p:txBody>
          <a:bodyPr wrap="square" lIns="0" tIns="0" rIns="0" bIns="0" anchor="t">
            <a:noAutofit/>
          </a:bodyPr>
          <a:lstStyle/>
          <a:p>
            <a:pPr algn="ctr">
              <a:spcBef>
                <a:spcPts val="0"/>
              </a:spcBef>
              <a:spcAft>
                <a:spcPts val="300"/>
              </a:spcAft>
            </a:pPr>
            <a:r>
              <a:rPr sz="950" b="0" i="0">
                <a:solidFill>
                  <a:srgbClr val="5F6368"/>
                </a:solidFill>
                <a:latin typeface="Arial"/>
              </a:rPr>
              <a:t>Gemini Flash reads every page in Mumbai</a:t>
            </a:r>
          </a:p>
        </p:txBody>
      </p:sp>
      <p:cxnSp>
        <p:nvCxnSpPr>
          <p:cNvPr id="107" name="Connector 106"/>
          <p:cNvCxnSpPr/>
          <p:nvPr/>
        </p:nvCxnSpPr>
        <p:spPr>
          <a:xfrm>
            <a:off x="2647188" y="2075688"/>
            <a:ext cx="132588" cy="0"/>
          </a:xfrm>
          <a:prstGeom prst="line">
            <a:avLst/>
          </a:prstGeom>
          <a:ln w="15875">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8" name="step_2"/>
          <p:cNvSpPr/>
          <p:nvPr/>
        </p:nvSpPr>
        <p:spPr>
          <a:xfrm>
            <a:off x="2798064" y="1234440"/>
            <a:ext cx="1069848" cy="169164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9" name="step_2_circle"/>
          <p:cNvSpPr/>
          <p:nvPr/>
        </p:nvSpPr>
        <p:spPr>
          <a:xfrm>
            <a:off x="3104388" y="1371600"/>
            <a:ext cx="457200" cy="457200"/>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0" name="step_2_icon" descr="calc_w.png"/>
          <p:cNvPicPr>
            <a:picLocks noChangeAspect="1"/>
          </p:cNvPicPr>
          <p:nvPr/>
        </p:nvPicPr>
        <p:blipFill>
          <a:blip r:embed="rId7"/>
          <a:stretch>
            <a:fillRect/>
          </a:stretch>
        </p:blipFill>
        <p:spPr>
          <a:xfrm>
            <a:off x="3204972" y="1472184"/>
            <a:ext cx="256032" cy="256032"/>
          </a:xfrm>
          <a:prstGeom prst="rect">
            <a:avLst/>
          </a:prstGeom>
        </p:spPr>
      </p:pic>
      <p:sp>
        <p:nvSpPr>
          <p:cNvPr id="111" name="TextBox 110"/>
          <p:cNvSpPr txBox="1"/>
          <p:nvPr/>
        </p:nvSpPr>
        <p:spPr>
          <a:xfrm>
            <a:off x="2852928" y="1901952"/>
            <a:ext cx="960119" cy="256032"/>
          </a:xfrm>
          <a:prstGeom prst="rect">
            <a:avLst/>
          </a:prstGeom>
          <a:noFill/>
        </p:spPr>
        <p:txBody>
          <a:bodyPr wrap="square" lIns="0" tIns="0" rIns="0" bIns="0" anchor="t">
            <a:noAutofit/>
          </a:bodyPr>
          <a:lstStyle/>
          <a:p>
            <a:pPr algn="ctr">
              <a:spcBef>
                <a:spcPts val="0"/>
              </a:spcBef>
              <a:spcAft>
                <a:spcPts val="300"/>
              </a:spcAft>
            </a:pPr>
            <a:r>
              <a:rPr sz="1100" b="1" i="0">
                <a:solidFill>
                  <a:srgbClr val="202124"/>
                </a:solidFill>
                <a:latin typeface="Arial"/>
              </a:rPr>
              <a:t>3. Check</a:t>
            </a:r>
          </a:p>
        </p:txBody>
      </p:sp>
      <p:sp>
        <p:nvSpPr>
          <p:cNvPr id="112" name="TextBox 111"/>
          <p:cNvSpPr txBox="1"/>
          <p:nvPr/>
        </p:nvSpPr>
        <p:spPr>
          <a:xfrm>
            <a:off x="2871216" y="2176272"/>
            <a:ext cx="923544" cy="713232"/>
          </a:xfrm>
          <a:prstGeom prst="rect">
            <a:avLst/>
          </a:prstGeom>
          <a:noFill/>
        </p:spPr>
        <p:txBody>
          <a:bodyPr wrap="square" lIns="0" tIns="0" rIns="0" bIns="0" anchor="t">
            <a:noAutofit/>
          </a:bodyPr>
          <a:lstStyle/>
          <a:p>
            <a:pPr algn="ctr">
              <a:spcBef>
                <a:spcPts val="0"/>
              </a:spcBef>
              <a:spcAft>
                <a:spcPts val="300"/>
              </a:spcAft>
            </a:pPr>
            <a:r>
              <a:rPr sz="950" b="0" i="0">
                <a:solidFill>
                  <a:srgbClr val="5F6368"/>
                </a:solidFill>
                <a:latin typeface="Arial"/>
              </a:rPr>
              <a:t>Nine checks, bank record, bank risk flags</a:t>
            </a:r>
          </a:p>
        </p:txBody>
      </p:sp>
      <p:cxnSp>
        <p:nvCxnSpPr>
          <p:cNvPr id="113" name="Connector 112"/>
          <p:cNvCxnSpPr/>
          <p:nvPr/>
        </p:nvCxnSpPr>
        <p:spPr>
          <a:xfrm>
            <a:off x="3886200" y="2075688"/>
            <a:ext cx="132588" cy="0"/>
          </a:xfrm>
          <a:prstGeom prst="line">
            <a:avLst/>
          </a:prstGeom>
          <a:ln w="15875">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4" name="step_3"/>
          <p:cNvSpPr/>
          <p:nvPr/>
        </p:nvSpPr>
        <p:spPr>
          <a:xfrm>
            <a:off x="4037075" y="1234440"/>
            <a:ext cx="1069848" cy="169164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5" name="step_3_circle"/>
          <p:cNvSpPr/>
          <p:nvPr/>
        </p:nvSpPr>
        <p:spPr>
          <a:xfrm>
            <a:off x="4343399" y="1371600"/>
            <a:ext cx="457200" cy="457200"/>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6" name="step_3_icon" descr="ring_w.png"/>
          <p:cNvPicPr>
            <a:picLocks noChangeAspect="1"/>
          </p:cNvPicPr>
          <p:nvPr/>
        </p:nvPicPr>
        <p:blipFill>
          <a:blip r:embed="rId8"/>
          <a:stretch>
            <a:fillRect/>
          </a:stretch>
        </p:blipFill>
        <p:spPr>
          <a:xfrm>
            <a:off x="4443983" y="1472184"/>
            <a:ext cx="256032" cy="256032"/>
          </a:xfrm>
          <a:prstGeom prst="rect">
            <a:avLst/>
          </a:prstGeom>
        </p:spPr>
      </p:pic>
      <p:sp>
        <p:nvSpPr>
          <p:cNvPr id="117" name="TextBox 116"/>
          <p:cNvSpPr txBox="1"/>
          <p:nvPr/>
        </p:nvSpPr>
        <p:spPr>
          <a:xfrm>
            <a:off x="4091939" y="1901952"/>
            <a:ext cx="960119" cy="256032"/>
          </a:xfrm>
          <a:prstGeom prst="rect">
            <a:avLst/>
          </a:prstGeom>
          <a:noFill/>
        </p:spPr>
        <p:txBody>
          <a:bodyPr wrap="square" lIns="0" tIns="0" rIns="0" bIns="0" anchor="t">
            <a:noAutofit/>
          </a:bodyPr>
          <a:lstStyle/>
          <a:p>
            <a:pPr algn="ctr">
              <a:spcBef>
                <a:spcPts val="0"/>
              </a:spcBef>
              <a:spcAft>
                <a:spcPts val="300"/>
              </a:spcAft>
            </a:pPr>
            <a:r>
              <a:rPr sz="1100" b="1" i="0">
                <a:solidFill>
                  <a:srgbClr val="202124"/>
                </a:solidFill>
                <a:latin typeface="Arial"/>
              </a:rPr>
              <a:t>4. Link</a:t>
            </a:r>
          </a:p>
        </p:txBody>
      </p:sp>
      <p:sp>
        <p:nvSpPr>
          <p:cNvPr id="118" name="TextBox 117"/>
          <p:cNvSpPr txBox="1"/>
          <p:nvPr/>
        </p:nvSpPr>
        <p:spPr>
          <a:xfrm>
            <a:off x="4110227" y="2176272"/>
            <a:ext cx="923544" cy="713232"/>
          </a:xfrm>
          <a:prstGeom prst="rect">
            <a:avLst/>
          </a:prstGeom>
          <a:noFill/>
        </p:spPr>
        <p:txBody>
          <a:bodyPr wrap="square" lIns="0" tIns="0" rIns="0" bIns="0" anchor="t">
            <a:noAutofit/>
          </a:bodyPr>
          <a:lstStyle/>
          <a:p>
            <a:pPr algn="ctr">
              <a:spcBef>
                <a:spcPts val="0"/>
              </a:spcBef>
              <a:spcAft>
                <a:spcPts val="300"/>
              </a:spcAft>
            </a:pPr>
            <a:r>
              <a:rPr sz="950" b="0" i="0">
                <a:solidFill>
                  <a:srgbClr val="5F6368"/>
                </a:solidFill>
                <a:latin typeface="Arial"/>
              </a:rPr>
              <a:t>Directors, contacts, files, GST loops</a:t>
            </a:r>
          </a:p>
        </p:txBody>
      </p:sp>
      <p:cxnSp>
        <p:nvCxnSpPr>
          <p:cNvPr id="119" name="Connector 118"/>
          <p:cNvCxnSpPr/>
          <p:nvPr/>
        </p:nvCxnSpPr>
        <p:spPr>
          <a:xfrm>
            <a:off x="5125211" y="2075688"/>
            <a:ext cx="132588" cy="0"/>
          </a:xfrm>
          <a:prstGeom prst="line">
            <a:avLst/>
          </a:prstGeom>
          <a:ln w="15875">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0" name="step_4"/>
          <p:cNvSpPr/>
          <p:nvPr/>
        </p:nvSpPr>
        <p:spPr>
          <a:xfrm>
            <a:off x="5276088" y="1234440"/>
            <a:ext cx="1069848" cy="169164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1" name="step_4_circle"/>
          <p:cNvSpPr/>
          <p:nvPr/>
        </p:nvSpPr>
        <p:spPr>
          <a:xfrm>
            <a:off x="5582412" y="1371600"/>
            <a:ext cx="457200" cy="457200"/>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2" name="step_4_icon" descr="bot_w.png"/>
          <p:cNvPicPr>
            <a:picLocks noChangeAspect="1"/>
          </p:cNvPicPr>
          <p:nvPr/>
        </p:nvPicPr>
        <p:blipFill>
          <a:blip r:embed="rId9"/>
          <a:stretch>
            <a:fillRect/>
          </a:stretch>
        </p:blipFill>
        <p:spPr>
          <a:xfrm>
            <a:off x="5682996" y="1472184"/>
            <a:ext cx="256032" cy="256032"/>
          </a:xfrm>
          <a:prstGeom prst="rect">
            <a:avLst/>
          </a:prstGeom>
        </p:spPr>
      </p:pic>
      <p:sp>
        <p:nvSpPr>
          <p:cNvPr id="123" name="TextBox 122"/>
          <p:cNvSpPr txBox="1"/>
          <p:nvPr/>
        </p:nvSpPr>
        <p:spPr>
          <a:xfrm>
            <a:off x="5330951" y="1901952"/>
            <a:ext cx="960119" cy="256032"/>
          </a:xfrm>
          <a:prstGeom prst="rect">
            <a:avLst/>
          </a:prstGeom>
          <a:noFill/>
        </p:spPr>
        <p:txBody>
          <a:bodyPr wrap="square" lIns="0" tIns="0" rIns="0" bIns="0" anchor="t">
            <a:noAutofit/>
          </a:bodyPr>
          <a:lstStyle/>
          <a:p>
            <a:pPr algn="ctr">
              <a:spcBef>
                <a:spcPts val="0"/>
              </a:spcBef>
              <a:spcAft>
                <a:spcPts val="300"/>
              </a:spcAft>
            </a:pPr>
            <a:r>
              <a:rPr sz="1100" b="1" i="0">
                <a:solidFill>
                  <a:srgbClr val="202124"/>
                </a:solidFill>
                <a:latin typeface="Arial"/>
              </a:rPr>
              <a:t>5. Investigate</a:t>
            </a:r>
          </a:p>
        </p:txBody>
      </p:sp>
      <p:sp>
        <p:nvSpPr>
          <p:cNvPr id="124" name="TextBox 123"/>
          <p:cNvSpPr txBox="1"/>
          <p:nvPr/>
        </p:nvSpPr>
        <p:spPr>
          <a:xfrm>
            <a:off x="5349240" y="2176272"/>
            <a:ext cx="923544" cy="713232"/>
          </a:xfrm>
          <a:prstGeom prst="rect">
            <a:avLst/>
          </a:prstGeom>
          <a:noFill/>
        </p:spPr>
        <p:txBody>
          <a:bodyPr wrap="square" lIns="0" tIns="0" rIns="0" bIns="0" anchor="t">
            <a:noAutofit/>
          </a:bodyPr>
          <a:lstStyle/>
          <a:p>
            <a:pPr algn="ctr">
              <a:spcBef>
                <a:spcPts val="0"/>
              </a:spcBef>
              <a:spcAft>
                <a:spcPts val="300"/>
              </a:spcAft>
            </a:pPr>
            <a:r>
              <a:rPr sz="950" b="0" i="0">
                <a:solidFill>
                  <a:srgbClr val="5F6368"/>
                </a:solidFill>
                <a:latin typeface="Arial"/>
              </a:rPr>
              <a:t>Gemini Pro agent; every claim verified</a:t>
            </a:r>
          </a:p>
        </p:txBody>
      </p:sp>
      <p:cxnSp>
        <p:nvCxnSpPr>
          <p:cNvPr id="125" name="Connector 124"/>
          <p:cNvCxnSpPr/>
          <p:nvPr/>
        </p:nvCxnSpPr>
        <p:spPr>
          <a:xfrm>
            <a:off x="6364223" y="2075688"/>
            <a:ext cx="132589" cy="0"/>
          </a:xfrm>
          <a:prstGeom prst="line">
            <a:avLst/>
          </a:prstGeom>
          <a:ln w="15875">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6" name="step_5"/>
          <p:cNvSpPr/>
          <p:nvPr/>
        </p:nvSpPr>
        <p:spPr>
          <a:xfrm>
            <a:off x="6515100" y="1234440"/>
            <a:ext cx="1069848" cy="169164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7" name="step_5_circle"/>
          <p:cNvSpPr/>
          <p:nvPr/>
        </p:nvSpPr>
        <p:spPr>
          <a:xfrm>
            <a:off x="6821424" y="1371600"/>
            <a:ext cx="457200" cy="457200"/>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8" name="step_5_icon" descr="review_w.png"/>
          <p:cNvPicPr>
            <a:picLocks noChangeAspect="1"/>
          </p:cNvPicPr>
          <p:nvPr/>
        </p:nvPicPr>
        <p:blipFill>
          <a:blip r:embed="rId10"/>
          <a:stretch>
            <a:fillRect/>
          </a:stretch>
        </p:blipFill>
        <p:spPr>
          <a:xfrm>
            <a:off x="6922008" y="1472184"/>
            <a:ext cx="256032" cy="256032"/>
          </a:xfrm>
          <a:prstGeom prst="rect">
            <a:avLst/>
          </a:prstGeom>
        </p:spPr>
      </p:pic>
      <p:sp>
        <p:nvSpPr>
          <p:cNvPr id="129" name="TextBox 128"/>
          <p:cNvSpPr txBox="1"/>
          <p:nvPr/>
        </p:nvSpPr>
        <p:spPr>
          <a:xfrm>
            <a:off x="6569964" y="1901952"/>
            <a:ext cx="960119" cy="256032"/>
          </a:xfrm>
          <a:prstGeom prst="rect">
            <a:avLst/>
          </a:prstGeom>
          <a:noFill/>
        </p:spPr>
        <p:txBody>
          <a:bodyPr wrap="square" lIns="0" tIns="0" rIns="0" bIns="0" anchor="t">
            <a:noAutofit/>
          </a:bodyPr>
          <a:lstStyle/>
          <a:p>
            <a:pPr algn="ctr">
              <a:spcBef>
                <a:spcPts val="0"/>
              </a:spcBef>
              <a:spcAft>
                <a:spcPts val="300"/>
              </a:spcAft>
            </a:pPr>
            <a:r>
              <a:rPr sz="1100" b="1" i="0">
                <a:solidFill>
                  <a:srgbClr val="202124"/>
                </a:solidFill>
                <a:latin typeface="Arial"/>
              </a:rPr>
              <a:t>6. Risk Lens</a:t>
            </a:r>
          </a:p>
        </p:txBody>
      </p:sp>
      <p:sp>
        <p:nvSpPr>
          <p:cNvPr id="130" name="TextBox 129"/>
          <p:cNvSpPr txBox="1"/>
          <p:nvPr/>
        </p:nvSpPr>
        <p:spPr>
          <a:xfrm>
            <a:off x="6588252" y="2176272"/>
            <a:ext cx="923544" cy="713232"/>
          </a:xfrm>
          <a:prstGeom prst="rect">
            <a:avLst/>
          </a:prstGeom>
          <a:noFill/>
        </p:spPr>
        <p:txBody>
          <a:bodyPr wrap="square" lIns="0" tIns="0" rIns="0" bIns="0" anchor="t">
            <a:noAutofit/>
          </a:bodyPr>
          <a:lstStyle/>
          <a:p>
            <a:pPr algn="ctr">
              <a:spcBef>
                <a:spcPts val="0"/>
              </a:spcBef>
              <a:spcAft>
                <a:spcPts val="300"/>
              </a:spcAft>
            </a:pPr>
            <a:r>
              <a:rPr sz="950" b="0" i="0">
                <a:solidFill>
                  <a:srgbClr val="5F6368"/>
                </a:solidFill>
                <a:latin typeface="Arial"/>
              </a:rPr>
              <a:t>Verdict per customer; officer reviews</a:t>
            </a:r>
          </a:p>
        </p:txBody>
      </p:sp>
      <p:cxnSp>
        <p:nvCxnSpPr>
          <p:cNvPr id="131" name="Connector 130"/>
          <p:cNvCxnSpPr/>
          <p:nvPr/>
        </p:nvCxnSpPr>
        <p:spPr>
          <a:xfrm>
            <a:off x="7603236" y="2075688"/>
            <a:ext cx="132588" cy="0"/>
          </a:xfrm>
          <a:prstGeom prst="line">
            <a:avLst/>
          </a:prstGeom>
          <a:ln w="15875">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2" name="step_6"/>
          <p:cNvSpPr/>
          <p:nvPr/>
        </p:nvSpPr>
        <p:spPr>
          <a:xfrm>
            <a:off x="7754111" y="1234440"/>
            <a:ext cx="1069848" cy="169164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3" name="step_6_circle"/>
          <p:cNvSpPr/>
          <p:nvPr/>
        </p:nvSpPr>
        <p:spPr>
          <a:xfrm>
            <a:off x="8060435" y="1371600"/>
            <a:ext cx="457200" cy="457200"/>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4" name="step_6_icon" descr="rupee_w.png"/>
          <p:cNvPicPr>
            <a:picLocks noChangeAspect="1"/>
          </p:cNvPicPr>
          <p:nvPr/>
        </p:nvPicPr>
        <p:blipFill>
          <a:blip r:embed="rId11"/>
          <a:stretch>
            <a:fillRect/>
          </a:stretch>
        </p:blipFill>
        <p:spPr>
          <a:xfrm>
            <a:off x="8161019" y="1472184"/>
            <a:ext cx="256032" cy="256032"/>
          </a:xfrm>
          <a:prstGeom prst="rect">
            <a:avLst/>
          </a:prstGeom>
        </p:spPr>
      </p:pic>
      <p:sp>
        <p:nvSpPr>
          <p:cNvPr id="135" name="TextBox 134"/>
          <p:cNvSpPr txBox="1"/>
          <p:nvPr/>
        </p:nvSpPr>
        <p:spPr>
          <a:xfrm>
            <a:off x="7808975" y="1901952"/>
            <a:ext cx="960119" cy="256032"/>
          </a:xfrm>
          <a:prstGeom prst="rect">
            <a:avLst/>
          </a:prstGeom>
          <a:noFill/>
        </p:spPr>
        <p:txBody>
          <a:bodyPr wrap="square" lIns="0" tIns="0" rIns="0" bIns="0" anchor="t">
            <a:noAutofit/>
          </a:bodyPr>
          <a:lstStyle/>
          <a:p>
            <a:pPr algn="ctr">
              <a:spcBef>
                <a:spcPts val="0"/>
              </a:spcBef>
              <a:spcAft>
                <a:spcPts val="300"/>
              </a:spcAft>
            </a:pPr>
            <a:r>
              <a:rPr sz="1100" b="1" i="0">
                <a:solidFill>
                  <a:srgbClr val="202124"/>
                </a:solidFill>
                <a:latin typeface="Arial"/>
              </a:rPr>
              <a:t>7. Decide</a:t>
            </a:r>
          </a:p>
        </p:txBody>
      </p:sp>
      <p:sp>
        <p:nvSpPr>
          <p:cNvPr id="136" name="TextBox 135"/>
          <p:cNvSpPr txBox="1"/>
          <p:nvPr/>
        </p:nvSpPr>
        <p:spPr>
          <a:xfrm>
            <a:off x="7827263" y="2176272"/>
            <a:ext cx="923544" cy="713232"/>
          </a:xfrm>
          <a:prstGeom prst="rect">
            <a:avLst/>
          </a:prstGeom>
          <a:noFill/>
        </p:spPr>
        <p:txBody>
          <a:bodyPr wrap="square" lIns="0" tIns="0" rIns="0" bIns="0" anchor="t">
            <a:noAutofit/>
          </a:bodyPr>
          <a:lstStyle/>
          <a:p>
            <a:pPr algn="ctr">
              <a:spcBef>
                <a:spcPts val="0"/>
              </a:spcBef>
              <a:spcAft>
                <a:spcPts val="300"/>
              </a:spcAft>
            </a:pPr>
            <a:r>
              <a:rPr sz="950" b="0" i="0">
                <a:solidFill>
                  <a:srgbClr val="5F6368"/>
                </a:solidFill>
                <a:latin typeface="Arial"/>
              </a:rPr>
              <a:t>AI credit decision → LOS · ULI · ONDC</a:t>
            </a:r>
          </a:p>
        </p:txBody>
      </p:sp>
      <p:sp>
        <p:nvSpPr>
          <p:cNvPr id="137" name="TextBox 136"/>
          <p:cNvSpPr txBox="1"/>
          <p:nvPr/>
        </p:nvSpPr>
        <p:spPr>
          <a:xfrm>
            <a:off x="320040" y="3063239"/>
            <a:ext cx="3657600" cy="228600"/>
          </a:xfrm>
          <a:prstGeom prst="rect">
            <a:avLst/>
          </a:prstGeom>
          <a:noFill/>
        </p:spPr>
        <p:txBody>
          <a:bodyPr wrap="square" lIns="0" tIns="0" rIns="0" bIns="0" anchor="t">
            <a:noAutofit/>
          </a:bodyPr>
          <a:lstStyle/>
          <a:p>
            <a:pPr algn="l">
              <a:spcBef>
                <a:spcPts val="0"/>
              </a:spcBef>
              <a:spcAft>
                <a:spcPts val="300"/>
              </a:spcAft>
            </a:pPr>
            <a:r>
              <a:rPr sz="950" b="0" i="0">
                <a:solidFill>
                  <a:srgbClr val="1A73E8"/>
                </a:solidFill>
                <a:latin typeface="Arial"/>
              </a:rPr>
              <a:t>■ </a:t>
            </a:r>
            <a:r>
              <a:rPr sz="950" b="0" i="0">
                <a:solidFill>
                  <a:srgbClr val="5F6368"/>
                </a:solidFill>
                <a:latin typeface="Arial"/>
              </a:rPr>
              <a:t>Gemini on Vertex AI   </a:t>
            </a:r>
            <a:r>
              <a:rPr sz="950" b="0" i="0">
                <a:solidFill>
                  <a:srgbClr val="7A1230"/>
                </a:solidFill>
                <a:latin typeface="Arial"/>
              </a:rPr>
              <a:t>■ </a:t>
            </a:r>
            <a:r>
              <a:rPr sz="950" b="0" i="0">
                <a:solidFill>
                  <a:srgbClr val="5F6368"/>
                </a:solidFill>
                <a:latin typeface="Arial"/>
              </a:rPr>
              <a:t>Deterministic code</a:t>
            </a:r>
          </a:p>
        </p:txBody>
      </p:sp>
      <p:sp>
        <p:nvSpPr>
          <p:cNvPr id="138" name="actor_0"/>
          <p:cNvSpPr/>
          <p:nvPr/>
        </p:nvSpPr>
        <p:spPr>
          <a:xfrm>
            <a:off x="320040" y="3429000"/>
            <a:ext cx="2743200" cy="1417320"/>
          </a:xfrm>
          <a:prstGeom prst="roundRect">
            <a:avLst>
              <a:gd name="adj" fmla="val 6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9" name="actor_0_circle"/>
          <p:cNvSpPr/>
          <p:nvPr/>
        </p:nvSpPr>
        <p:spPr>
          <a:xfrm>
            <a:off x="457200" y="3566160"/>
            <a:ext cx="384048" cy="384048"/>
          </a:xfrm>
          <a:prstGeom prst="ellipse">
            <a:avLst/>
          </a:prstGeom>
          <a:solidFill>
            <a:srgbClr val="5F63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40" name="actor_0_icon" descr="bank_w.png"/>
          <p:cNvPicPr>
            <a:picLocks noChangeAspect="1"/>
          </p:cNvPicPr>
          <p:nvPr/>
        </p:nvPicPr>
        <p:blipFill>
          <a:blip r:embed="rId12"/>
          <a:stretch>
            <a:fillRect/>
          </a:stretch>
        </p:blipFill>
        <p:spPr>
          <a:xfrm>
            <a:off x="541690" y="3650650"/>
            <a:ext cx="215066" cy="215066"/>
          </a:xfrm>
          <a:prstGeom prst="rect">
            <a:avLst/>
          </a:prstGeom>
        </p:spPr>
      </p:pic>
      <p:sp>
        <p:nvSpPr>
          <p:cNvPr id="141" name="TextBox 140"/>
          <p:cNvSpPr txBox="1"/>
          <p:nvPr/>
        </p:nvSpPr>
        <p:spPr>
          <a:xfrm>
            <a:off x="941832" y="3566160"/>
            <a:ext cx="2011680" cy="384048"/>
          </a:xfrm>
          <a:prstGeom prst="rect">
            <a:avLst/>
          </a:prstGeom>
          <a:noFill/>
        </p:spPr>
        <p:txBody>
          <a:bodyPr wrap="square" lIns="0" tIns="0" rIns="0" bIns="0" anchor="ctr">
            <a:noAutofit/>
          </a:bodyPr>
          <a:lstStyle/>
          <a:p>
            <a:pPr algn="l">
              <a:spcBef>
                <a:spcPts val="0"/>
              </a:spcBef>
              <a:spcAft>
                <a:spcPts val="300"/>
              </a:spcAft>
            </a:pPr>
            <a:r>
              <a:rPr sz="1200" b="1" i="0">
                <a:solidFill>
                  <a:srgbClr val="202124"/>
                </a:solidFill>
                <a:latin typeface="Arial"/>
              </a:rPr>
              <a:t>Customer (MSME)</a:t>
            </a:r>
          </a:p>
        </p:txBody>
      </p:sp>
      <p:sp>
        <p:nvSpPr>
          <p:cNvPr id="142" name="TextBox 141"/>
          <p:cNvSpPr txBox="1"/>
          <p:nvPr/>
        </p:nvSpPr>
        <p:spPr>
          <a:xfrm>
            <a:off x="457200" y="4023360"/>
            <a:ext cx="2468880" cy="777240"/>
          </a:xfrm>
          <a:prstGeom prst="rect">
            <a:avLst/>
          </a:prstGeom>
          <a:noFill/>
        </p:spPr>
        <p:txBody>
          <a:bodyPr wrap="square" lIns="0" tIns="0" rIns="0" bIns="0" anchor="t">
            <a:noAutofit/>
          </a:bodyPr>
          <a:lstStyle/>
          <a:p>
            <a:pPr algn="l">
              <a:spcBef>
                <a:spcPts val="0"/>
              </a:spcBef>
              <a:spcAft>
                <a:spcPts val="300"/>
              </a:spcAft>
            </a:pPr>
            <a:r>
              <a:rPr sz="1000" b="0" i="0">
                <a:solidFill>
                  <a:srgbClr val="202124"/>
                </a:solidFill>
                <a:latin typeface="Arial"/>
              </a:rPr>
              <a:t>Registers with the Udyam number, shares bank data through Account Aggregator, fetches GST, ITR and MCA, uploads documents</a:t>
            </a:r>
          </a:p>
        </p:txBody>
      </p:sp>
      <p:sp>
        <p:nvSpPr>
          <p:cNvPr id="143" name="actor_1"/>
          <p:cNvSpPr/>
          <p:nvPr/>
        </p:nvSpPr>
        <p:spPr>
          <a:xfrm>
            <a:off x="3200400" y="3429000"/>
            <a:ext cx="2743200" cy="1417320"/>
          </a:xfrm>
          <a:prstGeom prst="roundRect">
            <a:avLst>
              <a:gd name="adj" fmla="val 6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4" name="actor_1_circle"/>
          <p:cNvSpPr/>
          <p:nvPr/>
        </p:nvSpPr>
        <p:spPr>
          <a:xfrm>
            <a:off x="3337560" y="3566160"/>
            <a:ext cx="384048" cy="384048"/>
          </a:xfrm>
          <a:prstGeom prst="ellipse">
            <a:avLst/>
          </a:prstGeom>
          <a:solidFill>
            <a:srgbClr val="5F63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45" name="actor_1_icon" descr="users_w.png"/>
          <p:cNvPicPr>
            <a:picLocks noChangeAspect="1"/>
          </p:cNvPicPr>
          <p:nvPr/>
        </p:nvPicPr>
        <p:blipFill>
          <a:blip r:embed="rId13"/>
          <a:stretch>
            <a:fillRect/>
          </a:stretch>
        </p:blipFill>
        <p:spPr>
          <a:xfrm>
            <a:off x="3422050" y="3650650"/>
            <a:ext cx="215066" cy="215066"/>
          </a:xfrm>
          <a:prstGeom prst="rect">
            <a:avLst/>
          </a:prstGeom>
        </p:spPr>
      </p:pic>
      <p:sp>
        <p:nvSpPr>
          <p:cNvPr id="146" name="TextBox 145"/>
          <p:cNvSpPr txBox="1"/>
          <p:nvPr/>
        </p:nvSpPr>
        <p:spPr>
          <a:xfrm>
            <a:off x="3822191" y="3566160"/>
            <a:ext cx="2011680" cy="384048"/>
          </a:xfrm>
          <a:prstGeom prst="rect">
            <a:avLst/>
          </a:prstGeom>
          <a:noFill/>
        </p:spPr>
        <p:txBody>
          <a:bodyPr wrap="square" lIns="0" tIns="0" rIns="0" bIns="0" anchor="ctr">
            <a:noAutofit/>
          </a:bodyPr>
          <a:lstStyle/>
          <a:p>
            <a:pPr algn="l">
              <a:spcBef>
                <a:spcPts val="0"/>
              </a:spcBef>
              <a:spcAft>
                <a:spcPts val="300"/>
              </a:spcAft>
            </a:pPr>
            <a:r>
              <a:rPr sz="1200" b="1" i="0">
                <a:solidFill>
                  <a:srgbClr val="202124"/>
                </a:solidFill>
                <a:latin typeface="Arial"/>
              </a:rPr>
              <a:t>Credit officer</a:t>
            </a:r>
          </a:p>
        </p:txBody>
      </p:sp>
      <p:sp>
        <p:nvSpPr>
          <p:cNvPr id="147" name="TextBox 146"/>
          <p:cNvSpPr txBox="1"/>
          <p:nvPr/>
        </p:nvSpPr>
        <p:spPr>
          <a:xfrm>
            <a:off x="3337560" y="4023360"/>
            <a:ext cx="2468880" cy="777240"/>
          </a:xfrm>
          <a:prstGeom prst="rect">
            <a:avLst/>
          </a:prstGeom>
          <a:noFill/>
        </p:spPr>
        <p:txBody>
          <a:bodyPr wrap="square" lIns="0" tIns="0" rIns="0" bIns="0" anchor="t">
            <a:noAutofit/>
          </a:bodyPr>
          <a:lstStyle/>
          <a:p>
            <a:pPr algn="l">
              <a:spcBef>
                <a:spcPts val="0"/>
              </a:spcBef>
              <a:spcAft>
                <a:spcPts val="300"/>
              </a:spcAft>
            </a:pPr>
            <a:r>
              <a:rPr sz="1000" b="0" i="0">
                <a:solidFill>
                  <a:srgbClr val="202124"/>
                </a:solidFill>
                <a:latin typeface="Arial"/>
              </a:rPr>
              <a:t>One Risk Lens per customer: reviews each finding, generates and accepts the credit decision, sends the loan case</a:t>
            </a:r>
          </a:p>
        </p:txBody>
      </p:sp>
      <p:sp>
        <p:nvSpPr>
          <p:cNvPr id="148" name="actor_2"/>
          <p:cNvSpPr/>
          <p:nvPr/>
        </p:nvSpPr>
        <p:spPr>
          <a:xfrm>
            <a:off x="6080759" y="3429000"/>
            <a:ext cx="2743200" cy="1417320"/>
          </a:xfrm>
          <a:prstGeom prst="roundRect">
            <a:avLst>
              <a:gd name="adj" fmla="val 6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9" name="actor_2_circle"/>
          <p:cNvSpPr/>
          <p:nvPr/>
        </p:nvSpPr>
        <p:spPr>
          <a:xfrm>
            <a:off x="6217920" y="3566160"/>
            <a:ext cx="384048" cy="384048"/>
          </a:xfrm>
          <a:prstGeom prst="ellipse">
            <a:avLst/>
          </a:prstGeom>
          <a:solidFill>
            <a:srgbClr val="5F63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0" name="actor_2_icon" descr="globe_w.png"/>
          <p:cNvPicPr>
            <a:picLocks noChangeAspect="1"/>
          </p:cNvPicPr>
          <p:nvPr/>
        </p:nvPicPr>
        <p:blipFill>
          <a:blip r:embed="rId14"/>
          <a:stretch>
            <a:fillRect/>
          </a:stretch>
        </p:blipFill>
        <p:spPr>
          <a:xfrm>
            <a:off x="6302410" y="3650650"/>
            <a:ext cx="215066" cy="215066"/>
          </a:xfrm>
          <a:prstGeom prst="rect">
            <a:avLst/>
          </a:prstGeom>
        </p:spPr>
      </p:pic>
      <p:sp>
        <p:nvSpPr>
          <p:cNvPr id="151" name="TextBox 150"/>
          <p:cNvSpPr txBox="1"/>
          <p:nvPr/>
        </p:nvSpPr>
        <p:spPr>
          <a:xfrm>
            <a:off x="6702551" y="3566160"/>
            <a:ext cx="2011680" cy="384048"/>
          </a:xfrm>
          <a:prstGeom prst="rect">
            <a:avLst/>
          </a:prstGeom>
          <a:noFill/>
        </p:spPr>
        <p:txBody>
          <a:bodyPr wrap="square" lIns="0" tIns="0" rIns="0" bIns="0" anchor="ctr">
            <a:noAutofit/>
          </a:bodyPr>
          <a:lstStyle/>
          <a:p>
            <a:pPr algn="l">
              <a:spcBef>
                <a:spcPts val="0"/>
              </a:spcBef>
              <a:spcAft>
                <a:spcPts val="300"/>
              </a:spcAft>
            </a:pPr>
            <a:r>
              <a:rPr sz="1200" b="1" i="0">
                <a:solidFill>
                  <a:srgbClr val="202124"/>
                </a:solidFill>
                <a:latin typeface="Arial"/>
              </a:rPr>
              <a:t>LOS · ULI · ONDC</a:t>
            </a:r>
          </a:p>
        </p:txBody>
      </p:sp>
      <p:sp>
        <p:nvSpPr>
          <p:cNvPr id="152" name="TextBox 151"/>
          <p:cNvSpPr txBox="1"/>
          <p:nvPr/>
        </p:nvSpPr>
        <p:spPr>
          <a:xfrm>
            <a:off x="6217920" y="4023360"/>
            <a:ext cx="2468880" cy="777240"/>
          </a:xfrm>
          <a:prstGeom prst="rect">
            <a:avLst/>
          </a:prstGeom>
          <a:noFill/>
        </p:spPr>
        <p:txBody>
          <a:bodyPr wrap="square" lIns="0" tIns="0" rIns="0" bIns="0" anchor="t">
            <a:noAutofit/>
          </a:bodyPr>
          <a:lstStyle/>
          <a:p>
            <a:pPr algn="l">
              <a:spcBef>
                <a:spcPts val="0"/>
              </a:spcBef>
              <a:spcAft>
                <a:spcPts val="300"/>
              </a:spcAft>
            </a:pPr>
            <a:r>
              <a:rPr sz="1000" b="0" i="0">
                <a:solidFill>
                  <a:srgbClr val="202124"/>
                </a:solidFill>
                <a:latin typeface="Arial"/>
              </a:rPr>
              <a:t>Receive the accepted loan case with its risk assessment and the AI credit decision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03" name="Google Shape;103;p19"/>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Wireframe — a finding on the Risk Lens</a:t>
            </a:r>
            <a:endParaRPr sz="1600">
              <a:latin typeface="Google Sans Flex Medium"/>
              <a:ea typeface="Google Sans Flex Medium"/>
              <a:cs typeface="Google Sans Flex Medium"/>
              <a:sym typeface="Google Sans Flex Medium"/>
            </a:endParaRPr>
          </a:p>
        </p:txBody>
      </p:sp>
      <p:sp>
        <p:nvSpPr>
          <p:cNvPr id="104" name="mock_card"/>
          <p:cNvSpPr/>
          <p:nvPr/>
        </p:nvSpPr>
        <p:spPr>
          <a:xfrm>
            <a:off x="320040" y="1188720"/>
            <a:ext cx="5257800" cy="3703320"/>
          </a:xfrm>
          <a:prstGeom prst="roundRect">
            <a:avLst>
              <a:gd name="adj" fmla="val 6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5" name="mock_sev"/>
          <p:cNvSpPr/>
          <p:nvPr/>
        </p:nvSpPr>
        <p:spPr>
          <a:xfrm>
            <a:off x="548640" y="1353312"/>
            <a:ext cx="502920" cy="219456"/>
          </a:xfrm>
          <a:prstGeom prst="roundRect">
            <a:avLst>
              <a:gd name="adj" fmla="val 30000"/>
            </a:avLst>
          </a:prstGeom>
          <a:solidFill>
            <a:srgbClr val="C5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6" name="TextBox 105"/>
          <p:cNvSpPr txBox="1"/>
          <p:nvPr/>
        </p:nvSpPr>
        <p:spPr>
          <a:xfrm>
            <a:off x="548640" y="1353312"/>
            <a:ext cx="502920" cy="219456"/>
          </a:xfrm>
          <a:prstGeom prst="rect">
            <a:avLst/>
          </a:prstGeom>
          <a:noFill/>
        </p:spPr>
        <p:txBody>
          <a:bodyPr wrap="square" lIns="0" tIns="0" rIns="0" bIns="0" anchor="ctr">
            <a:noAutofit/>
          </a:bodyPr>
          <a:lstStyle/>
          <a:p>
            <a:pPr algn="ctr">
              <a:spcBef>
                <a:spcPts val="0"/>
              </a:spcBef>
              <a:spcAft>
                <a:spcPts val="300"/>
              </a:spcAft>
            </a:pPr>
            <a:r>
              <a:rPr sz="900" b="1" i="0">
                <a:solidFill>
                  <a:srgbClr val="FFFFFF"/>
                </a:solidFill>
                <a:latin typeface="Arial"/>
              </a:rPr>
              <a:t>HIGH</a:t>
            </a:r>
          </a:p>
        </p:txBody>
      </p:sp>
      <p:sp>
        <p:nvSpPr>
          <p:cNvPr id="107" name="TextBox 106"/>
          <p:cNvSpPr txBox="1"/>
          <p:nvPr/>
        </p:nvSpPr>
        <p:spPr>
          <a:xfrm>
            <a:off x="1143000" y="1353312"/>
            <a:ext cx="4206240" cy="219456"/>
          </a:xfrm>
          <a:prstGeom prst="rect">
            <a:avLst/>
          </a:prstGeom>
          <a:noFill/>
        </p:spPr>
        <p:txBody>
          <a:bodyPr wrap="square" lIns="0" tIns="0" rIns="0" bIns="0" anchor="ctr">
            <a:noAutofit/>
          </a:bodyPr>
          <a:lstStyle/>
          <a:p>
            <a:pPr algn="l">
              <a:spcBef>
                <a:spcPts val="0"/>
              </a:spcBef>
              <a:spcAft>
                <a:spcPts val="300"/>
              </a:spcAft>
            </a:pPr>
            <a:r>
              <a:rPr sz="900" b="0" i="0">
                <a:solidFill>
                  <a:srgbClr val="5F6368"/>
                </a:solidFill>
                <a:latin typeface="Arial"/>
              </a:rPr>
              <a:t>Tampering   STATEMENT_VS_AA_MISMATCH   Deterministic</a:t>
            </a:r>
          </a:p>
        </p:txBody>
      </p:sp>
      <p:sp>
        <p:nvSpPr>
          <p:cNvPr id="108" name="TextBox 107"/>
          <p:cNvSpPr txBox="1"/>
          <p:nvPr/>
        </p:nvSpPr>
        <p:spPr>
          <a:xfrm>
            <a:off x="548640" y="1691640"/>
            <a:ext cx="4846320" cy="274320"/>
          </a:xfrm>
          <a:prstGeom prst="rect">
            <a:avLst/>
          </a:prstGeom>
          <a:noFill/>
        </p:spPr>
        <p:txBody>
          <a:bodyPr wrap="square" lIns="0" tIns="0" rIns="0" bIns="0" anchor="t">
            <a:noAutofit/>
          </a:bodyPr>
          <a:lstStyle/>
          <a:p>
            <a:pPr algn="l">
              <a:spcBef>
                <a:spcPts val="0"/>
              </a:spcBef>
              <a:spcAft>
                <a:spcPts val="300"/>
              </a:spcAft>
            </a:pPr>
            <a:r>
              <a:rPr sz="1250" b="1" i="0">
                <a:solidFill>
                  <a:srgbClr val="202124"/>
                </a:solidFill>
                <a:latin typeface="Arial"/>
              </a:rPr>
              <a:t>Statement disagrees with the bank's own record</a:t>
            </a:r>
          </a:p>
        </p:txBody>
      </p:sp>
      <p:sp>
        <p:nvSpPr>
          <p:cNvPr id="109" name="TextBox 108"/>
          <p:cNvSpPr txBox="1"/>
          <p:nvPr/>
        </p:nvSpPr>
        <p:spPr>
          <a:xfrm>
            <a:off x="548640" y="2011680"/>
            <a:ext cx="4846320" cy="868680"/>
          </a:xfrm>
          <a:prstGeom prst="rect">
            <a:avLst/>
          </a:prstGeom>
          <a:noFill/>
        </p:spPr>
        <p:txBody>
          <a:bodyPr wrap="square" lIns="0" tIns="0" rIns="0" bIns="0" anchor="t">
            <a:noAutofit/>
          </a:bodyPr>
          <a:lstStyle/>
          <a:p>
            <a:pPr algn="l">
              <a:spcBef>
                <a:spcPts val="0"/>
              </a:spcBef>
              <a:spcAft>
                <a:spcPts val="300"/>
              </a:spcAft>
            </a:pPr>
            <a:r>
              <a:rPr sz="1000" b="0" i="0">
                <a:solidFill>
                  <a:srgbClr val="202124"/>
                </a:solidFill>
                <a:latin typeface="Arial"/>
              </a:rPr>
              <a:t>91 of 93 rows agree with the bank's Account Aggregator record, with 2 amounts changed and 4 transactions left out. Net effect: ₹3,65,800 more in credits and ₹1,30,000 less in debits than the bank recorded.</a:t>
            </a:r>
          </a:p>
        </p:txBody>
      </p:sp>
      <p:sp>
        <p:nvSpPr>
          <p:cNvPr id="110" name="TextBox 109"/>
          <p:cNvSpPr txBox="1"/>
          <p:nvPr/>
        </p:nvSpPr>
        <p:spPr>
          <a:xfrm>
            <a:off x="548640" y="2670048"/>
            <a:ext cx="4846320" cy="411480"/>
          </a:xfrm>
          <a:prstGeom prst="rect">
            <a:avLst/>
          </a:prstGeom>
          <a:noFill/>
        </p:spPr>
        <p:txBody>
          <a:bodyPr wrap="square" lIns="0" tIns="0" rIns="0" bIns="0" anchor="t">
            <a:noAutofit/>
          </a:bodyPr>
          <a:lstStyle/>
          <a:p>
            <a:pPr algn="l">
              <a:spcBef>
                <a:spcPts val="0"/>
              </a:spcBef>
              <a:spcAft>
                <a:spcPts val="300"/>
              </a:spcAft>
            </a:pPr>
            <a:r>
              <a:rPr sz="1000" b="0" i="0">
                <a:solidFill>
                  <a:srgbClr val="202124"/>
                </a:solidFill>
                <a:latin typeface="Arial"/>
              </a:rPr>
              <a:t>↳ </a:t>
            </a:r>
            <a:r>
              <a:rPr sz="1000" b="1" i="0">
                <a:solidFill>
                  <a:srgbClr val="202124"/>
                </a:solidFill>
                <a:latin typeface="Arial"/>
              </a:rPr>
              <a:t>Assess the customer on the Account Aggregator data and ask them to explain every difference.</a:t>
            </a:r>
          </a:p>
        </p:txBody>
      </p:sp>
      <p:sp>
        <p:nvSpPr>
          <p:cNvPr id="111" name="TextBox 110"/>
          <p:cNvSpPr txBox="1"/>
          <p:nvPr/>
        </p:nvSpPr>
        <p:spPr>
          <a:xfrm>
            <a:off x="548640" y="3291839"/>
            <a:ext cx="4846320" cy="256032"/>
          </a:xfrm>
          <a:prstGeom prst="rect">
            <a:avLst/>
          </a:prstGeom>
          <a:noFill/>
        </p:spPr>
        <p:txBody>
          <a:bodyPr wrap="square" lIns="0" tIns="0" rIns="0" bIns="0" anchor="t">
            <a:noAutofit/>
          </a:bodyPr>
          <a:lstStyle/>
          <a:p>
            <a:pPr algn="l">
              <a:spcBef>
                <a:spcPts val="0"/>
              </a:spcBef>
              <a:spcAft>
                <a:spcPts val="300"/>
              </a:spcAft>
            </a:pPr>
            <a:r>
              <a:rPr sz="950" b="1" i="0">
                <a:solidFill>
                  <a:srgbClr val="7A1230"/>
                </a:solidFill>
                <a:latin typeface="Arial"/>
              </a:rPr>
              <a:t>↗ </a:t>
            </a:r>
            <a:r>
              <a:rPr sz="950" b="0" i="0">
                <a:solidFill>
                  <a:srgbClr val="5F6368"/>
                </a:solidFill>
                <a:latin typeface="Arial"/>
              </a:rPr>
              <a:t>statement.pdf, p. 2 · row 28 — bank recorded ₹1,09,500</a:t>
            </a:r>
          </a:p>
        </p:txBody>
      </p:sp>
      <p:sp>
        <p:nvSpPr>
          <p:cNvPr id="112" name="TextBox 111"/>
          <p:cNvSpPr txBox="1"/>
          <p:nvPr/>
        </p:nvSpPr>
        <p:spPr>
          <a:xfrm>
            <a:off x="548640" y="3602735"/>
            <a:ext cx="4846320" cy="256032"/>
          </a:xfrm>
          <a:prstGeom prst="rect">
            <a:avLst/>
          </a:prstGeom>
          <a:noFill/>
        </p:spPr>
        <p:txBody>
          <a:bodyPr wrap="square" lIns="0" tIns="0" rIns="0" bIns="0" anchor="t">
            <a:noAutofit/>
          </a:bodyPr>
          <a:lstStyle/>
          <a:p>
            <a:pPr algn="l">
              <a:spcBef>
                <a:spcPts val="0"/>
              </a:spcBef>
              <a:spcAft>
                <a:spcPts val="300"/>
              </a:spcAft>
            </a:pPr>
            <a:r>
              <a:rPr sz="950" b="1" i="0">
                <a:solidFill>
                  <a:srgbClr val="7A1230"/>
                </a:solidFill>
                <a:latin typeface="Arial"/>
              </a:rPr>
              <a:t>↗ </a:t>
            </a:r>
            <a:r>
              <a:rPr sz="950" b="0" i="0">
                <a:solidFill>
                  <a:srgbClr val="5F6368"/>
                </a:solidFill>
                <a:latin typeface="Arial"/>
              </a:rPr>
              <a:t>statement.pdf, p. 3 · row 54 — bank recorded ₹73,400</a:t>
            </a:r>
          </a:p>
        </p:txBody>
      </p:sp>
      <p:sp>
        <p:nvSpPr>
          <p:cNvPr id="113" name="TextBox 112"/>
          <p:cNvSpPr txBox="1"/>
          <p:nvPr/>
        </p:nvSpPr>
        <p:spPr>
          <a:xfrm>
            <a:off x="548640" y="3913631"/>
            <a:ext cx="4846320" cy="256032"/>
          </a:xfrm>
          <a:prstGeom prst="rect">
            <a:avLst/>
          </a:prstGeom>
          <a:noFill/>
        </p:spPr>
        <p:txBody>
          <a:bodyPr wrap="square" lIns="0" tIns="0" rIns="0" bIns="0" anchor="t">
            <a:noAutofit/>
          </a:bodyPr>
          <a:lstStyle/>
          <a:p>
            <a:pPr algn="l">
              <a:spcBef>
                <a:spcPts val="0"/>
              </a:spcBef>
              <a:spcAft>
                <a:spcPts val="300"/>
              </a:spcAft>
            </a:pPr>
            <a:r>
              <a:rPr sz="950" b="1" i="0">
                <a:solidFill>
                  <a:srgbClr val="7A1230"/>
                </a:solidFill>
                <a:latin typeface="Arial"/>
              </a:rPr>
              <a:t>↗ </a:t>
            </a:r>
            <a:r>
              <a:rPr sz="950" b="0" i="0">
                <a:solidFill>
                  <a:srgbClr val="5F6368"/>
                </a:solidFill>
                <a:latin typeface="Arial"/>
              </a:rPr>
              <a:t>statement.pdf, p. 1 · 05 Jun NACH EMI ₹32,500 — not on the statement</a:t>
            </a:r>
          </a:p>
        </p:txBody>
      </p:sp>
      <p:sp>
        <p:nvSpPr>
          <p:cNvPr id="114" name="mock_note"/>
          <p:cNvSpPr/>
          <p:nvPr/>
        </p:nvSpPr>
        <p:spPr>
          <a:xfrm>
            <a:off x="548640" y="4343400"/>
            <a:ext cx="3291840" cy="329184"/>
          </a:xfrm>
          <a:prstGeom prst="roundRect">
            <a:avLst>
              <a:gd name="adj" fmla="val 6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5" name="TextBox 114"/>
          <p:cNvSpPr txBox="1"/>
          <p:nvPr/>
        </p:nvSpPr>
        <p:spPr>
          <a:xfrm>
            <a:off x="640080" y="4343400"/>
            <a:ext cx="3108960" cy="329184"/>
          </a:xfrm>
          <a:prstGeom prst="rect">
            <a:avLst/>
          </a:prstGeom>
          <a:noFill/>
        </p:spPr>
        <p:txBody>
          <a:bodyPr wrap="square" lIns="0" tIns="0" rIns="0" bIns="0" anchor="ctr">
            <a:noAutofit/>
          </a:bodyPr>
          <a:lstStyle/>
          <a:p>
            <a:pPr algn="l">
              <a:spcBef>
                <a:spcPts val="0"/>
              </a:spcBef>
              <a:spcAft>
                <a:spcPts val="300"/>
              </a:spcAft>
            </a:pPr>
            <a:r>
              <a:rPr sz="900" b="0" i="0">
                <a:solidFill>
                  <a:srgbClr val="5F6368"/>
                </a:solidFill>
                <a:latin typeface="Arial"/>
              </a:rPr>
              <a:t>Note for the review (optional)</a:t>
            </a:r>
          </a:p>
        </p:txBody>
      </p:sp>
      <p:sp>
        <p:nvSpPr>
          <p:cNvPr id="116" name="mock_confirm"/>
          <p:cNvSpPr/>
          <p:nvPr/>
        </p:nvSpPr>
        <p:spPr>
          <a:xfrm>
            <a:off x="3931920" y="4343400"/>
            <a:ext cx="731520" cy="329184"/>
          </a:xfrm>
          <a:prstGeom prst="roundRect">
            <a:avLst>
              <a:gd name="adj" fmla="val 6000"/>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7" name="TextBox 116"/>
          <p:cNvSpPr txBox="1"/>
          <p:nvPr/>
        </p:nvSpPr>
        <p:spPr>
          <a:xfrm>
            <a:off x="3931920" y="4343400"/>
            <a:ext cx="731520" cy="329184"/>
          </a:xfrm>
          <a:prstGeom prst="rect">
            <a:avLst/>
          </a:prstGeom>
          <a:noFill/>
        </p:spPr>
        <p:txBody>
          <a:bodyPr wrap="square" lIns="0" tIns="0" rIns="0" bIns="0" anchor="ctr">
            <a:noAutofit/>
          </a:bodyPr>
          <a:lstStyle/>
          <a:p>
            <a:pPr algn="ctr">
              <a:spcBef>
                <a:spcPts val="0"/>
              </a:spcBef>
              <a:spcAft>
                <a:spcPts val="300"/>
              </a:spcAft>
            </a:pPr>
            <a:r>
              <a:rPr sz="950" b="1" i="0">
                <a:solidFill>
                  <a:srgbClr val="FFFFFF"/>
                </a:solidFill>
                <a:latin typeface="Arial"/>
              </a:rPr>
              <a:t>Confirm</a:t>
            </a:r>
          </a:p>
        </p:txBody>
      </p:sp>
      <p:sp>
        <p:nvSpPr>
          <p:cNvPr id="118" name="mock_dismiss"/>
          <p:cNvSpPr/>
          <p:nvPr/>
        </p:nvSpPr>
        <p:spPr>
          <a:xfrm>
            <a:off x="4736592" y="4343400"/>
            <a:ext cx="685800" cy="329184"/>
          </a:xfrm>
          <a:prstGeom prst="roundRect">
            <a:avLst>
              <a:gd name="adj" fmla="val 6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9" name="TextBox 118"/>
          <p:cNvSpPr txBox="1"/>
          <p:nvPr/>
        </p:nvSpPr>
        <p:spPr>
          <a:xfrm>
            <a:off x="4736592" y="4343400"/>
            <a:ext cx="685800" cy="329184"/>
          </a:xfrm>
          <a:prstGeom prst="rect">
            <a:avLst/>
          </a:prstGeom>
          <a:noFill/>
        </p:spPr>
        <p:txBody>
          <a:bodyPr wrap="square" lIns="0" tIns="0" rIns="0" bIns="0" anchor="ctr">
            <a:noAutofit/>
          </a:bodyPr>
          <a:lstStyle/>
          <a:p>
            <a:pPr algn="ctr">
              <a:spcBef>
                <a:spcPts val="0"/>
              </a:spcBef>
              <a:spcAft>
                <a:spcPts val="300"/>
              </a:spcAft>
            </a:pPr>
            <a:r>
              <a:rPr sz="950" b="0" i="0">
                <a:solidFill>
                  <a:srgbClr val="202124"/>
                </a:solidFill>
                <a:latin typeface="Arial"/>
              </a:rPr>
              <a:t>Dismiss</a:t>
            </a:r>
          </a:p>
        </p:txBody>
      </p:sp>
      <p:sp>
        <p:nvSpPr>
          <p:cNvPr id="120" name="callout_0"/>
          <p:cNvSpPr/>
          <p:nvPr/>
        </p:nvSpPr>
        <p:spPr>
          <a:xfrm>
            <a:off x="5806440" y="1444752"/>
            <a:ext cx="274320" cy="274320"/>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1" name="TextBox 120"/>
          <p:cNvSpPr txBox="1"/>
          <p:nvPr/>
        </p:nvSpPr>
        <p:spPr>
          <a:xfrm>
            <a:off x="5806440" y="1444752"/>
            <a:ext cx="274320" cy="274320"/>
          </a:xfrm>
          <a:prstGeom prst="rect">
            <a:avLst/>
          </a:prstGeom>
          <a:noFill/>
        </p:spPr>
        <p:txBody>
          <a:bodyPr wrap="square" lIns="0" tIns="0" rIns="0" bIns="0" anchor="ctr">
            <a:noAutofit/>
          </a:bodyPr>
          <a:lstStyle/>
          <a:p>
            <a:pPr algn="ctr">
              <a:spcBef>
                <a:spcPts val="0"/>
              </a:spcBef>
              <a:spcAft>
                <a:spcPts val="300"/>
              </a:spcAft>
            </a:pPr>
            <a:r>
              <a:rPr sz="1000" b="1" i="0">
                <a:solidFill>
                  <a:srgbClr val="FFFFFF"/>
                </a:solidFill>
                <a:latin typeface="Arial"/>
              </a:rPr>
              <a:t>1</a:t>
            </a:r>
          </a:p>
        </p:txBody>
      </p:sp>
      <p:sp>
        <p:nvSpPr>
          <p:cNvPr id="122" name="TextBox 121"/>
          <p:cNvSpPr txBox="1"/>
          <p:nvPr/>
        </p:nvSpPr>
        <p:spPr>
          <a:xfrm>
            <a:off x="6199632" y="1408176"/>
            <a:ext cx="2651760" cy="228600"/>
          </a:xfrm>
          <a:prstGeom prst="rect">
            <a:avLst/>
          </a:prstGeom>
          <a:noFill/>
        </p:spPr>
        <p:txBody>
          <a:bodyPr wrap="square" lIns="0" tIns="0" rIns="0" bIns="0" anchor="t">
            <a:noAutofit/>
          </a:bodyPr>
          <a:lstStyle/>
          <a:p>
            <a:pPr algn="l">
              <a:spcBef>
                <a:spcPts val="0"/>
              </a:spcBef>
              <a:spcAft>
                <a:spcPts val="300"/>
              </a:spcAft>
            </a:pPr>
            <a:r>
              <a:rPr sz="1050" b="1" i="0">
                <a:solidFill>
                  <a:srgbClr val="202124"/>
                </a:solidFill>
                <a:latin typeface="Arial"/>
              </a:rPr>
              <a:t>Severity, category, type and source</a:t>
            </a:r>
          </a:p>
        </p:txBody>
      </p:sp>
      <p:sp>
        <p:nvSpPr>
          <p:cNvPr id="123" name="TextBox 122"/>
          <p:cNvSpPr txBox="1"/>
          <p:nvPr/>
        </p:nvSpPr>
        <p:spPr>
          <a:xfrm>
            <a:off x="6199632" y="1618488"/>
            <a:ext cx="2651760" cy="365760"/>
          </a:xfrm>
          <a:prstGeom prst="rect">
            <a:avLst/>
          </a:prstGeom>
          <a:noFill/>
        </p:spPr>
        <p:txBody>
          <a:bodyPr wrap="square" lIns="0" tIns="0" rIns="0" bIns="0" anchor="t">
            <a:noAutofit/>
          </a:bodyPr>
          <a:lstStyle/>
          <a:p>
            <a:pPr algn="l">
              <a:spcBef>
                <a:spcPts val="0"/>
              </a:spcBef>
              <a:spcAft>
                <a:spcPts val="300"/>
              </a:spcAft>
            </a:pPr>
            <a:r>
              <a:rPr sz="950" b="0" i="0">
                <a:solidFill>
                  <a:srgbClr val="5F6368"/>
                </a:solidFill>
                <a:latin typeface="Arial"/>
              </a:rPr>
              <a:t>Deterministic or AI · verified</a:t>
            </a:r>
          </a:p>
        </p:txBody>
      </p:sp>
      <p:cxnSp>
        <p:nvCxnSpPr>
          <p:cNvPr id="124" name="Connector 123"/>
          <p:cNvCxnSpPr/>
          <p:nvPr/>
        </p:nvCxnSpPr>
        <p:spPr>
          <a:xfrm flipH="1">
            <a:off x="5614416" y="1581912"/>
            <a:ext cx="173736" cy="0"/>
          </a:xfrm>
          <a:prstGeom prst="line">
            <a:avLst/>
          </a:prstGeom>
          <a:ln w="12700">
            <a:solidFill>
              <a:srgbClr val="DADCE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5" name="callout_1"/>
          <p:cNvSpPr/>
          <p:nvPr/>
        </p:nvSpPr>
        <p:spPr>
          <a:xfrm>
            <a:off x="5806440" y="2039112"/>
            <a:ext cx="274320" cy="274320"/>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6" name="TextBox 125"/>
          <p:cNvSpPr txBox="1"/>
          <p:nvPr/>
        </p:nvSpPr>
        <p:spPr>
          <a:xfrm>
            <a:off x="5806440" y="2039112"/>
            <a:ext cx="274320" cy="274320"/>
          </a:xfrm>
          <a:prstGeom prst="rect">
            <a:avLst/>
          </a:prstGeom>
          <a:noFill/>
        </p:spPr>
        <p:txBody>
          <a:bodyPr wrap="square" lIns="0" tIns="0" rIns="0" bIns="0" anchor="ctr">
            <a:noAutofit/>
          </a:bodyPr>
          <a:lstStyle/>
          <a:p>
            <a:pPr algn="ctr">
              <a:spcBef>
                <a:spcPts val="0"/>
              </a:spcBef>
              <a:spcAft>
                <a:spcPts val="300"/>
              </a:spcAft>
            </a:pPr>
            <a:r>
              <a:rPr sz="1000" b="1" i="0">
                <a:solidFill>
                  <a:srgbClr val="FFFFFF"/>
                </a:solidFill>
                <a:latin typeface="Arial"/>
              </a:rPr>
              <a:t>2</a:t>
            </a:r>
          </a:p>
        </p:txBody>
      </p:sp>
      <p:sp>
        <p:nvSpPr>
          <p:cNvPr id="127" name="TextBox 126"/>
          <p:cNvSpPr txBox="1"/>
          <p:nvPr/>
        </p:nvSpPr>
        <p:spPr>
          <a:xfrm>
            <a:off x="6199632" y="2002536"/>
            <a:ext cx="2651760" cy="228600"/>
          </a:xfrm>
          <a:prstGeom prst="rect">
            <a:avLst/>
          </a:prstGeom>
          <a:noFill/>
        </p:spPr>
        <p:txBody>
          <a:bodyPr wrap="square" lIns="0" tIns="0" rIns="0" bIns="0" anchor="t">
            <a:noAutofit/>
          </a:bodyPr>
          <a:lstStyle/>
          <a:p>
            <a:pPr algn="l">
              <a:spcBef>
                <a:spcPts val="0"/>
              </a:spcBef>
              <a:spcAft>
                <a:spcPts val="300"/>
              </a:spcAft>
            </a:pPr>
            <a:r>
              <a:rPr sz="1050" b="1" i="0">
                <a:solidFill>
                  <a:srgbClr val="202124"/>
                </a:solidFill>
                <a:latin typeface="Arial"/>
              </a:rPr>
              <a:t>What is wrong, in rupees</a:t>
            </a:r>
          </a:p>
        </p:txBody>
      </p:sp>
      <p:sp>
        <p:nvSpPr>
          <p:cNvPr id="128" name="TextBox 127"/>
          <p:cNvSpPr txBox="1"/>
          <p:nvPr/>
        </p:nvSpPr>
        <p:spPr>
          <a:xfrm>
            <a:off x="6199632" y="2212848"/>
            <a:ext cx="2651760" cy="365760"/>
          </a:xfrm>
          <a:prstGeom prst="rect">
            <a:avLst/>
          </a:prstGeom>
          <a:noFill/>
        </p:spPr>
        <p:txBody>
          <a:bodyPr wrap="square" lIns="0" tIns="0" rIns="0" bIns="0" anchor="t">
            <a:noAutofit/>
          </a:bodyPr>
          <a:lstStyle/>
          <a:p>
            <a:pPr algn="l">
              <a:spcBef>
                <a:spcPts val="0"/>
              </a:spcBef>
              <a:spcAft>
                <a:spcPts val="300"/>
              </a:spcAft>
            </a:pPr>
            <a:r>
              <a:rPr sz="950" b="0" i="0">
                <a:solidFill>
                  <a:srgbClr val="5F6368"/>
                </a:solidFill>
                <a:latin typeface="Arial"/>
              </a:rPr>
              <a:t>Plain language a credit officer can act on</a:t>
            </a:r>
          </a:p>
        </p:txBody>
      </p:sp>
      <p:cxnSp>
        <p:nvCxnSpPr>
          <p:cNvPr id="129" name="Connector 128"/>
          <p:cNvCxnSpPr/>
          <p:nvPr/>
        </p:nvCxnSpPr>
        <p:spPr>
          <a:xfrm flipH="1">
            <a:off x="5614416" y="2176272"/>
            <a:ext cx="173736" cy="0"/>
          </a:xfrm>
          <a:prstGeom prst="line">
            <a:avLst/>
          </a:prstGeom>
          <a:ln w="12700">
            <a:solidFill>
              <a:srgbClr val="DADCE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0" name="callout_2"/>
          <p:cNvSpPr/>
          <p:nvPr/>
        </p:nvSpPr>
        <p:spPr>
          <a:xfrm>
            <a:off x="5806440" y="2688336"/>
            <a:ext cx="274320" cy="274320"/>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1" name="TextBox 130"/>
          <p:cNvSpPr txBox="1"/>
          <p:nvPr/>
        </p:nvSpPr>
        <p:spPr>
          <a:xfrm>
            <a:off x="5806440" y="2688336"/>
            <a:ext cx="274320" cy="274320"/>
          </a:xfrm>
          <a:prstGeom prst="rect">
            <a:avLst/>
          </a:prstGeom>
          <a:noFill/>
        </p:spPr>
        <p:txBody>
          <a:bodyPr wrap="square" lIns="0" tIns="0" rIns="0" bIns="0" anchor="ctr">
            <a:noAutofit/>
          </a:bodyPr>
          <a:lstStyle/>
          <a:p>
            <a:pPr algn="ctr">
              <a:spcBef>
                <a:spcPts val="0"/>
              </a:spcBef>
              <a:spcAft>
                <a:spcPts val="300"/>
              </a:spcAft>
            </a:pPr>
            <a:r>
              <a:rPr sz="1000" b="1" i="0">
                <a:solidFill>
                  <a:srgbClr val="FFFFFF"/>
                </a:solidFill>
                <a:latin typeface="Arial"/>
              </a:rPr>
              <a:t>3</a:t>
            </a:r>
          </a:p>
        </p:txBody>
      </p:sp>
      <p:sp>
        <p:nvSpPr>
          <p:cNvPr id="132" name="TextBox 131"/>
          <p:cNvSpPr txBox="1"/>
          <p:nvPr/>
        </p:nvSpPr>
        <p:spPr>
          <a:xfrm>
            <a:off x="6199632" y="2651760"/>
            <a:ext cx="2651760" cy="228600"/>
          </a:xfrm>
          <a:prstGeom prst="rect">
            <a:avLst/>
          </a:prstGeom>
          <a:noFill/>
        </p:spPr>
        <p:txBody>
          <a:bodyPr wrap="square" lIns="0" tIns="0" rIns="0" bIns="0" anchor="t">
            <a:noAutofit/>
          </a:bodyPr>
          <a:lstStyle/>
          <a:p>
            <a:pPr algn="l">
              <a:spcBef>
                <a:spcPts val="0"/>
              </a:spcBef>
              <a:spcAft>
                <a:spcPts val="300"/>
              </a:spcAft>
            </a:pPr>
            <a:r>
              <a:rPr sz="1050" b="1" i="0">
                <a:solidFill>
                  <a:srgbClr val="202124"/>
                </a:solidFill>
                <a:latin typeface="Arial"/>
              </a:rPr>
              <a:t>What to do next</a:t>
            </a:r>
          </a:p>
        </p:txBody>
      </p:sp>
      <p:sp>
        <p:nvSpPr>
          <p:cNvPr id="133" name="TextBox 132"/>
          <p:cNvSpPr txBox="1"/>
          <p:nvPr/>
        </p:nvSpPr>
        <p:spPr>
          <a:xfrm>
            <a:off x="6199632" y="2862072"/>
            <a:ext cx="2651760" cy="365760"/>
          </a:xfrm>
          <a:prstGeom prst="rect">
            <a:avLst/>
          </a:prstGeom>
          <a:noFill/>
        </p:spPr>
        <p:txBody>
          <a:bodyPr wrap="square" lIns="0" tIns="0" rIns="0" bIns="0" anchor="t">
            <a:noAutofit/>
          </a:bodyPr>
          <a:lstStyle/>
          <a:p>
            <a:pPr algn="l">
              <a:spcBef>
                <a:spcPts val="0"/>
              </a:spcBef>
              <a:spcAft>
                <a:spcPts val="300"/>
              </a:spcAft>
            </a:pPr>
            <a:r>
              <a:rPr sz="950" b="0" i="0">
                <a:solidFill>
                  <a:srgbClr val="5F6368"/>
                </a:solidFill>
                <a:latin typeface="Arial"/>
              </a:rPr>
              <a:t>Names the policy clause when one applies</a:t>
            </a:r>
          </a:p>
        </p:txBody>
      </p:sp>
      <p:cxnSp>
        <p:nvCxnSpPr>
          <p:cNvPr id="134" name="Connector 133"/>
          <p:cNvCxnSpPr/>
          <p:nvPr/>
        </p:nvCxnSpPr>
        <p:spPr>
          <a:xfrm flipH="1">
            <a:off x="5614416" y="2825496"/>
            <a:ext cx="173736" cy="0"/>
          </a:xfrm>
          <a:prstGeom prst="line">
            <a:avLst/>
          </a:prstGeom>
          <a:ln w="12700">
            <a:solidFill>
              <a:srgbClr val="DADCE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5" name="callout_3"/>
          <p:cNvSpPr/>
          <p:nvPr/>
        </p:nvSpPr>
        <p:spPr>
          <a:xfrm>
            <a:off x="5806440" y="3429000"/>
            <a:ext cx="274320" cy="274320"/>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6" name="TextBox 135"/>
          <p:cNvSpPr txBox="1"/>
          <p:nvPr/>
        </p:nvSpPr>
        <p:spPr>
          <a:xfrm>
            <a:off x="5806440" y="3429000"/>
            <a:ext cx="274320" cy="274320"/>
          </a:xfrm>
          <a:prstGeom prst="rect">
            <a:avLst/>
          </a:prstGeom>
          <a:noFill/>
        </p:spPr>
        <p:txBody>
          <a:bodyPr wrap="square" lIns="0" tIns="0" rIns="0" bIns="0" anchor="ctr">
            <a:noAutofit/>
          </a:bodyPr>
          <a:lstStyle/>
          <a:p>
            <a:pPr algn="ctr">
              <a:spcBef>
                <a:spcPts val="0"/>
              </a:spcBef>
              <a:spcAft>
                <a:spcPts val="300"/>
              </a:spcAft>
            </a:pPr>
            <a:r>
              <a:rPr sz="1000" b="1" i="0">
                <a:solidFill>
                  <a:srgbClr val="FFFFFF"/>
                </a:solidFill>
                <a:latin typeface="Arial"/>
              </a:rPr>
              <a:t>4</a:t>
            </a:r>
          </a:p>
        </p:txBody>
      </p:sp>
      <p:sp>
        <p:nvSpPr>
          <p:cNvPr id="137" name="TextBox 136"/>
          <p:cNvSpPr txBox="1"/>
          <p:nvPr/>
        </p:nvSpPr>
        <p:spPr>
          <a:xfrm>
            <a:off x="6199632" y="3392424"/>
            <a:ext cx="2651760" cy="228600"/>
          </a:xfrm>
          <a:prstGeom prst="rect">
            <a:avLst/>
          </a:prstGeom>
          <a:noFill/>
        </p:spPr>
        <p:txBody>
          <a:bodyPr wrap="square" lIns="0" tIns="0" rIns="0" bIns="0" anchor="t">
            <a:noAutofit/>
          </a:bodyPr>
          <a:lstStyle/>
          <a:p>
            <a:pPr algn="l">
              <a:spcBef>
                <a:spcPts val="0"/>
              </a:spcBef>
              <a:spcAft>
                <a:spcPts val="300"/>
              </a:spcAft>
            </a:pPr>
            <a:r>
              <a:rPr sz="1050" b="1" i="0">
                <a:solidFill>
                  <a:srgbClr val="202124"/>
                </a:solidFill>
                <a:latin typeface="Arial"/>
              </a:rPr>
              <a:t>Evidence links</a:t>
            </a:r>
          </a:p>
        </p:txBody>
      </p:sp>
      <p:sp>
        <p:nvSpPr>
          <p:cNvPr id="138" name="TextBox 137"/>
          <p:cNvSpPr txBox="1"/>
          <p:nvPr/>
        </p:nvSpPr>
        <p:spPr>
          <a:xfrm>
            <a:off x="6199632" y="3602736"/>
            <a:ext cx="2651760" cy="365760"/>
          </a:xfrm>
          <a:prstGeom prst="rect">
            <a:avLst/>
          </a:prstGeom>
          <a:noFill/>
        </p:spPr>
        <p:txBody>
          <a:bodyPr wrap="square" lIns="0" tIns="0" rIns="0" bIns="0" anchor="t">
            <a:noAutofit/>
          </a:bodyPr>
          <a:lstStyle/>
          <a:p>
            <a:pPr algn="l">
              <a:spcBef>
                <a:spcPts val="0"/>
              </a:spcBef>
              <a:spcAft>
                <a:spcPts val="300"/>
              </a:spcAft>
            </a:pPr>
            <a:r>
              <a:rPr sz="950" b="0" i="0">
                <a:solidFill>
                  <a:srgbClr val="5F6368"/>
                </a:solidFill>
                <a:latin typeface="Arial"/>
              </a:rPr>
              <a:t>Open the document at that page; rows, fields or policy</a:t>
            </a:r>
          </a:p>
        </p:txBody>
      </p:sp>
      <p:cxnSp>
        <p:nvCxnSpPr>
          <p:cNvPr id="139" name="Connector 138"/>
          <p:cNvCxnSpPr/>
          <p:nvPr/>
        </p:nvCxnSpPr>
        <p:spPr>
          <a:xfrm flipH="1">
            <a:off x="5614416" y="3566160"/>
            <a:ext cx="173736" cy="0"/>
          </a:xfrm>
          <a:prstGeom prst="line">
            <a:avLst/>
          </a:prstGeom>
          <a:ln w="12700">
            <a:solidFill>
              <a:srgbClr val="DADCE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0" name="callout_4"/>
          <p:cNvSpPr/>
          <p:nvPr/>
        </p:nvSpPr>
        <p:spPr>
          <a:xfrm>
            <a:off x="5806440" y="4462272"/>
            <a:ext cx="274320" cy="274320"/>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1" name="TextBox 140"/>
          <p:cNvSpPr txBox="1"/>
          <p:nvPr/>
        </p:nvSpPr>
        <p:spPr>
          <a:xfrm>
            <a:off x="5806440" y="4462272"/>
            <a:ext cx="274320" cy="274320"/>
          </a:xfrm>
          <a:prstGeom prst="rect">
            <a:avLst/>
          </a:prstGeom>
          <a:noFill/>
        </p:spPr>
        <p:txBody>
          <a:bodyPr wrap="square" lIns="0" tIns="0" rIns="0" bIns="0" anchor="ctr">
            <a:noAutofit/>
          </a:bodyPr>
          <a:lstStyle/>
          <a:p>
            <a:pPr algn="ctr">
              <a:spcBef>
                <a:spcPts val="0"/>
              </a:spcBef>
              <a:spcAft>
                <a:spcPts val="300"/>
              </a:spcAft>
            </a:pPr>
            <a:r>
              <a:rPr sz="1000" b="1" i="0">
                <a:solidFill>
                  <a:srgbClr val="FFFFFF"/>
                </a:solidFill>
                <a:latin typeface="Arial"/>
              </a:rPr>
              <a:t>5</a:t>
            </a:r>
          </a:p>
        </p:txBody>
      </p:sp>
      <p:sp>
        <p:nvSpPr>
          <p:cNvPr id="142" name="TextBox 141"/>
          <p:cNvSpPr txBox="1"/>
          <p:nvPr/>
        </p:nvSpPr>
        <p:spPr>
          <a:xfrm>
            <a:off x="6199632" y="4425696"/>
            <a:ext cx="2651760" cy="228600"/>
          </a:xfrm>
          <a:prstGeom prst="rect">
            <a:avLst/>
          </a:prstGeom>
          <a:noFill/>
        </p:spPr>
        <p:txBody>
          <a:bodyPr wrap="square" lIns="0" tIns="0" rIns="0" bIns="0" anchor="t">
            <a:noAutofit/>
          </a:bodyPr>
          <a:lstStyle/>
          <a:p>
            <a:pPr algn="l">
              <a:spcBef>
                <a:spcPts val="0"/>
              </a:spcBef>
              <a:spcAft>
                <a:spcPts val="300"/>
              </a:spcAft>
            </a:pPr>
            <a:r>
              <a:rPr sz="1050" b="1" i="0">
                <a:solidFill>
                  <a:srgbClr val="202124"/>
                </a:solidFill>
                <a:latin typeface="Arial"/>
              </a:rPr>
              <a:t>Review in one click</a:t>
            </a:r>
          </a:p>
        </p:txBody>
      </p:sp>
      <p:sp>
        <p:nvSpPr>
          <p:cNvPr id="143" name="TextBox 142"/>
          <p:cNvSpPr txBox="1"/>
          <p:nvPr/>
        </p:nvSpPr>
        <p:spPr>
          <a:xfrm>
            <a:off x="6199632" y="4636008"/>
            <a:ext cx="2651760" cy="365760"/>
          </a:xfrm>
          <a:prstGeom prst="rect">
            <a:avLst/>
          </a:prstGeom>
          <a:noFill/>
        </p:spPr>
        <p:txBody>
          <a:bodyPr wrap="square" lIns="0" tIns="0" rIns="0" bIns="0" anchor="t">
            <a:noAutofit/>
          </a:bodyPr>
          <a:lstStyle/>
          <a:p>
            <a:pPr algn="l">
              <a:spcBef>
                <a:spcPts val="0"/>
              </a:spcBef>
              <a:spcAft>
                <a:spcPts val="300"/>
              </a:spcAft>
            </a:pPr>
            <a:r>
              <a:rPr sz="950" b="0" i="0">
                <a:solidFill>
                  <a:srgbClr val="5F6368"/>
                </a:solidFill>
                <a:latin typeface="Arial"/>
              </a:rPr>
              <a:t>A confirmed finding blocks the loan case; a dismissed one does not</a:t>
            </a:r>
          </a:p>
        </p:txBody>
      </p:sp>
      <p:cxnSp>
        <p:nvCxnSpPr>
          <p:cNvPr id="144" name="Connector 143"/>
          <p:cNvCxnSpPr/>
          <p:nvPr/>
        </p:nvCxnSpPr>
        <p:spPr>
          <a:xfrm flipH="1">
            <a:off x="5614416" y="4599432"/>
            <a:ext cx="173736" cy="0"/>
          </a:xfrm>
          <a:prstGeom prst="line">
            <a:avLst/>
          </a:prstGeom>
          <a:ln w="12700">
            <a:solidFill>
              <a:srgbClr val="DADCE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1" name="Google Shape;111;p20"/>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12" name="arch_user_0"/>
          <p:cNvSpPr/>
          <p:nvPr/>
        </p:nvSpPr>
        <p:spPr>
          <a:xfrm>
            <a:off x="320040" y="1188720"/>
            <a:ext cx="2743200" cy="502920"/>
          </a:xfrm>
          <a:prstGeom prst="roundRect">
            <a:avLst>
              <a:gd name="adj" fmla="val 6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3" name="TextBox 112"/>
          <p:cNvSpPr txBox="1"/>
          <p:nvPr/>
        </p:nvSpPr>
        <p:spPr>
          <a:xfrm>
            <a:off x="411479" y="1225296"/>
            <a:ext cx="2560320" cy="228600"/>
          </a:xfrm>
          <a:prstGeom prst="rect">
            <a:avLst/>
          </a:prstGeom>
          <a:noFill/>
        </p:spPr>
        <p:txBody>
          <a:bodyPr wrap="square" lIns="0" tIns="0" rIns="0" bIns="0" anchor="t">
            <a:noAutofit/>
          </a:bodyPr>
          <a:lstStyle/>
          <a:p>
            <a:pPr algn="ctr">
              <a:spcBef>
                <a:spcPts val="0"/>
              </a:spcBef>
              <a:spcAft>
                <a:spcPts val="300"/>
              </a:spcAft>
            </a:pPr>
            <a:r>
              <a:rPr sz="1050" b="1" i="0">
                <a:solidFill>
                  <a:srgbClr val="202124"/>
                </a:solidFill>
                <a:latin typeface="Arial"/>
              </a:rPr>
              <a:t>Customer (MSME)</a:t>
            </a:r>
          </a:p>
        </p:txBody>
      </p:sp>
      <p:sp>
        <p:nvSpPr>
          <p:cNvPr id="114" name="TextBox 113"/>
          <p:cNvSpPr txBox="1"/>
          <p:nvPr/>
        </p:nvSpPr>
        <p:spPr>
          <a:xfrm>
            <a:off x="411479" y="1444752"/>
            <a:ext cx="2560320" cy="228600"/>
          </a:xfrm>
          <a:prstGeom prst="rect">
            <a:avLst/>
          </a:prstGeom>
          <a:noFill/>
        </p:spPr>
        <p:txBody>
          <a:bodyPr wrap="square" lIns="0" tIns="0" rIns="0" bIns="0" anchor="t">
            <a:noAutofit/>
          </a:bodyPr>
          <a:lstStyle/>
          <a:p>
            <a:pPr algn="ctr">
              <a:spcBef>
                <a:spcPts val="0"/>
              </a:spcBef>
              <a:spcAft>
                <a:spcPts val="300"/>
              </a:spcAft>
            </a:pPr>
            <a:r>
              <a:rPr sz="900" b="0" i="0">
                <a:solidFill>
                  <a:srgbClr val="5F6368"/>
                </a:solidFill>
                <a:latin typeface="Arial"/>
              </a:rPr>
              <a:t>Registration · AA consent · fetch and upload</a:t>
            </a:r>
          </a:p>
        </p:txBody>
      </p:sp>
      <p:cxnSp>
        <p:nvCxnSpPr>
          <p:cNvPr id="115" name="Connector 114"/>
          <p:cNvCxnSpPr/>
          <p:nvPr/>
        </p:nvCxnSpPr>
        <p:spPr>
          <a:xfrm>
            <a:off x="1691640" y="1709928"/>
            <a:ext cx="0" cy="192024"/>
          </a:xfrm>
          <a:prstGeom prst="line">
            <a:avLst/>
          </a:prstGeom>
          <a:ln w="15875">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6" name="arch_user_1"/>
          <p:cNvSpPr/>
          <p:nvPr/>
        </p:nvSpPr>
        <p:spPr>
          <a:xfrm>
            <a:off x="3200400" y="1188720"/>
            <a:ext cx="2743200" cy="502920"/>
          </a:xfrm>
          <a:prstGeom prst="roundRect">
            <a:avLst>
              <a:gd name="adj" fmla="val 6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7" name="TextBox 116"/>
          <p:cNvSpPr txBox="1"/>
          <p:nvPr/>
        </p:nvSpPr>
        <p:spPr>
          <a:xfrm>
            <a:off x="3291840" y="1225296"/>
            <a:ext cx="2560320" cy="228600"/>
          </a:xfrm>
          <a:prstGeom prst="rect">
            <a:avLst/>
          </a:prstGeom>
          <a:noFill/>
        </p:spPr>
        <p:txBody>
          <a:bodyPr wrap="square" lIns="0" tIns="0" rIns="0" bIns="0" anchor="t">
            <a:noAutofit/>
          </a:bodyPr>
          <a:lstStyle/>
          <a:p>
            <a:pPr algn="ctr">
              <a:spcBef>
                <a:spcPts val="0"/>
              </a:spcBef>
              <a:spcAft>
                <a:spcPts val="300"/>
              </a:spcAft>
            </a:pPr>
            <a:r>
              <a:rPr sz="1050" b="1" i="0">
                <a:solidFill>
                  <a:srgbClr val="202124"/>
                </a:solidFill>
                <a:latin typeface="Arial"/>
              </a:rPr>
              <a:t>Credit officer</a:t>
            </a:r>
          </a:p>
        </p:txBody>
      </p:sp>
      <p:sp>
        <p:nvSpPr>
          <p:cNvPr id="118" name="TextBox 117"/>
          <p:cNvSpPr txBox="1"/>
          <p:nvPr/>
        </p:nvSpPr>
        <p:spPr>
          <a:xfrm>
            <a:off x="3291840" y="1444752"/>
            <a:ext cx="2560320" cy="228600"/>
          </a:xfrm>
          <a:prstGeom prst="rect">
            <a:avLst/>
          </a:prstGeom>
          <a:noFill/>
        </p:spPr>
        <p:txBody>
          <a:bodyPr wrap="square" lIns="0" tIns="0" rIns="0" bIns="0" anchor="t">
            <a:noAutofit/>
          </a:bodyPr>
          <a:lstStyle/>
          <a:p>
            <a:pPr algn="ctr">
              <a:spcBef>
                <a:spcPts val="0"/>
              </a:spcBef>
              <a:spcAft>
                <a:spcPts val="300"/>
              </a:spcAft>
            </a:pPr>
            <a:r>
              <a:rPr sz="900" b="0" i="0">
                <a:solidFill>
                  <a:srgbClr val="5F6368"/>
                </a:solidFill>
                <a:latin typeface="Arial"/>
              </a:rPr>
              <a:t>Bank portal: Customers · Risk Lens · loan case</a:t>
            </a:r>
          </a:p>
        </p:txBody>
      </p:sp>
      <p:cxnSp>
        <p:nvCxnSpPr>
          <p:cNvPr id="119" name="Connector 118"/>
          <p:cNvCxnSpPr/>
          <p:nvPr/>
        </p:nvCxnSpPr>
        <p:spPr>
          <a:xfrm>
            <a:off x="4572000" y="1709928"/>
            <a:ext cx="0" cy="192024"/>
          </a:xfrm>
          <a:prstGeom prst="line">
            <a:avLst/>
          </a:prstGeom>
          <a:ln w="15875">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0" name="arch_user_2"/>
          <p:cNvSpPr/>
          <p:nvPr/>
        </p:nvSpPr>
        <p:spPr>
          <a:xfrm>
            <a:off x="6080759" y="1188720"/>
            <a:ext cx="2743200" cy="502920"/>
          </a:xfrm>
          <a:prstGeom prst="roundRect">
            <a:avLst>
              <a:gd name="adj" fmla="val 6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1" name="TextBox 120"/>
          <p:cNvSpPr txBox="1"/>
          <p:nvPr/>
        </p:nvSpPr>
        <p:spPr>
          <a:xfrm>
            <a:off x="6172199" y="1225296"/>
            <a:ext cx="2560320" cy="228600"/>
          </a:xfrm>
          <a:prstGeom prst="rect">
            <a:avLst/>
          </a:prstGeom>
          <a:noFill/>
        </p:spPr>
        <p:txBody>
          <a:bodyPr wrap="square" lIns="0" tIns="0" rIns="0" bIns="0" anchor="t">
            <a:noAutofit/>
          </a:bodyPr>
          <a:lstStyle/>
          <a:p>
            <a:pPr algn="ctr">
              <a:spcBef>
                <a:spcPts val="0"/>
              </a:spcBef>
              <a:spcAft>
                <a:spcPts val="300"/>
              </a:spcAft>
            </a:pPr>
            <a:r>
              <a:rPr sz="1050" b="1" i="0">
                <a:solidFill>
                  <a:srgbClr val="202124"/>
                </a:solidFill>
                <a:latin typeface="Arial"/>
              </a:rPr>
              <a:t>Source and lending systems</a:t>
            </a:r>
          </a:p>
        </p:txBody>
      </p:sp>
      <p:sp>
        <p:nvSpPr>
          <p:cNvPr id="122" name="TextBox 121"/>
          <p:cNvSpPr txBox="1"/>
          <p:nvPr/>
        </p:nvSpPr>
        <p:spPr>
          <a:xfrm>
            <a:off x="6172199" y="1444752"/>
            <a:ext cx="2560320" cy="228600"/>
          </a:xfrm>
          <a:prstGeom prst="rect">
            <a:avLst/>
          </a:prstGeom>
          <a:noFill/>
        </p:spPr>
        <p:txBody>
          <a:bodyPr wrap="square" lIns="0" tIns="0" rIns="0" bIns="0" anchor="t">
            <a:noAutofit/>
          </a:bodyPr>
          <a:lstStyle/>
          <a:p>
            <a:pPr algn="ctr">
              <a:spcBef>
                <a:spcPts val="0"/>
              </a:spcBef>
              <a:spcAft>
                <a:spcPts val="300"/>
              </a:spcAft>
            </a:pPr>
            <a:r>
              <a:rPr sz="900" b="0" i="0">
                <a:solidFill>
                  <a:srgbClr val="5F6368"/>
                </a:solidFill>
                <a:latin typeface="Arial"/>
              </a:rPr>
              <a:t>AA, GST, ITR, MCA in · LOS, ULI, ONDC out</a:t>
            </a:r>
          </a:p>
        </p:txBody>
      </p:sp>
      <p:cxnSp>
        <p:nvCxnSpPr>
          <p:cNvPr id="123" name="Connector 122"/>
          <p:cNvCxnSpPr/>
          <p:nvPr/>
        </p:nvCxnSpPr>
        <p:spPr>
          <a:xfrm>
            <a:off x="7452359" y="1709928"/>
            <a:ext cx="0" cy="192024"/>
          </a:xfrm>
          <a:prstGeom prst="line">
            <a:avLst/>
          </a:prstGeom>
          <a:ln w="15875">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4" name="arch_run"/>
          <p:cNvSpPr/>
          <p:nvPr/>
        </p:nvSpPr>
        <p:spPr>
          <a:xfrm>
            <a:off x="320040" y="1920240"/>
            <a:ext cx="8503920" cy="160020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5" name="TextBox 124"/>
          <p:cNvSpPr txBox="1"/>
          <p:nvPr/>
        </p:nvSpPr>
        <p:spPr>
          <a:xfrm>
            <a:off x="457200" y="1975104"/>
            <a:ext cx="8229600" cy="228600"/>
          </a:xfrm>
          <a:prstGeom prst="rect">
            <a:avLst/>
          </a:prstGeom>
          <a:noFill/>
        </p:spPr>
        <p:txBody>
          <a:bodyPr wrap="square" lIns="0" tIns="0" rIns="0" bIns="0" anchor="t">
            <a:noAutofit/>
          </a:bodyPr>
          <a:lstStyle/>
          <a:p>
            <a:pPr algn="l">
              <a:spcBef>
                <a:spcPts val="0"/>
              </a:spcBef>
              <a:spcAft>
                <a:spcPts val="300"/>
              </a:spcAft>
            </a:pPr>
            <a:r>
              <a:rPr sz="1000" b="1" i="0">
                <a:solidFill>
                  <a:srgbClr val="202124"/>
                </a:solidFill>
                <a:latin typeface="Arial"/>
              </a:rPr>
              <a:t>Cloud Run · asia-south1 (Mumbai) — </a:t>
            </a:r>
            <a:r>
              <a:rPr sz="1000" b="0" i="0">
                <a:solidFill>
                  <a:srgbClr val="202124"/>
                </a:solidFill>
                <a:latin typeface="Arial"/>
              </a:rPr>
              <a:t>ASP.NET Core 8, one warm instance, built from source by buildpacks</a:t>
            </a:r>
          </a:p>
        </p:txBody>
      </p:sp>
      <p:sp>
        <p:nvSpPr>
          <p:cNvPr id="126" name="arch_mod_0"/>
          <p:cNvSpPr/>
          <p:nvPr/>
        </p:nvSpPr>
        <p:spPr>
          <a:xfrm>
            <a:off x="457200" y="2267712"/>
            <a:ext cx="1295400" cy="1115568"/>
          </a:xfrm>
          <a:prstGeom prst="roundRect">
            <a:avLst>
              <a:gd name="adj" fmla="val 6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7" name="TextBox 126"/>
          <p:cNvSpPr txBox="1"/>
          <p:nvPr/>
        </p:nvSpPr>
        <p:spPr>
          <a:xfrm>
            <a:off x="512064" y="2322576"/>
            <a:ext cx="1185672" cy="384048"/>
          </a:xfrm>
          <a:prstGeom prst="rect">
            <a:avLst/>
          </a:prstGeom>
          <a:noFill/>
        </p:spPr>
        <p:txBody>
          <a:bodyPr wrap="square" lIns="0" tIns="0" rIns="0" bIns="0" anchor="ctr">
            <a:noAutofit/>
          </a:bodyPr>
          <a:lstStyle/>
          <a:p>
            <a:pPr algn="ctr">
              <a:spcBef>
                <a:spcPts val="0"/>
              </a:spcBef>
              <a:spcAft>
                <a:spcPts val="300"/>
              </a:spcAft>
            </a:pPr>
            <a:r>
              <a:rPr sz="1000" b="1" i="0">
                <a:solidFill>
                  <a:srgbClr val="202124"/>
                </a:solidFill>
                <a:latin typeface="Arial"/>
              </a:rPr>
              <a:t>Web</a:t>
            </a:r>
          </a:p>
        </p:txBody>
      </p:sp>
      <p:sp>
        <p:nvSpPr>
          <p:cNvPr id="128" name="TextBox 127"/>
          <p:cNvSpPr txBox="1"/>
          <p:nvPr/>
        </p:nvSpPr>
        <p:spPr>
          <a:xfrm>
            <a:off x="512064" y="2724912"/>
            <a:ext cx="1185672" cy="621792"/>
          </a:xfrm>
          <a:prstGeom prst="rect">
            <a:avLst/>
          </a:prstGeom>
          <a:noFill/>
        </p:spPr>
        <p:txBody>
          <a:bodyPr wrap="square" lIns="0" tIns="0" rIns="0" bIns="0" anchor="t">
            <a:noAutofit/>
          </a:bodyPr>
          <a:lstStyle/>
          <a:p>
            <a:pPr algn="ctr">
              <a:spcBef>
                <a:spcPts val="0"/>
              </a:spcBef>
              <a:spcAft>
                <a:spcPts val="300"/>
              </a:spcAft>
            </a:pPr>
            <a:r>
              <a:rPr sz="900" b="0" i="0">
                <a:solidFill>
                  <a:srgbClr val="5F6368"/>
                </a:solidFill>
                <a:latin typeface="Arial"/>
              </a:rPr>
              <a:t>Customers, Risk Lens, uploads; loan-case push</a:t>
            </a:r>
          </a:p>
        </p:txBody>
      </p:sp>
      <p:sp>
        <p:nvSpPr>
          <p:cNvPr id="129" name="arch_mod_1"/>
          <p:cNvSpPr/>
          <p:nvPr/>
        </p:nvSpPr>
        <p:spPr>
          <a:xfrm>
            <a:off x="1844040" y="2267712"/>
            <a:ext cx="1295400" cy="1115568"/>
          </a:xfrm>
          <a:prstGeom prst="roundRect">
            <a:avLst>
              <a:gd name="adj" fmla="val 6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0" name="TextBox 129"/>
          <p:cNvSpPr txBox="1"/>
          <p:nvPr/>
        </p:nvSpPr>
        <p:spPr>
          <a:xfrm>
            <a:off x="1898904" y="2322576"/>
            <a:ext cx="1185672" cy="384048"/>
          </a:xfrm>
          <a:prstGeom prst="rect">
            <a:avLst/>
          </a:prstGeom>
          <a:noFill/>
        </p:spPr>
        <p:txBody>
          <a:bodyPr wrap="square" lIns="0" tIns="0" rIns="0" bIns="0" anchor="ctr">
            <a:noAutofit/>
          </a:bodyPr>
          <a:lstStyle/>
          <a:p>
            <a:pPr algn="ctr">
              <a:spcBef>
                <a:spcPts val="0"/>
              </a:spcBef>
              <a:spcAft>
                <a:spcPts val="300"/>
              </a:spcAft>
            </a:pPr>
            <a:r>
              <a:rPr sz="1000" b="1" i="0">
                <a:solidFill>
                  <a:srgbClr val="202124"/>
                </a:solidFill>
                <a:latin typeface="Arial"/>
              </a:rPr>
              <a:t>Extractor</a:t>
            </a:r>
          </a:p>
        </p:txBody>
      </p:sp>
      <p:sp>
        <p:nvSpPr>
          <p:cNvPr id="131" name="TextBox 130"/>
          <p:cNvSpPr txBox="1"/>
          <p:nvPr/>
        </p:nvSpPr>
        <p:spPr>
          <a:xfrm>
            <a:off x="1898904" y="2724912"/>
            <a:ext cx="1185672" cy="621792"/>
          </a:xfrm>
          <a:prstGeom prst="rect">
            <a:avLst/>
          </a:prstGeom>
          <a:noFill/>
        </p:spPr>
        <p:txBody>
          <a:bodyPr wrap="square" lIns="0" tIns="0" rIns="0" bIns="0" anchor="t">
            <a:noAutofit/>
          </a:bodyPr>
          <a:lstStyle/>
          <a:p>
            <a:pPr algn="ctr">
              <a:spcBef>
                <a:spcPts val="0"/>
              </a:spcBef>
              <a:spcAft>
                <a:spcPts val="300"/>
              </a:spcAft>
            </a:pPr>
            <a:r>
              <a:rPr sz="900" b="0" i="0">
                <a:solidFill>
                  <a:srgbClr val="5F6368"/>
                </a:solidFill>
                <a:latin typeface="Arial"/>
              </a:rPr>
              <a:t>Page-parallel reading, re-read on failure</a:t>
            </a:r>
          </a:p>
        </p:txBody>
      </p:sp>
      <p:sp>
        <p:nvSpPr>
          <p:cNvPr id="132" name="arch_mod_2"/>
          <p:cNvSpPr/>
          <p:nvPr/>
        </p:nvSpPr>
        <p:spPr>
          <a:xfrm>
            <a:off x="3230880" y="2267712"/>
            <a:ext cx="1295400" cy="1115568"/>
          </a:xfrm>
          <a:prstGeom prst="roundRect">
            <a:avLst>
              <a:gd name="adj" fmla="val 6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3" name="TextBox 132"/>
          <p:cNvSpPr txBox="1"/>
          <p:nvPr/>
        </p:nvSpPr>
        <p:spPr>
          <a:xfrm>
            <a:off x="3285744" y="2322576"/>
            <a:ext cx="1185672" cy="384048"/>
          </a:xfrm>
          <a:prstGeom prst="rect">
            <a:avLst/>
          </a:prstGeom>
          <a:noFill/>
        </p:spPr>
        <p:txBody>
          <a:bodyPr wrap="square" lIns="0" tIns="0" rIns="0" bIns="0" anchor="ctr">
            <a:noAutofit/>
          </a:bodyPr>
          <a:lstStyle/>
          <a:p>
            <a:pPr algn="ctr">
              <a:spcBef>
                <a:spcPts val="0"/>
              </a:spcBef>
              <a:spcAft>
                <a:spcPts val="300"/>
              </a:spcAft>
            </a:pPr>
            <a:r>
              <a:rPr sz="1000" b="1" i="0">
                <a:solidFill>
                  <a:srgbClr val="202124"/>
                </a:solidFill>
                <a:latin typeface="Arial"/>
              </a:rPr>
              <a:t>Checks + network lens</a:t>
            </a:r>
          </a:p>
        </p:txBody>
      </p:sp>
      <p:sp>
        <p:nvSpPr>
          <p:cNvPr id="134" name="TextBox 133"/>
          <p:cNvSpPr txBox="1"/>
          <p:nvPr/>
        </p:nvSpPr>
        <p:spPr>
          <a:xfrm>
            <a:off x="3285744" y="2724912"/>
            <a:ext cx="1185672" cy="621792"/>
          </a:xfrm>
          <a:prstGeom prst="rect">
            <a:avLst/>
          </a:prstGeom>
          <a:noFill/>
        </p:spPr>
        <p:txBody>
          <a:bodyPr wrap="square" lIns="0" tIns="0" rIns="0" bIns="0" anchor="t">
            <a:noAutofit/>
          </a:bodyPr>
          <a:lstStyle/>
          <a:p>
            <a:pPr algn="ctr">
              <a:spcBef>
                <a:spcPts val="0"/>
              </a:spcBef>
              <a:spcAft>
                <a:spcPts val="300"/>
              </a:spcAft>
            </a:pPr>
            <a:r>
              <a:rPr sz="900" b="0" i="0">
                <a:solidFill>
                  <a:srgbClr val="5F6368"/>
                </a:solidFill>
                <a:latin typeface="Arial"/>
              </a:rPr>
              <a:t>Nine checks, bank flags; links between customers</a:t>
            </a:r>
          </a:p>
        </p:txBody>
      </p:sp>
      <p:sp>
        <p:nvSpPr>
          <p:cNvPr id="135" name="arch_mod_3"/>
          <p:cNvSpPr/>
          <p:nvPr/>
        </p:nvSpPr>
        <p:spPr>
          <a:xfrm>
            <a:off x="4617720" y="2267712"/>
            <a:ext cx="1295400" cy="1115568"/>
          </a:xfrm>
          <a:prstGeom prst="roundRect">
            <a:avLst>
              <a:gd name="adj" fmla="val 6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6" name="TextBox 135"/>
          <p:cNvSpPr txBox="1"/>
          <p:nvPr/>
        </p:nvSpPr>
        <p:spPr>
          <a:xfrm>
            <a:off x="4672584" y="2322576"/>
            <a:ext cx="1185672" cy="384048"/>
          </a:xfrm>
          <a:prstGeom prst="rect">
            <a:avLst/>
          </a:prstGeom>
          <a:noFill/>
        </p:spPr>
        <p:txBody>
          <a:bodyPr wrap="square" lIns="0" tIns="0" rIns="0" bIns="0" anchor="ctr">
            <a:noAutofit/>
          </a:bodyPr>
          <a:lstStyle/>
          <a:p>
            <a:pPr algn="ctr">
              <a:spcBef>
                <a:spcPts val="0"/>
              </a:spcBef>
              <a:spcAft>
                <a:spcPts val="300"/>
              </a:spcAft>
            </a:pPr>
            <a:r>
              <a:rPr sz="1000" b="1" i="0">
                <a:solidFill>
                  <a:srgbClr val="202124"/>
                </a:solidFill>
                <a:latin typeface="Arial"/>
              </a:rPr>
              <a:t>Investigator</a:t>
            </a:r>
          </a:p>
        </p:txBody>
      </p:sp>
      <p:sp>
        <p:nvSpPr>
          <p:cNvPr id="137" name="TextBox 136"/>
          <p:cNvSpPr txBox="1"/>
          <p:nvPr/>
        </p:nvSpPr>
        <p:spPr>
          <a:xfrm>
            <a:off x="4672584" y="2724912"/>
            <a:ext cx="1185672" cy="621792"/>
          </a:xfrm>
          <a:prstGeom prst="rect">
            <a:avLst/>
          </a:prstGeom>
          <a:noFill/>
        </p:spPr>
        <p:txBody>
          <a:bodyPr wrap="square" lIns="0" tIns="0" rIns="0" bIns="0" anchor="t">
            <a:noAutofit/>
          </a:bodyPr>
          <a:lstStyle/>
          <a:p>
            <a:pPr algn="ctr">
              <a:spcBef>
                <a:spcPts val="0"/>
              </a:spcBef>
              <a:spcAft>
                <a:spcPts val="300"/>
              </a:spcAft>
            </a:pPr>
            <a:r>
              <a:rPr sz="900" b="0" i="0">
                <a:solidFill>
                  <a:srgbClr val="5F6368"/>
                </a:solidFill>
                <a:latin typeface="Arial"/>
              </a:rPr>
              <a:t>Function calling, customer-scoped; claims verified</a:t>
            </a:r>
          </a:p>
        </p:txBody>
      </p:sp>
      <p:sp>
        <p:nvSpPr>
          <p:cNvPr id="138" name="arch_mod_4"/>
          <p:cNvSpPr/>
          <p:nvPr/>
        </p:nvSpPr>
        <p:spPr>
          <a:xfrm>
            <a:off x="6004560" y="2267712"/>
            <a:ext cx="1295400" cy="1115568"/>
          </a:xfrm>
          <a:prstGeom prst="roundRect">
            <a:avLst>
              <a:gd name="adj" fmla="val 6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9" name="TextBox 138"/>
          <p:cNvSpPr txBox="1"/>
          <p:nvPr/>
        </p:nvSpPr>
        <p:spPr>
          <a:xfrm>
            <a:off x="6059424" y="2322576"/>
            <a:ext cx="1185672" cy="384048"/>
          </a:xfrm>
          <a:prstGeom prst="rect">
            <a:avLst/>
          </a:prstGeom>
          <a:noFill/>
        </p:spPr>
        <p:txBody>
          <a:bodyPr wrap="square" lIns="0" tIns="0" rIns="0" bIns="0" anchor="ctr">
            <a:noAutofit/>
          </a:bodyPr>
          <a:lstStyle/>
          <a:p>
            <a:pPr algn="ctr">
              <a:spcBef>
                <a:spcPts val="0"/>
              </a:spcBef>
              <a:spcAft>
                <a:spcPts val="300"/>
              </a:spcAft>
            </a:pPr>
            <a:r>
              <a:rPr sz="1000" b="1" i="0">
                <a:solidFill>
                  <a:srgbClr val="202124"/>
                </a:solidFill>
                <a:latin typeface="Arial"/>
              </a:rPr>
              <a:t>Credit decision</a:t>
            </a:r>
          </a:p>
        </p:txBody>
      </p:sp>
      <p:sp>
        <p:nvSpPr>
          <p:cNvPr id="140" name="TextBox 139"/>
          <p:cNvSpPr txBox="1"/>
          <p:nvPr/>
        </p:nvSpPr>
        <p:spPr>
          <a:xfrm>
            <a:off x="6059424" y="2724912"/>
            <a:ext cx="1185672" cy="621792"/>
          </a:xfrm>
          <a:prstGeom prst="rect">
            <a:avLst/>
          </a:prstGeom>
          <a:noFill/>
        </p:spPr>
        <p:txBody>
          <a:bodyPr wrap="square" lIns="0" tIns="0" rIns="0" bIns="0" anchor="t">
            <a:noAutofit/>
          </a:bodyPr>
          <a:lstStyle/>
          <a:p>
            <a:pPr algn="ctr">
              <a:spcBef>
                <a:spcPts val="0"/>
              </a:spcBef>
              <a:spcAft>
                <a:spcPts val="300"/>
              </a:spcAft>
            </a:pPr>
            <a:r>
              <a:rPr sz="900" b="0" i="0">
                <a:solidFill>
                  <a:srgbClr val="5F6368"/>
                </a:solidFill>
                <a:latin typeface="Arial"/>
              </a:rPr>
              <a:t>Capacity in code; Pro decides; figures verified</a:t>
            </a:r>
          </a:p>
        </p:txBody>
      </p:sp>
      <p:sp>
        <p:nvSpPr>
          <p:cNvPr id="141" name="arch_mod_5"/>
          <p:cNvSpPr/>
          <p:nvPr/>
        </p:nvSpPr>
        <p:spPr>
          <a:xfrm>
            <a:off x="7391400" y="2267712"/>
            <a:ext cx="1295400" cy="1115568"/>
          </a:xfrm>
          <a:prstGeom prst="roundRect">
            <a:avLst>
              <a:gd name="adj" fmla="val 6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2" name="TextBox 141"/>
          <p:cNvSpPr txBox="1"/>
          <p:nvPr/>
        </p:nvSpPr>
        <p:spPr>
          <a:xfrm>
            <a:off x="7446264" y="2322576"/>
            <a:ext cx="1185672" cy="384048"/>
          </a:xfrm>
          <a:prstGeom prst="rect">
            <a:avLst/>
          </a:prstGeom>
          <a:noFill/>
        </p:spPr>
        <p:txBody>
          <a:bodyPr wrap="square" lIns="0" tIns="0" rIns="0" bIns="0" anchor="ctr">
            <a:noAutofit/>
          </a:bodyPr>
          <a:lstStyle/>
          <a:p>
            <a:pPr algn="ctr">
              <a:spcBef>
                <a:spcPts val="0"/>
              </a:spcBef>
              <a:spcAft>
                <a:spcPts val="300"/>
              </a:spcAft>
            </a:pPr>
            <a:r>
              <a:rPr sz="1000" b="1" i="0">
                <a:solidFill>
                  <a:srgbClr val="202124"/>
                </a:solidFill>
                <a:latin typeface="Arial"/>
              </a:rPr>
              <a:t>Knowledge (RAG)</a:t>
            </a:r>
          </a:p>
        </p:txBody>
      </p:sp>
      <p:sp>
        <p:nvSpPr>
          <p:cNvPr id="143" name="TextBox 142"/>
          <p:cNvSpPr txBox="1"/>
          <p:nvPr/>
        </p:nvSpPr>
        <p:spPr>
          <a:xfrm>
            <a:off x="7446264" y="2724912"/>
            <a:ext cx="1185672" cy="621792"/>
          </a:xfrm>
          <a:prstGeom prst="rect">
            <a:avLst/>
          </a:prstGeom>
          <a:noFill/>
        </p:spPr>
        <p:txBody>
          <a:bodyPr wrap="square" lIns="0" tIns="0" rIns="0" bIns="0" anchor="t">
            <a:noAutofit/>
          </a:bodyPr>
          <a:lstStyle/>
          <a:p>
            <a:pPr algn="ctr">
              <a:spcBef>
                <a:spcPts val="0"/>
              </a:spcBef>
              <a:spcAft>
                <a:spcPts val="300"/>
              </a:spcAft>
            </a:pPr>
            <a:r>
              <a:rPr sz="900" b="0" i="0">
                <a:solidFill>
                  <a:srgbClr val="5F6368"/>
                </a:solidFill>
                <a:latin typeface="Arial"/>
              </a:rPr>
              <a:t>tsvector + HNSW, RRF, rerank</a:t>
            </a:r>
          </a:p>
        </p:txBody>
      </p:sp>
      <p:cxnSp>
        <p:nvCxnSpPr>
          <p:cNvPr id="144" name="Connector 143"/>
          <p:cNvCxnSpPr/>
          <p:nvPr/>
        </p:nvCxnSpPr>
        <p:spPr>
          <a:xfrm>
            <a:off x="1691640" y="3538728"/>
            <a:ext cx="0" cy="210311"/>
          </a:xfrm>
          <a:prstGeom prst="line">
            <a:avLst/>
          </a:prstGeom>
          <a:ln w="15875">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5" name="arch_svc_0"/>
          <p:cNvSpPr/>
          <p:nvPr/>
        </p:nvSpPr>
        <p:spPr>
          <a:xfrm>
            <a:off x="320040" y="3767328"/>
            <a:ext cx="2743200" cy="1097280"/>
          </a:xfrm>
          <a:prstGeom prst="roundRect">
            <a:avLst>
              <a:gd name="adj" fmla="val 6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6" name="arch_svc_0_circle"/>
          <p:cNvSpPr/>
          <p:nvPr/>
        </p:nvSpPr>
        <p:spPr>
          <a:xfrm>
            <a:off x="429768" y="3886200"/>
            <a:ext cx="365760" cy="365760"/>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47" name="arch_svc_0_icon" descr="spark_w.png"/>
          <p:cNvPicPr>
            <a:picLocks noChangeAspect="1"/>
          </p:cNvPicPr>
          <p:nvPr/>
        </p:nvPicPr>
        <p:blipFill>
          <a:blip r:embed="rId5"/>
          <a:stretch>
            <a:fillRect/>
          </a:stretch>
        </p:blipFill>
        <p:spPr>
          <a:xfrm>
            <a:off x="510235" y="3966667"/>
            <a:ext cx="204825" cy="204825"/>
          </a:xfrm>
          <a:prstGeom prst="rect">
            <a:avLst/>
          </a:prstGeom>
        </p:spPr>
      </p:pic>
      <p:sp>
        <p:nvSpPr>
          <p:cNvPr id="148" name="TextBox 147"/>
          <p:cNvSpPr txBox="1"/>
          <p:nvPr/>
        </p:nvSpPr>
        <p:spPr>
          <a:xfrm>
            <a:off x="886968" y="3886200"/>
            <a:ext cx="2103120" cy="365760"/>
          </a:xfrm>
          <a:prstGeom prst="rect">
            <a:avLst/>
          </a:prstGeom>
          <a:noFill/>
        </p:spPr>
        <p:txBody>
          <a:bodyPr wrap="square" lIns="0" tIns="0" rIns="0" bIns="0" anchor="ctr">
            <a:noAutofit/>
          </a:bodyPr>
          <a:lstStyle/>
          <a:p>
            <a:pPr algn="l">
              <a:spcBef>
                <a:spcPts val="0"/>
              </a:spcBef>
              <a:spcAft>
                <a:spcPts val="300"/>
              </a:spcAft>
            </a:pPr>
            <a:r>
              <a:rPr sz="1050" b="1" i="0">
                <a:solidFill>
                  <a:srgbClr val="202124"/>
                </a:solidFill>
                <a:latin typeface="Arial"/>
              </a:rPr>
              <a:t>Vertex AI · Gemini</a:t>
            </a:r>
          </a:p>
        </p:txBody>
      </p:sp>
      <p:sp>
        <p:nvSpPr>
          <p:cNvPr id="149" name="TextBox 148"/>
          <p:cNvSpPr txBox="1"/>
          <p:nvPr/>
        </p:nvSpPr>
        <p:spPr>
          <a:xfrm>
            <a:off x="457200" y="4315968"/>
            <a:ext cx="2514600" cy="502920"/>
          </a:xfrm>
          <a:prstGeom prst="rect">
            <a:avLst/>
          </a:prstGeom>
          <a:noFill/>
        </p:spPr>
        <p:txBody>
          <a:bodyPr wrap="square" lIns="0" tIns="0" rIns="0" bIns="0" anchor="t">
            <a:noAutofit/>
          </a:bodyPr>
          <a:lstStyle/>
          <a:p>
            <a:pPr algn="l">
              <a:spcBef>
                <a:spcPts val="0"/>
              </a:spcBef>
              <a:spcAft>
                <a:spcPts val="100"/>
              </a:spcAft>
            </a:pPr>
            <a:r>
              <a:rPr sz="950" b="1" i="0">
                <a:solidFill>
                  <a:srgbClr val="202124"/>
                </a:solidFill>
                <a:latin typeface="Arial"/>
              </a:rPr>
              <a:t>Mumbai: </a:t>
            </a:r>
            <a:r>
              <a:rPr sz="950" b="0" i="0">
                <a:solidFill>
                  <a:srgbClr val="202124"/>
                </a:solidFill>
                <a:latin typeface="Arial"/>
              </a:rPr>
              <a:t>Flash extraction, embeddings</a:t>
            </a:r>
          </a:p>
          <a:p>
            <a:pPr algn="l">
              <a:spcBef>
                <a:spcPts val="0"/>
              </a:spcBef>
              <a:spcAft>
                <a:spcPts val="100"/>
              </a:spcAft>
            </a:pPr>
            <a:r>
              <a:rPr sz="950" b="1" i="0">
                <a:solidFill>
                  <a:srgbClr val="202124"/>
                </a:solidFill>
                <a:latin typeface="Arial"/>
              </a:rPr>
              <a:t>global: </a:t>
            </a:r>
            <a:r>
              <a:rPr sz="950" b="0" i="0">
                <a:solidFill>
                  <a:srgbClr val="202124"/>
                </a:solidFill>
                <a:latin typeface="Arial"/>
              </a:rPr>
              <a:t>Pro investigator and credit decision</a:t>
            </a:r>
          </a:p>
        </p:txBody>
      </p:sp>
      <p:cxnSp>
        <p:nvCxnSpPr>
          <p:cNvPr id="150" name="Connector 149"/>
          <p:cNvCxnSpPr/>
          <p:nvPr/>
        </p:nvCxnSpPr>
        <p:spPr>
          <a:xfrm>
            <a:off x="4572000" y="3538728"/>
            <a:ext cx="0" cy="210311"/>
          </a:xfrm>
          <a:prstGeom prst="line">
            <a:avLst/>
          </a:prstGeom>
          <a:ln w="15875">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1" name="arch_svc_1"/>
          <p:cNvSpPr/>
          <p:nvPr/>
        </p:nvSpPr>
        <p:spPr>
          <a:xfrm>
            <a:off x="3200400" y="3767328"/>
            <a:ext cx="2743200" cy="1097280"/>
          </a:xfrm>
          <a:prstGeom prst="roundRect">
            <a:avLst>
              <a:gd name="adj" fmla="val 6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2" name="arch_svc_1_circle"/>
          <p:cNvSpPr/>
          <p:nvPr/>
        </p:nvSpPr>
        <p:spPr>
          <a:xfrm>
            <a:off x="3310128" y="3886200"/>
            <a:ext cx="365760" cy="365760"/>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3" name="arch_svc_1_icon" descr="db_w.png"/>
          <p:cNvPicPr>
            <a:picLocks noChangeAspect="1"/>
          </p:cNvPicPr>
          <p:nvPr/>
        </p:nvPicPr>
        <p:blipFill>
          <a:blip r:embed="rId6"/>
          <a:stretch>
            <a:fillRect/>
          </a:stretch>
        </p:blipFill>
        <p:spPr>
          <a:xfrm>
            <a:off x="3390595" y="3966667"/>
            <a:ext cx="204825" cy="204825"/>
          </a:xfrm>
          <a:prstGeom prst="rect">
            <a:avLst/>
          </a:prstGeom>
        </p:spPr>
      </p:pic>
      <p:sp>
        <p:nvSpPr>
          <p:cNvPr id="154" name="TextBox 153"/>
          <p:cNvSpPr txBox="1"/>
          <p:nvPr/>
        </p:nvSpPr>
        <p:spPr>
          <a:xfrm>
            <a:off x="3767328" y="3886200"/>
            <a:ext cx="2103120" cy="365760"/>
          </a:xfrm>
          <a:prstGeom prst="rect">
            <a:avLst/>
          </a:prstGeom>
          <a:noFill/>
        </p:spPr>
        <p:txBody>
          <a:bodyPr wrap="square" lIns="0" tIns="0" rIns="0" bIns="0" anchor="ctr">
            <a:noAutofit/>
          </a:bodyPr>
          <a:lstStyle/>
          <a:p>
            <a:pPr algn="l">
              <a:spcBef>
                <a:spcPts val="0"/>
              </a:spcBef>
              <a:spcAft>
                <a:spcPts val="300"/>
              </a:spcAft>
            </a:pPr>
            <a:r>
              <a:rPr sz="1050" b="1" i="0">
                <a:solidFill>
                  <a:srgbClr val="202124"/>
                </a:solidFill>
                <a:latin typeface="Arial"/>
              </a:rPr>
              <a:t>Cloud SQL · PostgreSQL 16</a:t>
            </a:r>
          </a:p>
        </p:txBody>
      </p:sp>
      <p:sp>
        <p:nvSpPr>
          <p:cNvPr id="155" name="TextBox 154"/>
          <p:cNvSpPr txBox="1"/>
          <p:nvPr/>
        </p:nvSpPr>
        <p:spPr>
          <a:xfrm>
            <a:off x="3337560" y="4315968"/>
            <a:ext cx="2514600" cy="502920"/>
          </a:xfrm>
          <a:prstGeom prst="rect">
            <a:avLst/>
          </a:prstGeom>
          <a:noFill/>
        </p:spPr>
        <p:txBody>
          <a:bodyPr wrap="square" lIns="0" tIns="0" rIns="0" bIns="0" anchor="t">
            <a:noAutofit/>
          </a:bodyPr>
          <a:lstStyle/>
          <a:p>
            <a:pPr algn="l">
              <a:spcBef>
                <a:spcPts val="0"/>
              </a:spcBef>
              <a:spcAft>
                <a:spcPts val="100"/>
              </a:spcAft>
            </a:pPr>
            <a:r>
              <a:rPr sz="950" b="1" i="0">
                <a:solidFill>
                  <a:srgbClr val="202124"/>
                </a:solidFill>
                <a:latin typeface="Arial"/>
              </a:rPr>
              <a:t>pgvector + full-text: </a:t>
            </a:r>
            <a:r>
              <a:rPr sz="950" b="0" i="0">
                <a:solidFill>
                  <a:srgbClr val="202124"/>
                </a:solidFill>
                <a:latin typeface="Arial"/>
              </a:rPr>
              <a:t>assessments,</a:t>
            </a:r>
          </a:p>
          <a:p>
            <a:pPr algn="l">
              <a:spcBef>
                <a:spcPts val="0"/>
              </a:spcBef>
              <a:spcAft>
                <a:spcPts val="100"/>
              </a:spcAft>
            </a:pPr>
            <a:r>
              <a:rPr sz="950" b="0" i="0">
                <a:solidFill>
                  <a:srgbClr val="202124"/>
                </a:solidFill>
                <a:latin typeface="Arial"/>
              </a:rPr>
              <a:t>findings, credit decisions, knowledge</a:t>
            </a:r>
          </a:p>
        </p:txBody>
      </p:sp>
      <p:cxnSp>
        <p:nvCxnSpPr>
          <p:cNvPr id="156" name="Connector 155"/>
          <p:cNvCxnSpPr/>
          <p:nvPr/>
        </p:nvCxnSpPr>
        <p:spPr>
          <a:xfrm>
            <a:off x="7452359" y="3538728"/>
            <a:ext cx="0" cy="210311"/>
          </a:xfrm>
          <a:prstGeom prst="line">
            <a:avLst/>
          </a:prstGeom>
          <a:ln w="15875">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7" name="arch_svc_2"/>
          <p:cNvSpPr/>
          <p:nvPr/>
        </p:nvSpPr>
        <p:spPr>
          <a:xfrm>
            <a:off x="6080759" y="3767328"/>
            <a:ext cx="2743200" cy="1097280"/>
          </a:xfrm>
          <a:prstGeom prst="roundRect">
            <a:avLst>
              <a:gd name="adj" fmla="val 6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8" name="arch_svc_2_circle"/>
          <p:cNvSpPr/>
          <p:nvPr/>
        </p:nvSpPr>
        <p:spPr>
          <a:xfrm>
            <a:off x="6190488" y="3886200"/>
            <a:ext cx="365760" cy="365760"/>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9" name="arch_svc_2_icon" descr="cloud_w.png"/>
          <p:cNvPicPr>
            <a:picLocks noChangeAspect="1"/>
          </p:cNvPicPr>
          <p:nvPr/>
        </p:nvPicPr>
        <p:blipFill>
          <a:blip r:embed="rId7"/>
          <a:stretch>
            <a:fillRect/>
          </a:stretch>
        </p:blipFill>
        <p:spPr>
          <a:xfrm>
            <a:off x="6270955" y="3966667"/>
            <a:ext cx="204825" cy="204825"/>
          </a:xfrm>
          <a:prstGeom prst="rect">
            <a:avLst/>
          </a:prstGeom>
        </p:spPr>
      </p:pic>
      <p:sp>
        <p:nvSpPr>
          <p:cNvPr id="160" name="TextBox 159"/>
          <p:cNvSpPr txBox="1"/>
          <p:nvPr/>
        </p:nvSpPr>
        <p:spPr>
          <a:xfrm>
            <a:off x="6647688" y="3886200"/>
            <a:ext cx="2103120" cy="365760"/>
          </a:xfrm>
          <a:prstGeom prst="rect">
            <a:avLst/>
          </a:prstGeom>
          <a:noFill/>
        </p:spPr>
        <p:txBody>
          <a:bodyPr wrap="square" lIns="0" tIns="0" rIns="0" bIns="0" anchor="ctr">
            <a:noAutofit/>
          </a:bodyPr>
          <a:lstStyle/>
          <a:p>
            <a:pPr algn="l">
              <a:spcBef>
                <a:spcPts val="0"/>
              </a:spcBef>
              <a:spcAft>
                <a:spcPts val="300"/>
              </a:spcAft>
            </a:pPr>
            <a:r>
              <a:rPr sz="1050" b="1" i="0">
                <a:solidFill>
                  <a:srgbClr val="202124"/>
                </a:solidFill>
                <a:latin typeface="Arial"/>
              </a:rPr>
              <a:t>Cloud Storage · Mumbai</a:t>
            </a:r>
          </a:p>
        </p:txBody>
      </p:sp>
      <p:sp>
        <p:nvSpPr>
          <p:cNvPr id="161" name="TextBox 160"/>
          <p:cNvSpPr txBox="1"/>
          <p:nvPr/>
        </p:nvSpPr>
        <p:spPr>
          <a:xfrm>
            <a:off x="6217920" y="4315968"/>
            <a:ext cx="2514600" cy="502920"/>
          </a:xfrm>
          <a:prstGeom prst="rect">
            <a:avLst/>
          </a:prstGeom>
          <a:noFill/>
        </p:spPr>
        <p:txBody>
          <a:bodyPr wrap="square" lIns="0" tIns="0" rIns="0" bIns="0" anchor="t">
            <a:noAutofit/>
          </a:bodyPr>
          <a:lstStyle/>
          <a:p>
            <a:pPr algn="l">
              <a:spcBef>
                <a:spcPts val="0"/>
              </a:spcBef>
              <a:spcAft>
                <a:spcPts val="100"/>
              </a:spcAft>
            </a:pPr>
            <a:r>
              <a:rPr sz="950" b="1" i="0">
                <a:solidFill>
                  <a:srgbClr val="202124"/>
                </a:solidFill>
                <a:latin typeface="Arial"/>
              </a:rPr>
              <a:t>uploads</a:t>
            </a:r>
            <a:r>
              <a:rPr sz="950" b="0" i="0">
                <a:solidFill>
                  <a:srgbClr val="202124"/>
                </a:solidFill>
                <a:latin typeface="Arial"/>
              </a:rPr>
              <a:t> · </a:t>
            </a:r>
            <a:r>
              <a:rPr sz="950" b="1" i="0">
                <a:solidFill>
                  <a:srgbClr val="202124"/>
                </a:solidFill>
                <a:latin typeface="Arial"/>
              </a:rPr>
              <a:t>sources: </a:t>
            </a:r>
            <a:r>
              <a:rPr sz="950" b="0" i="0">
                <a:solidFill>
                  <a:srgbClr val="202124"/>
                </a:solidFill>
                <a:latin typeface="Arial"/>
              </a:rPr>
              <a:t>AA, GST, ITR</a:t>
            </a:r>
          </a:p>
          <a:p>
            <a:pPr algn="l">
              <a:spcBef>
                <a:spcPts val="0"/>
              </a:spcBef>
              <a:spcAft>
                <a:spcPts val="100"/>
              </a:spcAft>
            </a:pPr>
            <a:r>
              <a:rPr sz="950" b="1" i="0">
                <a:solidFill>
                  <a:srgbClr val="202124"/>
                </a:solidFill>
                <a:latin typeface="Arial"/>
              </a:rPr>
              <a:t>keys: </a:t>
            </a:r>
            <a:r>
              <a:rPr sz="950" b="0" i="0">
                <a:solidFill>
                  <a:srgbClr val="202124"/>
                </a:solidFill>
                <a:latin typeface="Arial"/>
              </a:rPr>
              <a:t>sign-in keys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9" name="Google Shape;119;p21"/>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tech_0"/>
          <p:cNvSpPr/>
          <p:nvPr/>
        </p:nvSpPr>
        <p:spPr>
          <a:xfrm>
            <a:off x="320040" y="1188720"/>
            <a:ext cx="4206240" cy="178308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1" name="tech_0_circle"/>
          <p:cNvSpPr/>
          <p:nvPr/>
        </p:nvSpPr>
        <p:spPr>
          <a:xfrm>
            <a:off x="457200" y="1325880"/>
            <a:ext cx="384048" cy="384048"/>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2" name="tech_0_icon" descr="cloud_w.png"/>
          <p:cNvPicPr>
            <a:picLocks noChangeAspect="1"/>
          </p:cNvPicPr>
          <p:nvPr/>
        </p:nvPicPr>
        <p:blipFill>
          <a:blip r:embed="rId5"/>
          <a:stretch>
            <a:fillRect/>
          </a:stretch>
        </p:blipFill>
        <p:spPr>
          <a:xfrm>
            <a:off x="541690" y="1410370"/>
            <a:ext cx="215066" cy="215066"/>
          </a:xfrm>
          <a:prstGeom prst="rect">
            <a:avLst/>
          </a:prstGeom>
        </p:spPr>
      </p:pic>
      <p:sp>
        <p:nvSpPr>
          <p:cNvPr id="123" name="TextBox 122"/>
          <p:cNvSpPr txBox="1"/>
          <p:nvPr/>
        </p:nvSpPr>
        <p:spPr>
          <a:xfrm>
            <a:off x="941832" y="1325880"/>
            <a:ext cx="3474720" cy="384048"/>
          </a:xfrm>
          <a:prstGeom prst="rect">
            <a:avLst/>
          </a:prstGeom>
          <a:noFill/>
        </p:spPr>
        <p:txBody>
          <a:bodyPr wrap="square" lIns="0" tIns="0" rIns="0" bIns="0" anchor="ctr">
            <a:noAutofit/>
          </a:bodyPr>
          <a:lstStyle/>
          <a:p>
            <a:pPr algn="l">
              <a:spcBef>
                <a:spcPts val="0"/>
              </a:spcBef>
              <a:spcAft>
                <a:spcPts val="300"/>
              </a:spcAft>
            </a:pPr>
            <a:r>
              <a:rPr sz="1200" b="1" i="0">
                <a:solidFill>
                  <a:srgbClr val="202124"/>
                </a:solidFill>
                <a:latin typeface="Arial"/>
              </a:rPr>
              <a:t>Google Cloud</a:t>
            </a:r>
          </a:p>
        </p:txBody>
      </p:sp>
      <p:sp>
        <p:nvSpPr>
          <p:cNvPr id="124" name="TextBox 123"/>
          <p:cNvSpPr txBox="1"/>
          <p:nvPr/>
        </p:nvSpPr>
        <p:spPr>
          <a:xfrm>
            <a:off x="457200" y="1792224"/>
            <a:ext cx="3931920" cy="1088136"/>
          </a:xfrm>
          <a:prstGeom prst="rect">
            <a:avLst/>
          </a:prstGeom>
          <a:noFill/>
        </p:spPr>
        <p:txBody>
          <a:bodyPr wrap="square" lIns="0" tIns="0" rIns="0" bIns="0" anchor="t">
            <a:noAutofit/>
          </a:bodyPr>
          <a:lstStyle/>
          <a:p>
            <a:pPr marL="146304" indent="-146304" algn="l">
              <a:spcBef>
                <a:spcPts val="0"/>
              </a:spcBef>
              <a:spcAft>
                <a:spcPts val="300"/>
              </a:spcAft>
              <a:buFont typeface="Arial"/>
              <a:buChar char="•"/>
            </a:pPr>
            <a:r>
              <a:rPr sz="1000" b="0" i="0">
                <a:solidFill>
                  <a:srgbClr val="202124"/>
                </a:solidFill>
                <a:latin typeface="Arial"/>
              </a:rPr>
              <a:t>Vertex AI — Gemini 3.5 Flash (extraction), Gemini 3.1 Pro (investigator, credit decision), Gemini 3.8 Flash (rerank), gemini-embedding-001</a:t>
            </a:r>
          </a:p>
          <a:p>
            <a:pPr marL="146304" indent="-146304" algn="l">
              <a:spcBef>
                <a:spcPts val="0"/>
              </a:spcBef>
              <a:spcAft>
                <a:spcPts val="300"/>
              </a:spcAft>
              <a:buFont typeface="Arial"/>
              <a:buChar char="•"/>
            </a:pPr>
            <a:r>
              <a:rPr sz="1000" b="0" i="0">
                <a:solidFill>
                  <a:srgbClr val="202124"/>
                </a:solidFill>
                <a:latin typeface="Arial"/>
              </a:rPr>
              <a:t>Cloud Run (buildpacks, no Dockerfile) · Cloud Build</a:t>
            </a:r>
          </a:p>
          <a:p>
            <a:pPr marL="146304" indent="-146304" algn="l">
              <a:spcBef>
                <a:spcPts val="0"/>
              </a:spcBef>
              <a:spcAft>
                <a:spcPts val="300"/>
              </a:spcAft>
              <a:buFont typeface="Arial"/>
              <a:buChar char="•"/>
            </a:pPr>
            <a:r>
              <a:rPr sz="1000" b="0" i="0">
                <a:solidFill>
                  <a:srgbClr val="202124"/>
                </a:solidFill>
                <a:latin typeface="Arial"/>
              </a:rPr>
              <a:t>Cloud SQL for PostgreSQL 16 + pgvector · Cloud Storage</a:t>
            </a:r>
          </a:p>
        </p:txBody>
      </p:sp>
      <p:sp>
        <p:nvSpPr>
          <p:cNvPr id="125" name="tech_1"/>
          <p:cNvSpPr/>
          <p:nvPr/>
        </p:nvSpPr>
        <p:spPr>
          <a:xfrm>
            <a:off x="4617720" y="1188720"/>
            <a:ext cx="4206240" cy="178308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6" name="tech_1_circle"/>
          <p:cNvSpPr/>
          <p:nvPr/>
        </p:nvSpPr>
        <p:spPr>
          <a:xfrm>
            <a:off x="4754880" y="1325880"/>
            <a:ext cx="384048" cy="384048"/>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7" name="tech_1_icon" descr="brain_w.png"/>
          <p:cNvPicPr>
            <a:picLocks noChangeAspect="1"/>
          </p:cNvPicPr>
          <p:nvPr/>
        </p:nvPicPr>
        <p:blipFill>
          <a:blip r:embed="rId6"/>
          <a:stretch>
            <a:fillRect/>
          </a:stretch>
        </p:blipFill>
        <p:spPr>
          <a:xfrm>
            <a:off x="4839370" y="1410370"/>
            <a:ext cx="215066" cy="215066"/>
          </a:xfrm>
          <a:prstGeom prst="rect">
            <a:avLst/>
          </a:prstGeom>
        </p:spPr>
      </p:pic>
      <p:sp>
        <p:nvSpPr>
          <p:cNvPr id="128" name="TextBox 127"/>
          <p:cNvSpPr txBox="1"/>
          <p:nvPr/>
        </p:nvSpPr>
        <p:spPr>
          <a:xfrm>
            <a:off x="5239512" y="1325880"/>
            <a:ext cx="3474720" cy="384048"/>
          </a:xfrm>
          <a:prstGeom prst="rect">
            <a:avLst/>
          </a:prstGeom>
          <a:noFill/>
        </p:spPr>
        <p:txBody>
          <a:bodyPr wrap="square" lIns="0" tIns="0" rIns="0" bIns="0" anchor="ctr">
            <a:noAutofit/>
          </a:bodyPr>
          <a:lstStyle/>
          <a:p>
            <a:pPr algn="l">
              <a:spcBef>
                <a:spcPts val="0"/>
              </a:spcBef>
              <a:spcAft>
                <a:spcPts val="300"/>
              </a:spcAft>
            </a:pPr>
            <a:r>
              <a:rPr sz="1200" b="1" i="0">
                <a:solidFill>
                  <a:srgbClr val="202124"/>
                </a:solidFill>
                <a:latin typeface="Arial"/>
              </a:rPr>
              <a:t>AI techniques</a:t>
            </a:r>
          </a:p>
        </p:txBody>
      </p:sp>
      <p:sp>
        <p:nvSpPr>
          <p:cNvPr id="129" name="TextBox 128"/>
          <p:cNvSpPr txBox="1"/>
          <p:nvPr/>
        </p:nvSpPr>
        <p:spPr>
          <a:xfrm>
            <a:off x="4754880" y="1792224"/>
            <a:ext cx="3931920" cy="1088136"/>
          </a:xfrm>
          <a:prstGeom prst="rect">
            <a:avLst/>
          </a:prstGeom>
          <a:noFill/>
        </p:spPr>
        <p:txBody>
          <a:bodyPr wrap="square" lIns="0" tIns="0" rIns="0" bIns="0" anchor="t">
            <a:noAutofit/>
          </a:bodyPr>
          <a:lstStyle/>
          <a:p>
            <a:pPr marL="146304" indent="-146304" algn="l">
              <a:spcBef>
                <a:spcPts val="0"/>
              </a:spcBef>
              <a:spcAft>
                <a:spcPts val="300"/>
              </a:spcAft>
              <a:buFont typeface="Arial"/>
              <a:buChar char="•"/>
            </a:pPr>
            <a:r>
              <a:rPr sz="1000" b="0" i="0">
                <a:solidFill>
                  <a:srgbClr val="202124"/>
                </a:solidFill>
                <a:latin typeface="Arial"/>
              </a:rPr>
              <a:t>Multimodal structured output: PDF and image to a fixed schema</a:t>
            </a:r>
          </a:p>
          <a:p>
            <a:pPr marL="146304" indent="-146304" algn="l">
              <a:spcBef>
                <a:spcPts val="0"/>
              </a:spcBef>
              <a:spcAft>
                <a:spcPts val="300"/>
              </a:spcAft>
              <a:buFont typeface="Arial"/>
              <a:buChar char="•"/>
            </a:pPr>
            <a:r>
              <a:rPr sz="1000" b="0" i="0">
                <a:solidFill>
                  <a:srgbClr val="202124"/>
                </a:solidFill>
                <a:latin typeface="Arial"/>
              </a:rPr>
              <a:t>Function-calling agent with tools bound server-side to one customer</a:t>
            </a:r>
          </a:p>
          <a:p>
            <a:pPr marL="146304" indent="-146304" algn="l">
              <a:spcBef>
                <a:spcPts val="0"/>
              </a:spcBef>
              <a:spcAft>
                <a:spcPts val="300"/>
              </a:spcAft>
              <a:buFont typeface="Arial"/>
              <a:buChar char="•"/>
            </a:pPr>
            <a:r>
              <a:rPr sz="1000" b="0" i="0">
                <a:solidFill>
                  <a:srgbClr val="202124"/>
                </a:solidFill>
                <a:latin typeface="Arial"/>
              </a:rPr>
              <a:t>Grounding verifier · hybrid RAG: full-text + HNSW vectors, reciprocal rank fusion, LLM rerank</a:t>
            </a:r>
          </a:p>
        </p:txBody>
      </p:sp>
      <p:sp>
        <p:nvSpPr>
          <p:cNvPr id="130" name="tech_2"/>
          <p:cNvSpPr/>
          <p:nvPr/>
        </p:nvSpPr>
        <p:spPr>
          <a:xfrm>
            <a:off x="320040" y="3081528"/>
            <a:ext cx="4206240" cy="178308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1" name="tech_2_circle"/>
          <p:cNvSpPr/>
          <p:nvPr/>
        </p:nvSpPr>
        <p:spPr>
          <a:xfrm>
            <a:off x="457200" y="3218688"/>
            <a:ext cx="384048" cy="384048"/>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2" name="tech_2_icon" descr="server_w.png"/>
          <p:cNvPicPr>
            <a:picLocks noChangeAspect="1"/>
          </p:cNvPicPr>
          <p:nvPr/>
        </p:nvPicPr>
        <p:blipFill>
          <a:blip r:embed="rId7"/>
          <a:stretch>
            <a:fillRect/>
          </a:stretch>
        </p:blipFill>
        <p:spPr>
          <a:xfrm>
            <a:off x="541690" y="3303178"/>
            <a:ext cx="215066" cy="215066"/>
          </a:xfrm>
          <a:prstGeom prst="rect">
            <a:avLst/>
          </a:prstGeom>
        </p:spPr>
      </p:pic>
      <p:sp>
        <p:nvSpPr>
          <p:cNvPr id="133" name="TextBox 132"/>
          <p:cNvSpPr txBox="1"/>
          <p:nvPr/>
        </p:nvSpPr>
        <p:spPr>
          <a:xfrm>
            <a:off x="941832" y="3218688"/>
            <a:ext cx="3474720" cy="384048"/>
          </a:xfrm>
          <a:prstGeom prst="rect">
            <a:avLst/>
          </a:prstGeom>
          <a:noFill/>
        </p:spPr>
        <p:txBody>
          <a:bodyPr wrap="square" lIns="0" tIns="0" rIns="0" bIns="0" anchor="ctr">
            <a:noAutofit/>
          </a:bodyPr>
          <a:lstStyle/>
          <a:p>
            <a:pPr algn="l">
              <a:spcBef>
                <a:spcPts val="0"/>
              </a:spcBef>
              <a:spcAft>
                <a:spcPts val="300"/>
              </a:spcAft>
            </a:pPr>
            <a:r>
              <a:rPr sz="1200" b="1" i="0">
                <a:solidFill>
                  <a:srgbClr val="202124"/>
                </a:solidFill>
                <a:latin typeface="Arial"/>
              </a:rPr>
              <a:t>Application</a:t>
            </a:r>
          </a:p>
        </p:txBody>
      </p:sp>
      <p:sp>
        <p:nvSpPr>
          <p:cNvPr id="134" name="TextBox 133"/>
          <p:cNvSpPr txBox="1"/>
          <p:nvPr/>
        </p:nvSpPr>
        <p:spPr>
          <a:xfrm>
            <a:off x="457200" y="3685032"/>
            <a:ext cx="3931920" cy="1088136"/>
          </a:xfrm>
          <a:prstGeom prst="rect">
            <a:avLst/>
          </a:prstGeom>
          <a:noFill/>
        </p:spPr>
        <p:txBody>
          <a:bodyPr wrap="square" lIns="0" tIns="0" rIns="0" bIns="0" anchor="t">
            <a:noAutofit/>
          </a:bodyPr>
          <a:lstStyle/>
          <a:p>
            <a:pPr marL="146304" indent="-146304" algn="l">
              <a:spcBef>
                <a:spcPts val="0"/>
              </a:spcBef>
              <a:spcAft>
                <a:spcPts val="300"/>
              </a:spcAft>
              <a:buFont typeface="Arial"/>
              <a:buChar char="•"/>
            </a:pPr>
            <a:r>
              <a:rPr sz="1000" b="0" i="0">
                <a:solidFill>
                  <a:srgbClr val="202124"/>
                </a:solidFill>
                <a:latin typeface="Arial"/>
              </a:rPr>
              <a:t>.NET 8 · ASP.NET Core MVC · Razor + Bootstrap 5</a:t>
            </a:r>
          </a:p>
          <a:p>
            <a:pPr marL="146304" indent="-146304" algn="l">
              <a:spcBef>
                <a:spcPts val="0"/>
              </a:spcBef>
              <a:spcAft>
                <a:spcPts val="300"/>
              </a:spcAft>
              <a:buFont typeface="Arial"/>
              <a:buChar char="•"/>
            </a:pPr>
            <a:r>
              <a:rPr sz="1000" b="0" i="0">
                <a:solidFill>
                  <a:srgbClr val="202124"/>
                </a:solidFill>
                <a:latin typeface="Arial"/>
              </a:rPr>
              <a:t>EF Core 8 + Npgsql · Autofac · Serilog</a:t>
            </a:r>
          </a:p>
          <a:p>
            <a:pPr marL="146304" indent="-146304" algn="l">
              <a:spcBef>
                <a:spcPts val="0"/>
              </a:spcBef>
              <a:spcAft>
                <a:spcPts val="300"/>
              </a:spcAft>
              <a:buFont typeface="Arial"/>
              <a:buChar char="•"/>
            </a:pPr>
            <a:r>
              <a:rPr sz="1000" b="0" i="0">
                <a:solidFill>
                  <a:srgbClr val="202124"/>
                </a:solidFill>
                <a:latin typeface="Arial"/>
              </a:rPr>
              <a:t>PdfPig (PDF metadata) · background worker · LOS, ULI (OCEN) and ONDC (beckn) payloads</a:t>
            </a:r>
          </a:p>
        </p:txBody>
      </p:sp>
      <p:sp>
        <p:nvSpPr>
          <p:cNvPr id="135" name="tech_3"/>
          <p:cNvSpPr/>
          <p:nvPr/>
        </p:nvSpPr>
        <p:spPr>
          <a:xfrm>
            <a:off x="4617720" y="3081528"/>
            <a:ext cx="4206240" cy="178308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6" name="tech_3_circle"/>
          <p:cNvSpPr/>
          <p:nvPr/>
        </p:nvSpPr>
        <p:spPr>
          <a:xfrm>
            <a:off x="4754880" y="3218688"/>
            <a:ext cx="384048" cy="384048"/>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7" name="tech_3_icon" descr="shield_w.png"/>
          <p:cNvPicPr>
            <a:picLocks noChangeAspect="1"/>
          </p:cNvPicPr>
          <p:nvPr/>
        </p:nvPicPr>
        <p:blipFill>
          <a:blip r:embed="rId8"/>
          <a:stretch>
            <a:fillRect/>
          </a:stretch>
        </p:blipFill>
        <p:spPr>
          <a:xfrm>
            <a:off x="4839370" y="3303178"/>
            <a:ext cx="215066" cy="215066"/>
          </a:xfrm>
          <a:prstGeom prst="rect">
            <a:avLst/>
          </a:prstGeom>
        </p:spPr>
      </p:pic>
      <p:sp>
        <p:nvSpPr>
          <p:cNvPr id="138" name="TextBox 137"/>
          <p:cNvSpPr txBox="1"/>
          <p:nvPr/>
        </p:nvSpPr>
        <p:spPr>
          <a:xfrm>
            <a:off x="5239512" y="3218688"/>
            <a:ext cx="3474720" cy="384048"/>
          </a:xfrm>
          <a:prstGeom prst="rect">
            <a:avLst/>
          </a:prstGeom>
          <a:noFill/>
        </p:spPr>
        <p:txBody>
          <a:bodyPr wrap="square" lIns="0" tIns="0" rIns="0" bIns="0" anchor="ctr">
            <a:noAutofit/>
          </a:bodyPr>
          <a:lstStyle/>
          <a:p>
            <a:pPr algn="l">
              <a:spcBef>
                <a:spcPts val="0"/>
              </a:spcBef>
              <a:spcAft>
                <a:spcPts val="300"/>
              </a:spcAft>
            </a:pPr>
            <a:r>
              <a:rPr sz="1200" b="1" i="0">
                <a:solidFill>
                  <a:srgbClr val="202124"/>
                </a:solidFill>
                <a:latin typeface="Arial"/>
              </a:rPr>
              <a:t>Data, quality and trust</a:t>
            </a:r>
          </a:p>
        </p:txBody>
      </p:sp>
      <p:sp>
        <p:nvSpPr>
          <p:cNvPr id="139" name="TextBox 138"/>
          <p:cNvSpPr txBox="1"/>
          <p:nvPr/>
        </p:nvSpPr>
        <p:spPr>
          <a:xfrm>
            <a:off x="4754880" y="3685032"/>
            <a:ext cx="3931920" cy="1088136"/>
          </a:xfrm>
          <a:prstGeom prst="rect">
            <a:avLst/>
          </a:prstGeom>
          <a:noFill/>
        </p:spPr>
        <p:txBody>
          <a:bodyPr wrap="square" lIns="0" tIns="0" rIns="0" bIns="0" anchor="t">
            <a:noAutofit/>
          </a:bodyPr>
          <a:lstStyle/>
          <a:p>
            <a:pPr marL="146304" indent="-146304" algn="l">
              <a:spcBef>
                <a:spcPts val="0"/>
              </a:spcBef>
              <a:spcAft>
                <a:spcPts val="300"/>
              </a:spcAft>
              <a:buFont typeface="Arial"/>
              <a:buChar char="•"/>
            </a:pPr>
            <a:r>
              <a:rPr sz="1000" b="0" i="0">
                <a:solidFill>
                  <a:srgbClr val="202124"/>
                </a:solidFill>
                <a:latin typeface="Arial"/>
              </a:rPr>
              <a:t>Account Aggregator on the Finvu sandbox; Udyam, GST, ITR and MCA as sample data in the demo</a:t>
            </a:r>
          </a:p>
          <a:p>
            <a:pPr marL="146304" indent="-146304" algn="l">
              <a:spcBef>
                <a:spcPts val="0"/>
              </a:spcBef>
              <a:spcAft>
                <a:spcPts val="300"/>
              </a:spcAft>
              <a:buFont typeface="Arial"/>
              <a:buChar char="•"/>
            </a:pPr>
            <a:r>
              <a:rPr sz="1000" b="0" i="0">
                <a:solidFill>
                  <a:srgbClr val="202124"/>
                </a:solidFill>
                <a:latin typeface="Arial"/>
              </a:rPr>
              <a:t>QuestPDF synthetic documents with ground truth · 70 xUnit tests</a:t>
            </a:r>
          </a:p>
          <a:p>
            <a:pPr marL="146304" indent="-146304" algn="l">
              <a:spcBef>
                <a:spcPts val="0"/>
              </a:spcBef>
              <a:spcAft>
                <a:spcPts val="300"/>
              </a:spcAft>
              <a:buFont typeface="Arial"/>
              <a:buChar char="•"/>
            </a:pPr>
            <a:r>
              <a:rPr sz="1000" b="0" i="0">
                <a:solidFill>
                  <a:srgbClr val="202124"/>
                </a:solidFill>
                <a:latin typeface="Arial"/>
              </a:rPr>
              <a:t>Secrets outside the public repo · encrypted DB connections only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7" name="Google Shape;127;p22"/>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cost_once"/>
          <p:cNvSpPr/>
          <p:nvPr/>
        </p:nvSpPr>
        <p:spPr>
          <a:xfrm>
            <a:off x="320040" y="1188720"/>
            <a:ext cx="2697480" cy="91440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9" name="TextBox 128"/>
          <p:cNvSpPr txBox="1"/>
          <p:nvPr/>
        </p:nvSpPr>
        <p:spPr>
          <a:xfrm>
            <a:off x="429768" y="1280160"/>
            <a:ext cx="2478024" cy="457200"/>
          </a:xfrm>
          <a:prstGeom prst="rect">
            <a:avLst/>
          </a:prstGeom>
          <a:noFill/>
        </p:spPr>
        <p:txBody>
          <a:bodyPr wrap="square" lIns="0" tIns="0" rIns="0" bIns="0" anchor="ctr">
            <a:noAutofit/>
          </a:bodyPr>
          <a:lstStyle/>
          <a:p>
            <a:pPr algn="l">
              <a:spcBef>
                <a:spcPts val="0"/>
              </a:spcBef>
              <a:spcAft>
                <a:spcPts val="300"/>
              </a:spcAft>
            </a:pPr>
            <a:r>
              <a:rPr sz="2400" b="1" i="0">
                <a:solidFill>
                  <a:srgbClr val="7A1230"/>
                </a:solidFill>
                <a:latin typeface="Arial"/>
              </a:rPr>
              <a:t>₹ 18 L</a:t>
            </a:r>
          </a:p>
        </p:txBody>
      </p:sp>
      <p:sp>
        <p:nvSpPr>
          <p:cNvPr id="130" name="TextBox 129"/>
          <p:cNvSpPr txBox="1"/>
          <p:nvPr/>
        </p:nvSpPr>
        <p:spPr>
          <a:xfrm>
            <a:off x="429768" y="1755648"/>
            <a:ext cx="2478024" cy="292607"/>
          </a:xfrm>
          <a:prstGeom prst="rect">
            <a:avLst/>
          </a:prstGeom>
          <a:noFill/>
        </p:spPr>
        <p:txBody>
          <a:bodyPr wrap="square" lIns="0" tIns="0" rIns="0" bIns="0" anchor="t">
            <a:noAutofit/>
          </a:bodyPr>
          <a:lstStyle/>
          <a:p>
            <a:pPr algn="l">
              <a:spcBef>
                <a:spcPts val="0"/>
              </a:spcBef>
              <a:spcAft>
                <a:spcPts val="300"/>
              </a:spcAft>
            </a:pPr>
            <a:r>
              <a:rPr sz="1000" b="0" i="0">
                <a:solidFill>
                  <a:srgbClr val="5F6368"/>
                </a:solidFill>
                <a:latin typeface="Arial"/>
              </a:rPr>
              <a:t>One-time — production hardening, security and compliance audit</a:t>
            </a:r>
          </a:p>
        </p:txBody>
      </p:sp>
      <p:sp>
        <p:nvSpPr>
          <p:cNvPr id="131" name="cost_year"/>
          <p:cNvSpPr/>
          <p:nvPr/>
        </p:nvSpPr>
        <p:spPr>
          <a:xfrm>
            <a:off x="3218688" y="1188720"/>
            <a:ext cx="2697480" cy="91440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2" name="TextBox 131"/>
          <p:cNvSpPr txBox="1"/>
          <p:nvPr/>
        </p:nvSpPr>
        <p:spPr>
          <a:xfrm>
            <a:off x="3328416" y="1280160"/>
            <a:ext cx="2478024" cy="457200"/>
          </a:xfrm>
          <a:prstGeom prst="rect">
            <a:avLst/>
          </a:prstGeom>
          <a:noFill/>
        </p:spPr>
        <p:txBody>
          <a:bodyPr wrap="square" lIns="0" tIns="0" rIns="0" bIns="0" anchor="ctr">
            <a:noAutofit/>
          </a:bodyPr>
          <a:lstStyle/>
          <a:p>
            <a:pPr algn="l">
              <a:spcBef>
                <a:spcPts val="0"/>
              </a:spcBef>
              <a:spcAft>
                <a:spcPts val="300"/>
              </a:spcAft>
            </a:pPr>
            <a:r>
              <a:rPr sz="2400" b="1" i="0">
                <a:solidFill>
                  <a:srgbClr val="7A1230"/>
                </a:solidFill>
                <a:latin typeface="Arial"/>
              </a:rPr>
              <a:t>₹ 32 L / yr</a:t>
            </a:r>
          </a:p>
        </p:txBody>
      </p:sp>
      <p:sp>
        <p:nvSpPr>
          <p:cNvPr id="133" name="TextBox 132"/>
          <p:cNvSpPr txBox="1"/>
          <p:nvPr/>
        </p:nvSpPr>
        <p:spPr>
          <a:xfrm>
            <a:off x="3328416" y="1755648"/>
            <a:ext cx="2478024" cy="292607"/>
          </a:xfrm>
          <a:prstGeom prst="rect">
            <a:avLst/>
          </a:prstGeom>
          <a:noFill/>
        </p:spPr>
        <p:txBody>
          <a:bodyPr wrap="square" lIns="0" tIns="0" rIns="0" bIns="0" anchor="t">
            <a:noAutofit/>
          </a:bodyPr>
          <a:lstStyle/>
          <a:p>
            <a:pPr algn="l">
              <a:spcBef>
                <a:spcPts val="0"/>
              </a:spcBef>
              <a:spcAft>
                <a:spcPts val="300"/>
              </a:spcAft>
            </a:pPr>
            <a:r>
              <a:rPr sz="1000" b="0" i="0">
                <a:solidFill>
                  <a:srgbClr val="5F6368"/>
                </a:solidFill>
                <a:latin typeface="Arial"/>
              </a:rPr>
              <a:t>Recurring — Google Cloud, Gemini usage, data access, support</a:t>
            </a:r>
          </a:p>
        </p:txBody>
      </p:sp>
      <p:sp>
        <p:nvSpPr>
          <p:cNvPr id="134" name="cost_tco"/>
          <p:cNvSpPr/>
          <p:nvPr/>
        </p:nvSpPr>
        <p:spPr>
          <a:xfrm>
            <a:off x="6126479" y="1188720"/>
            <a:ext cx="2697480" cy="91440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5" name="TextBox 134"/>
          <p:cNvSpPr txBox="1"/>
          <p:nvPr/>
        </p:nvSpPr>
        <p:spPr>
          <a:xfrm>
            <a:off x="6236207" y="1280160"/>
            <a:ext cx="2478024" cy="457200"/>
          </a:xfrm>
          <a:prstGeom prst="rect">
            <a:avLst/>
          </a:prstGeom>
          <a:noFill/>
        </p:spPr>
        <p:txBody>
          <a:bodyPr wrap="square" lIns="0" tIns="0" rIns="0" bIns="0" anchor="ctr">
            <a:noAutofit/>
          </a:bodyPr>
          <a:lstStyle/>
          <a:p>
            <a:pPr algn="l">
              <a:spcBef>
                <a:spcPts val="0"/>
              </a:spcBef>
              <a:spcAft>
                <a:spcPts val="300"/>
              </a:spcAft>
            </a:pPr>
            <a:r>
              <a:rPr sz="2400" b="1" i="0">
                <a:solidFill>
                  <a:srgbClr val="7A1230"/>
                </a:solidFill>
                <a:latin typeface="Arial"/>
              </a:rPr>
              <a:t>~ ₹ 1.14 Cr</a:t>
            </a:r>
          </a:p>
        </p:txBody>
      </p:sp>
      <p:sp>
        <p:nvSpPr>
          <p:cNvPr id="136" name="TextBox 135"/>
          <p:cNvSpPr txBox="1"/>
          <p:nvPr/>
        </p:nvSpPr>
        <p:spPr>
          <a:xfrm>
            <a:off x="6236207" y="1755648"/>
            <a:ext cx="2478024" cy="292607"/>
          </a:xfrm>
          <a:prstGeom prst="rect">
            <a:avLst/>
          </a:prstGeom>
          <a:noFill/>
        </p:spPr>
        <p:txBody>
          <a:bodyPr wrap="square" lIns="0" tIns="0" rIns="0" bIns="0" anchor="t">
            <a:noAutofit/>
          </a:bodyPr>
          <a:lstStyle/>
          <a:p>
            <a:pPr algn="l">
              <a:spcBef>
                <a:spcPts val="0"/>
              </a:spcBef>
              <a:spcAft>
                <a:spcPts val="300"/>
              </a:spcAft>
            </a:pPr>
            <a:r>
              <a:rPr sz="1000" b="0" i="0">
                <a:solidFill>
                  <a:srgbClr val="5F6368"/>
                </a:solidFill>
                <a:latin typeface="Arial"/>
              </a:rPr>
              <a:t>3-year total cost of ownership</a:t>
            </a:r>
          </a:p>
        </p:txBody>
      </p:sp>
      <p:sp>
        <p:nvSpPr>
          <p:cNvPr id="137" name="TextBox 136"/>
          <p:cNvSpPr txBox="1"/>
          <p:nvPr/>
        </p:nvSpPr>
        <p:spPr>
          <a:xfrm>
            <a:off x="320040" y="2221991"/>
            <a:ext cx="8503920" cy="228600"/>
          </a:xfrm>
          <a:prstGeom prst="rect">
            <a:avLst/>
          </a:prstGeom>
          <a:noFill/>
        </p:spPr>
        <p:txBody>
          <a:bodyPr wrap="square" lIns="0" tIns="0" rIns="0" bIns="0" anchor="t">
            <a:noAutofit/>
          </a:bodyPr>
          <a:lstStyle/>
          <a:p>
            <a:pPr algn="l">
              <a:spcBef>
                <a:spcPts val="0"/>
              </a:spcBef>
              <a:spcAft>
                <a:spcPts val="300"/>
              </a:spcAft>
            </a:pPr>
            <a:r>
              <a:rPr sz="1000" b="1" i="0">
                <a:solidFill>
                  <a:srgbClr val="7A1230"/>
                </a:solidFill>
                <a:latin typeface="Arial"/>
              </a:rPr>
              <a:t>Estimate</a:t>
            </a:r>
            <a:r>
              <a:rPr sz="1000" b="0" i="0">
                <a:solidFill>
                  <a:srgbClr val="5F6368"/>
                </a:solidFill>
                <a:latin typeface="Arial"/>
              </a:rPr>
              <a:t> for one lender, about 1 lakh customers assessed a year, on Google Cloud in Mumbai</a:t>
            </a:r>
          </a:p>
        </p:txBody>
      </p:sp>
      <p:graphicFrame>
        <p:nvGraphicFramePr>
          <p:cNvPr id="138" name="cost_table"/>
          <p:cNvGraphicFramePr>
            <a:graphicFrameLocks noGrp="1"/>
          </p:cNvGraphicFramePr>
          <p:nvPr/>
        </p:nvGraphicFramePr>
        <p:xfrm>
          <a:off x="320040" y="2514600"/>
          <a:ext cx="8503920" cy="2304288"/>
        </p:xfrm>
        <a:graphic>
          <a:graphicData uri="http://schemas.openxmlformats.org/drawingml/2006/table">
            <a:tbl>
              <a:tblPr firstRow="1"/>
              <a:tblGrid>
                <a:gridCol w="512064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tblGrid>
              <a:tr h="329184">
                <a:tc>
                  <a:txBody>
                    <a:bodyPr/>
                    <a:lstStyle/>
                    <a:p>
                      <a:r>
                        <a:rPr sz="1000" b="1">
                          <a:solidFill>
                            <a:srgbClr val="FFFFFF"/>
                          </a:solidFill>
                          <a:latin typeface="Arial"/>
                        </a:rPr>
                        <a:t>Cost head</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202124"/>
                    </a:solidFill>
                  </a:tcPr>
                </a:tc>
                <a:tc>
                  <a:txBody>
                    <a:bodyPr/>
                    <a:lstStyle/>
                    <a:p>
                      <a:r>
                        <a:rPr sz="1000" b="1">
                          <a:solidFill>
                            <a:srgbClr val="FFFFFF"/>
                          </a:solidFill>
                          <a:latin typeface="Arial"/>
                        </a:rPr>
                        <a:t>Type</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202124"/>
                    </a:solidFill>
                  </a:tcPr>
                </a:tc>
                <a:tc>
                  <a:txBody>
                    <a:bodyPr/>
                    <a:lstStyle/>
                    <a:p>
                      <a:r>
                        <a:rPr sz="1000" b="1">
                          <a:solidFill>
                            <a:srgbClr val="FFFFFF"/>
                          </a:solidFill>
                          <a:latin typeface="Arial"/>
                        </a:rPr>
                        <a:t>Estimate (INR)</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202124"/>
                    </a:solidFill>
                  </a:tcPr>
                </a:tc>
                <a:extLst>
                  <a:ext uri="{0D108BD9-81ED-4DB2-BD59-A6C34878D82A}">
                    <a16:rowId xmlns:a16="http://schemas.microsoft.com/office/drawing/2014/main" val="10000"/>
                  </a:ext>
                </a:extLst>
              </a:tr>
              <a:tr h="329184">
                <a:tc>
                  <a:txBody>
                    <a:bodyPr/>
                    <a:lstStyle/>
                    <a:p>
                      <a:r>
                        <a:rPr sz="1000" b="0">
                          <a:solidFill>
                            <a:srgbClr val="202124"/>
                          </a:solidFill>
                          <a:latin typeface="Arial"/>
                        </a:rPr>
                        <a:t>Production hardening — 3-member team, about 4 months</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FFFFF"/>
                    </a:solidFill>
                  </a:tcPr>
                </a:tc>
                <a:tc>
                  <a:txBody>
                    <a:bodyPr/>
                    <a:lstStyle/>
                    <a:p>
                      <a:r>
                        <a:rPr sz="1000" b="0">
                          <a:solidFill>
                            <a:srgbClr val="202124"/>
                          </a:solidFill>
                          <a:latin typeface="Arial"/>
                        </a:rPr>
                        <a:t>One-time</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FFFFF"/>
                    </a:solidFill>
                  </a:tcPr>
                </a:tc>
                <a:tc>
                  <a:txBody>
                    <a:bodyPr/>
                    <a:lstStyle/>
                    <a:p>
                      <a:r>
                        <a:rPr sz="1000" b="0">
                          <a:solidFill>
                            <a:srgbClr val="202124"/>
                          </a:solidFill>
                          <a:latin typeface="Arial"/>
                        </a:rPr>
                        <a:t>₹ 14 L</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FFFFF"/>
                    </a:solidFill>
                  </a:tcPr>
                </a:tc>
                <a:extLst>
                  <a:ext uri="{0D108BD9-81ED-4DB2-BD59-A6C34878D82A}">
                    <a16:rowId xmlns:a16="http://schemas.microsoft.com/office/drawing/2014/main" val="10001"/>
                  </a:ext>
                </a:extLst>
              </a:tr>
              <a:tr h="329184">
                <a:tc>
                  <a:txBody>
                    <a:bodyPr/>
                    <a:lstStyle/>
                    <a:p>
                      <a:r>
                        <a:rPr sz="1000" b="0">
                          <a:solidFill>
                            <a:srgbClr val="202124"/>
                          </a:solidFill>
                          <a:latin typeface="Arial"/>
                        </a:rPr>
                        <a:t>Security testing and RBI / DPDP compliance audit</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8F9FA"/>
                    </a:solidFill>
                  </a:tcPr>
                </a:tc>
                <a:tc>
                  <a:txBody>
                    <a:bodyPr/>
                    <a:lstStyle/>
                    <a:p>
                      <a:r>
                        <a:rPr sz="1000" b="0">
                          <a:solidFill>
                            <a:srgbClr val="202124"/>
                          </a:solidFill>
                          <a:latin typeface="Arial"/>
                        </a:rPr>
                        <a:t>One-time</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8F9FA"/>
                    </a:solidFill>
                  </a:tcPr>
                </a:tc>
                <a:tc>
                  <a:txBody>
                    <a:bodyPr/>
                    <a:lstStyle/>
                    <a:p>
                      <a:r>
                        <a:rPr sz="1000" b="0">
                          <a:solidFill>
                            <a:srgbClr val="202124"/>
                          </a:solidFill>
                          <a:latin typeface="Arial"/>
                        </a:rPr>
                        <a:t>₹ 4 L</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8F9FA"/>
                    </a:solidFill>
                  </a:tcPr>
                </a:tc>
                <a:extLst>
                  <a:ext uri="{0D108BD9-81ED-4DB2-BD59-A6C34878D82A}">
                    <a16:rowId xmlns:a16="http://schemas.microsoft.com/office/drawing/2014/main" val="10002"/>
                  </a:ext>
                </a:extLst>
              </a:tr>
              <a:tr h="329184">
                <a:tc>
                  <a:txBody>
                    <a:bodyPr/>
                    <a:lstStyle/>
                    <a:p>
                      <a:r>
                        <a:rPr sz="1000" b="0">
                          <a:solidFill>
                            <a:srgbClr val="202124"/>
                          </a:solidFill>
                          <a:latin typeface="Arial"/>
                        </a:rPr>
                        <a:t>Google Cloud — Cloud Run (HA), Cloud SQL (HA), Cloud Storage</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FFFFF"/>
                    </a:solidFill>
                  </a:tcPr>
                </a:tc>
                <a:tc>
                  <a:txBody>
                    <a:bodyPr/>
                    <a:lstStyle/>
                    <a:p>
                      <a:r>
                        <a:rPr sz="1000" b="0">
                          <a:solidFill>
                            <a:srgbClr val="202124"/>
                          </a:solidFill>
                          <a:latin typeface="Arial"/>
                        </a:rPr>
                        <a:t>Annual</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FFFFF"/>
                    </a:solidFill>
                  </a:tcPr>
                </a:tc>
                <a:tc>
                  <a:txBody>
                    <a:bodyPr/>
                    <a:lstStyle/>
                    <a:p>
                      <a:r>
                        <a:rPr sz="1000" b="0">
                          <a:solidFill>
                            <a:srgbClr val="202124"/>
                          </a:solidFill>
                          <a:latin typeface="Arial"/>
                        </a:rPr>
                        <a:t>₹ 8 L</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FFFFF"/>
                    </a:solidFill>
                  </a:tcPr>
                </a:tc>
                <a:extLst>
                  <a:ext uri="{0D108BD9-81ED-4DB2-BD59-A6C34878D82A}">
                    <a16:rowId xmlns:a16="http://schemas.microsoft.com/office/drawing/2014/main" val="10003"/>
                  </a:ext>
                </a:extLst>
              </a:tr>
              <a:tr h="329184">
                <a:tc>
                  <a:txBody>
                    <a:bodyPr/>
                    <a:lstStyle/>
                    <a:p>
                      <a:r>
                        <a:rPr sz="1000" b="0">
                          <a:solidFill>
                            <a:srgbClr val="202124"/>
                          </a:solidFill>
                          <a:latin typeface="Arial"/>
                        </a:rPr>
                        <a:t>Vertex AI — Gemini extraction, investigation, credit decisions, embeddings</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8F9FA"/>
                    </a:solidFill>
                  </a:tcPr>
                </a:tc>
                <a:tc>
                  <a:txBody>
                    <a:bodyPr/>
                    <a:lstStyle/>
                    <a:p>
                      <a:r>
                        <a:rPr sz="1000" b="0">
                          <a:solidFill>
                            <a:srgbClr val="202124"/>
                          </a:solidFill>
                          <a:latin typeface="Arial"/>
                        </a:rPr>
                        <a:t>Annual</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8F9FA"/>
                    </a:solidFill>
                  </a:tcPr>
                </a:tc>
                <a:tc>
                  <a:txBody>
                    <a:bodyPr/>
                    <a:lstStyle/>
                    <a:p>
                      <a:r>
                        <a:rPr sz="1000" b="0">
                          <a:solidFill>
                            <a:srgbClr val="202124"/>
                          </a:solidFill>
                          <a:latin typeface="Arial"/>
                        </a:rPr>
                        <a:t>₹ 6 L</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8F9FA"/>
                    </a:solidFill>
                  </a:tcPr>
                </a:tc>
                <a:extLst>
                  <a:ext uri="{0D108BD9-81ED-4DB2-BD59-A6C34878D82A}">
                    <a16:rowId xmlns:a16="http://schemas.microsoft.com/office/drawing/2014/main" val="10004"/>
                  </a:ext>
                </a:extLst>
              </a:tr>
              <a:tr h="329184">
                <a:tc>
                  <a:txBody>
                    <a:bodyPr/>
                    <a:lstStyle/>
                    <a:p>
                      <a:r>
                        <a:rPr sz="1000" b="0">
                          <a:solidFill>
                            <a:srgbClr val="202124"/>
                          </a:solidFill>
                          <a:latin typeface="Arial"/>
                        </a:rPr>
                        <a:t>Data access — Account Aggregator and registry APIs</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FFFFF"/>
                    </a:solidFill>
                  </a:tcPr>
                </a:tc>
                <a:tc>
                  <a:txBody>
                    <a:bodyPr/>
                    <a:lstStyle/>
                    <a:p>
                      <a:r>
                        <a:rPr sz="1000" b="0">
                          <a:solidFill>
                            <a:srgbClr val="202124"/>
                          </a:solidFill>
                          <a:latin typeface="Arial"/>
                        </a:rPr>
                        <a:t>Annual</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FFFFF"/>
                    </a:solidFill>
                  </a:tcPr>
                </a:tc>
                <a:tc>
                  <a:txBody>
                    <a:bodyPr/>
                    <a:lstStyle/>
                    <a:p>
                      <a:r>
                        <a:rPr sz="1000" b="0">
                          <a:solidFill>
                            <a:srgbClr val="202124"/>
                          </a:solidFill>
                          <a:latin typeface="Arial"/>
                        </a:rPr>
                        <a:t>₹ 10 L</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FFFFF"/>
                    </a:solidFill>
                  </a:tcPr>
                </a:tc>
                <a:extLst>
                  <a:ext uri="{0D108BD9-81ED-4DB2-BD59-A6C34878D82A}">
                    <a16:rowId xmlns:a16="http://schemas.microsoft.com/office/drawing/2014/main" val="10005"/>
                  </a:ext>
                </a:extLst>
              </a:tr>
              <a:tr h="329184">
                <a:tc>
                  <a:txBody>
                    <a:bodyPr/>
                    <a:lstStyle/>
                    <a:p>
                      <a:r>
                        <a:rPr sz="1000" b="0">
                          <a:solidFill>
                            <a:srgbClr val="202124"/>
                          </a:solidFill>
                          <a:latin typeface="Arial"/>
                        </a:rPr>
                        <a:t>Maintenance, support and model re-evaluation</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8F9FA"/>
                    </a:solidFill>
                  </a:tcPr>
                </a:tc>
                <a:tc>
                  <a:txBody>
                    <a:bodyPr/>
                    <a:lstStyle/>
                    <a:p>
                      <a:r>
                        <a:rPr sz="1000" b="0">
                          <a:solidFill>
                            <a:srgbClr val="202124"/>
                          </a:solidFill>
                          <a:latin typeface="Arial"/>
                        </a:rPr>
                        <a:t>Annual</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8F9FA"/>
                    </a:solidFill>
                  </a:tcPr>
                </a:tc>
                <a:tc>
                  <a:txBody>
                    <a:bodyPr/>
                    <a:lstStyle/>
                    <a:p>
                      <a:r>
                        <a:rPr sz="1000" b="0">
                          <a:solidFill>
                            <a:srgbClr val="202124"/>
                          </a:solidFill>
                          <a:latin typeface="Arial"/>
                        </a:rPr>
                        <a:t>₹ 8 L</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8F9FA"/>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35" name="Google Shape;135;p23"/>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Snapshots of the prototype — the customer</a:t>
            </a:r>
            <a:endParaRPr sz="1600">
              <a:latin typeface="Google Sans Flex Medium"/>
              <a:ea typeface="Google Sans Flex Medium"/>
              <a:cs typeface="Google Sans Flex Medium"/>
              <a:sym typeface="Google Sans Flex Medium"/>
            </a:endParaRPr>
          </a:p>
        </p:txBody>
      </p:sp>
      <p:sp>
        <p:nvSpPr>
          <p:cNvPr id="136" name="TextBox 135"/>
          <p:cNvSpPr txBox="1"/>
          <p:nvPr/>
        </p:nvSpPr>
        <p:spPr>
          <a:xfrm>
            <a:off x="320040" y="1371600"/>
            <a:ext cx="4160520" cy="246888"/>
          </a:xfrm>
          <a:prstGeom prst="rect">
            <a:avLst/>
          </a:prstGeom>
          <a:noFill/>
        </p:spPr>
        <p:txBody>
          <a:bodyPr wrap="square" lIns="0" tIns="0" rIns="0" bIns="0" anchor="t">
            <a:noAutofit/>
          </a:bodyPr>
          <a:lstStyle/>
          <a:p>
            <a:pPr algn="l">
              <a:spcBef>
                <a:spcPts val="0"/>
              </a:spcBef>
              <a:spcAft>
                <a:spcPts val="300"/>
              </a:spcAft>
            </a:pPr>
            <a:r>
              <a:rPr sz="1150" b="1" i="0">
                <a:solidFill>
                  <a:srgbClr val="202124"/>
                </a:solidFill>
                <a:latin typeface="Arial"/>
              </a:rPr>
              <a:t>Home page</a:t>
            </a:r>
          </a:p>
        </p:txBody>
      </p:sp>
      <p:sp>
        <p:nvSpPr>
          <p:cNvPr id="137" name="TextBox 136"/>
          <p:cNvSpPr txBox="1"/>
          <p:nvPr/>
        </p:nvSpPr>
        <p:spPr>
          <a:xfrm>
            <a:off x="320040" y="1609344"/>
            <a:ext cx="4160520" cy="228600"/>
          </a:xfrm>
          <a:prstGeom prst="rect">
            <a:avLst/>
          </a:prstGeom>
          <a:noFill/>
        </p:spPr>
        <p:txBody>
          <a:bodyPr wrap="square" lIns="0" tIns="0" rIns="0" bIns="0" anchor="t">
            <a:noAutofit/>
          </a:bodyPr>
          <a:lstStyle/>
          <a:p>
            <a:pPr algn="l">
              <a:spcBef>
                <a:spcPts val="0"/>
              </a:spcBef>
              <a:spcAft>
                <a:spcPts val="300"/>
              </a:spcAft>
            </a:pPr>
            <a:r>
              <a:rPr sz="1000" b="0" i="0">
                <a:solidFill>
                  <a:srgbClr val="5F6368"/>
                </a:solidFill>
                <a:latin typeface="Arial"/>
              </a:rPr>
              <a:t>Customers start here with their Udyam number</a:t>
            </a:r>
          </a:p>
        </p:txBody>
      </p:sp>
      <p:pic>
        <p:nvPicPr>
          <p:cNvPr id="138" name="snap_home_v2" descr="home_v2.png"/>
          <p:cNvPicPr>
            <a:picLocks noChangeAspect="1"/>
          </p:cNvPicPr>
          <p:nvPr/>
        </p:nvPicPr>
        <p:blipFill>
          <a:blip r:embed="rId5"/>
          <a:stretch>
            <a:fillRect/>
          </a:stretch>
        </p:blipFill>
        <p:spPr>
          <a:xfrm>
            <a:off x="320040" y="1920240"/>
            <a:ext cx="4160520" cy="2626328"/>
          </a:xfrm>
          <a:prstGeom prst="rect">
            <a:avLst/>
          </a:prstGeom>
          <a:ln w="9525">
            <a:solidFill>
              <a:srgbClr val="DADCE0"/>
            </a:solidFill>
          </a:ln>
        </p:spPr>
      </p:pic>
      <p:sp>
        <p:nvSpPr>
          <p:cNvPr id="139" name="TextBox 138"/>
          <p:cNvSpPr txBox="1"/>
          <p:nvPr/>
        </p:nvSpPr>
        <p:spPr>
          <a:xfrm>
            <a:off x="4663440" y="1371600"/>
            <a:ext cx="4160520" cy="246888"/>
          </a:xfrm>
          <a:prstGeom prst="rect">
            <a:avLst/>
          </a:prstGeom>
          <a:noFill/>
        </p:spPr>
        <p:txBody>
          <a:bodyPr wrap="square" lIns="0" tIns="0" rIns="0" bIns="0" anchor="t">
            <a:noAutofit/>
          </a:bodyPr>
          <a:lstStyle/>
          <a:p>
            <a:pPr algn="l">
              <a:spcBef>
                <a:spcPts val="0"/>
              </a:spcBef>
              <a:spcAft>
                <a:spcPts val="300"/>
              </a:spcAft>
            </a:pPr>
            <a:r>
              <a:rPr sz="1150" b="1" i="0">
                <a:solidFill>
                  <a:srgbClr val="202124"/>
                </a:solidFill>
                <a:latin typeface="Arial"/>
              </a:rPr>
              <a:t>Customer dashboard</a:t>
            </a:r>
          </a:p>
        </p:txBody>
      </p:sp>
      <p:sp>
        <p:nvSpPr>
          <p:cNvPr id="140" name="TextBox 139"/>
          <p:cNvSpPr txBox="1"/>
          <p:nvPr/>
        </p:nvSpPr>
        <p:spPr>
          <a:xfrm>
            <a:off x="4663440" y="1609344"/>
            <a:ext cx="4160520" cy="228600"/>
          </a:xfrm>
          <a:prstGeom prst="rect">
            <a:avLst/>
          </a:prstGeom>
          <a:noFill/>
        </p:spPr>
        <p:txBody>
          <a:bodyPr wrap="square" lIns="0" tIns="0" rIns="0" bIns="0" anchor="t">
            <a:noAutofit/>
          </a:bodyPr>
          <a:lstStyle/>
          <a:p>
            <a:pPr algn="l">
              <a:spcBef>
                <a:spcPts val="0"/>
              </a:spcBef>
              <a:spcAft>
                <a:spcPts val="300"/>
              </a:spcAft>
            </a:pPr>
            <a:r>
              <a:rPr sz="1000" b="0" i="0">
                <a:solidFill>
                  <a:srgbClr val="5F6368"/>
                </a:solidFill>
                <a:latin typeface="Arial"/>
              </a:rPr>
              <a:t>After sign-in: connect each data source, upload documents</a:t>
            </a:r>
          </a:p>
        </p:txBody>
      </p:sp>
      <p:pic>
        <p:nvPicPr>
          <p:cNvPr id="141" name="snap_c_dashboard" descr="c_dashboard.png"/>
          <p:cNvPicPr>
            <a:picLocks noChangeAspect="1"/>
          </p:cNvPicPr>
          <p:nvPr/>
        </p:nvPicPr>
        <p:blipFill>
          <a:blip r:embed="rId6"/>
          <a:stretch>
            <a:fillRect/>
          </a:stretch>
        </p:blipFill>
        <p:spPr>
          <a:xfrm>
            <a:off x="4663440" y="1920240"/>
            <a:ext cx="4160520" cy="2703282"/>
          </a:xfrm>
          <a:prstGeom prst="rect">
            <a:avLst/>
          </a:prstGeom>
          <a:ln w="9525">
            <a:solidFill>
              <a:srgbClr val="DADCE0"/>
            </a:solid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35" name="Google Shape;135;p23"/>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Snapshots of the prototype — each source analysed</a:t>
            </a:r>
            <a:endParaRPr sz="1600">
              <a:latin typeface="Google Sans Flex Medium"/>
              <a:ea typeface="Google Sans Flex Medium"/>
              <a:cs typeface="Google Sans Flex Medium"/>
              <a:sym typeface="Google Sans Flex Medium"/>
            </a:endParaRPr>
          </a:p>
        </p:txBody>
      </p:sp>
      <p:sp>
        <p:nvSpPr>
          <p:cNvPr id="136" name="TextBox 135"/>
          <p:cNvSpPr txBox="1"/>
          <p:nvPr/>
        </p:nvSpPr>
        <p:spPr>
          <a:xfrm>
            <a:off x="320040" y="1371600"/>
            <a:ext cx="4160520" cy="246888"/>
          </a:xfrm>
          <a:prstGeom prst="rect">
            <a:avLst/>
          </a:prstGeom>
          <a:noFill/>
        </p:spPr>
        <p:txBody>
          <a:bodyPr wrap="square" lIns="0" tIns="0" rIns="0" bIns="0" anchor="t">
            <a:noAutofit/>
          </a:bodyPr>
          <a:lstStyle/>
          <a:p>
            <a:pPr algn="l">
              <a:spcBef>
                <a:spcPts val="0"/>
              </a:spcBef>
              <a:spcAft>
                <a:spcPts val="300"/>
              </a:spcAft>
            </a:pPr>
            <a:r>
              <a:rPr sz="1150" b="1" i="0">
                <a:solidFill>
                  <a:srgbClr val="202124"/>
                </a:solidFill>
                <a:latin typeface="Arial"/>
              </a:rPr>
              <a:t>Business Registration (Udyam)</a:t>
            </a:r>
          </a:p>
        </p:txBody>
      </p:sp>
      <p:sp>
        <p:nvSpPr>
          <p:cNvPr id="137" name="TextBox 136"/>
          <p:cNvSpPr txBox="1"/>
          <p:nvPr/>
        </p:nvSpPr>
        <p:spPr>
          <a:xfrm>
            <a:off x="320040" y="1609344"/>
            <a:ext cx="4160520" cy="228600"/>
          </a:xfrm>
          <a:prstGeom prst="rect">
            <a:avLst/>
          </a:prstGeom>
          <a:noFill/>
        </p:spPr>
        <p:txBody>
          <a:bodyPr wrap="square" lIns="0" tIns="0" rIns="0" bIns="0" anchor="t">
            <a:noAutofit/>
          </a:bodyPr>
          <a:lstStyle/>
          <a:p>
            <a:pPr algn="l">
              <a:spcBef>
                <a:spcPts val="0"/>
              </a:spcBef>
              <a:spcAft>
                <a:spcPts val="300"/>
              </a:spcAft>
            </a:pPr>
            <a:r>
              <a:rPr sz="1000" b="0" i="0">
                <a:solidFill>
                  <a:srgbClr val="5F6368"/>
                </a:solidFill>
                <a:latin typeface="Arial"/>
              </a:rPr>
              <a:t>The registration profile, from the Udyam record</a:t>
            </a:r>
          </a:p>
        </p:txBody>
      </p:sp>
      <p:pic>
        <p:nvPicPr>
          <p:cNvPr id="138" name="snap_c_udyam" descr="c_udyam.png"/>
          <p:cNvPicPr>
            <a:picLocks noChangeAspect="1"/>
          </p:cNvPicPr>
          <p:nvPr/>
        </p:nvPicPr>
        <p:blipFill>
          <a:blip r:embed="rId5"/>
          <a:stretch>
            <a:fillRect/>
          </a:stretch>
        </p:blipFill>
        <p:spPr>
          <a:xfrm>
            <a:off x="320040" y="1920240"/>
            <a:ext cx="4160520" cy="2703282"/>
          </a:xfrm>
          <a:prstGeom prst="rect">
            <a:avLst/>
          </a:prstGeom>
          <a:ln w="9525">
            <a:solidFill>
              <a:srgbClr val="DADCE0"/>
            </a:solidFill>
          </a:ln>
        </p:spPr>
      </p:pic>
      <p:sp>
        <p:nvSpPr>
          <p:cNvPr id="139" name="TextBox 138"/>
          <p:cNvSpPr txBox="1"/>
          <p:nvPr/>
        </p:nvSpPr>
        <p:spPr>
          <a:xfrm>
            <a:off x="4663440" y="1371600"/>
            <a:ext cx="4160520" cy="246888"/>
          </a:xfrm>
          <a:prstGeom prst="rect">
            <a:avLst/>
          </a:prstGeom>
          <a:noFill/>
        </p:spPr>
        <p:txBody>
          <a:bodyPr wrap="square" lIns="0" tIns="0" rIns="0" bIns="0" anchor="t">
            <a:noAutofit/>
          </a:bodyPr>
          <a:lstStyle/>
          <a:p>
            <a:pPr algn="l">
              <a:spcBef>
                <a:spcPts val="0"/>
              </a:spcBef>
              <a:spcAft>
                <a:spcPts val="300"/>
              </a:spcAft>
            </a:pPr>
            <a:r>
              <a:rPr sz="1150" b="1" i="0">
                <a:solidFill>
                  <a:srgbClr val="202124"/>
                </a:solidFill>
                <a:latin typeface="Arial"/>
              </a:rPr>
              <a:t>Banking Data (AA)</a:t>
            </a:r>
          </a:p>
        </p:txBody>
      </p:sp>
      <p:sp>
        <p:nvSpPr>
          <p:cNvPr id="140" name="TextBox 139"/>
          <p:cNvSpPr txBox="1"/>
          <p:nvPr/>
        </p:nvSpPr>
        <p:spPr>
          <a:xfrm>
            <a:off x="4663440" y="1609344"/>
            <a:ext cx="4160520" cy="228600"/>
          </a:xfrm>
          <a:prstGeom prst="rect">
            <a:avLst/>
          </a:prstGeom>
          <a:noFill/>
        </p:spPr>
        <p:txBody>
          <a:bodyPr wrap="square" lIns="0" tIns="0" rIns="0" bIns="0" anchor="t">
            <a:noAutofit/>
          </a:bodyPr>
          <a:lstStyle/>
          <a:p>
            <a:pPr algn="l">
              <a:spcBef>
                <a:spcPts val="0"/>
              </a:spcBef>
              <a:spcAft>
                <a:spcPts val="300"/>
              </a:spcAft>
            </a:pPr>
            <a:r>
              <a:rPr sz="1000" b="0" i="0">
                <a:solidFill>
                  <a:srgbClr val="5F6368"/>
                </a:solidFill>
                <a:latin typeface="Arial"/>
              </a:rPr>
              <a:t>The bank's own record, shared by consent</a:t>
            </a:r>
          </a:p>
        </p:txBody>
      </p:sp>
      <p:pic>
        <p:nvPicPr>
          <p:cNvPr id="141" name="snap_c_aa" descr="c_aa.png"/>
          <p:cNvPicPr>
            <a:picLocks noChangeAspect="1"/>
          </p:cNvPicPr>
          <p:nvPr/>
        </p:nvPicPr>
        <p:blipFill>
          <a:blip r:embed="rId6"/>
          <a:stretch>
            <a:fillRect/>
          </a:stretch>
        </p:blipFill>
        <p:spPr>
          <a:xfrm>
            <a:off x="4663440" y="1920240"/>
            <a:ext cx="4160520" cy="2703282"/>
          </a:xfrm>
          <a:prstGeom prst="rect">
            <a:avLst/>
          </a:prstGeom>
          <a:ln w="9525">
            <a:solidFill>
              <a:srgbClr val="DADCE0"/>
            </a:solidFill>
          </a:ln>
        </p:spPr>
      </p:pic>
    </p:spTree>
    <p:extLst>
      <p:ext uri="{BB962C8B-B14F-4D97-AF65-F5344CB8AC3E}">
        <p14:creationId xmlns:p14="http://schemas.microsoft.com/office/powerpoint/2010/main" val="29779991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35" name="Google Shape;135;p23"/>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Snapshots of the prototype — each source analysed</a:t>
            </a:r>
            <a:endParaRPr sz="1600">
              <a:latin typeface="Google Sans Flex Medium"/>
              <a:ea typeface="Google Sans Flex Medium"/>
              <a:cs typeface="Google Sans Flex Medium"/>
              <a:sym typeface="Google Sans Flex Medium"/>
            </a:endParaRPr>
          </a:p>
        </p:txBody>
      </p:sp>
      <p:sp>
        <p:nvSpPr>
          <p:cNvPr id="136" name="TextBox 135"/>
          <p:cNvSpPr txBox="1"/>
          <p:nvPr/>
        </p:nvSpPr>
        <p:spPr>
          <a:xfrm>
            <a:off x="320040" y="1371600"/>
            <a:ext cx="4160520" cy="246888"/>
          </a:xfrm>
          <a:prstGeom prst="rect">
            <a:avLst/>
          </a:prstGeom>
          <a:noFill/>
        </p:spPr>
        <p:txBody>
          <a:bodyPr wrap="square" lIns="0" tIns="0" rIns="0" bIns="0" anchor="t">
            <a:noAutofit/>
          </a:bodyPr>
          <a:lstStyle/>
          <a:p>
            <a:pPr algn="l">
              <a:spcBef>
                <a:spcPts val="0"/>
              </a:spcBef>
              <a:spcAft>
                <a:spcPts val="300"/>
              </a:spcAft>
            </a:pPr>
            <a:r>
              <a:rPr sz="1150" b="1" i="0">
                <a:solidFill>
                  <a:srgbClr val="202124"/>
                </a:solidFill>
                <a:latin typeface="Arial"/>
              </a:rPr>
              <a:t>Bank statement risk indicators</a:t>
            </a:r>
          </a:p>
        </p:txBody>
      </p:sp>
      <p:sp>
        <p:nvSpPr>
          <p:cNvPr id="137" name="TextBox 136"/>
          <p:cNvSpPr txBox="1"/>
          <p:nvPr/>
        </p:nvSpPr>
        <p:spPr>
          <a:xfrm>
            <a:off x="320040" y="1609344"/>
            <a:ext cx="4160520" cy="228600"/>
          </a:xfrm>
          <a:prstGeom prst="rect">
            <a:avLst/>
          </a:prstGeom>
          <a:noFill/>
        </p:spPr>
        <p:txBody>
          <a:bodyPr wrap="square" lIns="0" tIns="0" rIns="0" bIns="0" anchor="t">
            <a:noAutofit/>
          </a:bodyPr>
          <a:lstStyle/>
          <a:p>
            <a:pPr algn="l">
              <a:spcBef>
                <a:spcPts val="0"/>
              </a:spcBef>
              <a:spcAft>
                <a:spcPts val="300"/>
              </a:spcAft>
            </a:pPr>
            <a:r>
              <a:rPr sz="1000" b="0" i="0">
                <a:solidFill>
                  <a:srgbClr val="5F6368"/>
                </a:solidFill>
                <a:latin typeface="Arial"/>
              </a:rPr>
              <a:t>A flag only where the statement data supports it</a:t>
            </a:r>
          </a:p>
        </p:txBody>
      </p:sp>
      <p:pic>
        <p:nvPicPr>
          <p:cNvPr id="138" name="snap_c_aa_risk" descr="c_aa_risk.png"/>
          <p:cNvPicPr>
            <a:picLocks noChangeAspect="1"/>
          </p:cNvPicPr>
          <p:nvPr/>
        </p:nvPicPr>
        <p:blipFill>
          <a:blip r:embed="rId5"/>
          <a:stretch>
            <a:fillRect/>
          </a:stretch>
        </p:blipFill>
        <p:spPr>
          <a:xfrm>
            <a:off x="320040" y="1920240"/>
            <a:ext cx="4160520" cy="2703282"/>
          </a:xfrm>
          <a:prstGeom prst="rect">
            <a:avLst/>
          </a:prstGeom>
          <a:ln w="9525">
            <a:solidFill>
              <a:srgbClr val="DADCE0"/>
            </a:solidFill>
          </a:ln>
        </p:spPr>
      </p:pic>
      <p:sp>
        <p:nvSpPr>
          <p:cNvPr id="139" name="TextBox 138"/>
          <p:cNvSpPr txBox="1"/>
          <p:nvPr/>
        </p:nvSpPr>
        <p:spPr>
          <a:xfrm>
            <a:off x="4663440" y="1371600"/>
            <a:ext cx="4160520" cy="246888"/>
          </a:xfrm>
          <a:prstGeom prst="rect">
            <a:avLst/>
          </a:prstGeom>
          <a:noFill/>
        </p:spPr>
        <p:txBody>
          <a:bodyPr wrap="square" lIns="0" tIns="0" rIns="0" bIns="0" anchor="t">
            <a:noAutofit/>
          </a:bodyPr>
          <a:lstStyle/>
          <a:p>
            <a:pPr algn="l">
              <a:spcBef>
                <a:spcPts val="0"/>
              </a:spcBef>
              <a:spcAft>
                <a:spcPts val="300"/>
              </a:spcAft>
            </a:pPr>
            <a:r>
              <a:rPr sz="1150" b="1" i="0">
                <a:solidFill>
                  <a:srgbClr val="202124"/>
                </a:solidFill>
                <a:latin typeface="Arial"/>
              </a:rPr>
              <a:t>Tax &amp; Sales Compliance (GST)</a:t>
            </a:r>
          </a:p>
        </p:txBody>
      </p:sp>
      <p:sp>
        <p:nvSpPr>
          <p:cNvPr id="140" name="TextBox 139"/>
          <p:cNvSpPr txBox="1"/>
          <p:nvPr/>
        </p:nvSpPr>
        <p:spPr>
          <a:xfrm>
            <a:off x="4663440" y="1609344"/>
            <a:ext cx="4160520" cy="228600"/>
          </a:xfrm>
          <a:prstGeom prst="rect">
            <a:avLst/>
          </a:prstGeom>
          <a:noFill/>
        </p:spPr>
        <p:txBody>
          <a:bodyPr wrap="square" lIns="0" tIns="0" rIns="0" bIns="0" anchor="t">
            <a:noAutofit/>
          </a:bodyPr>
          <a:lstStyle/>
          <a:p>
            <a:pPr algn="l">
              <a:spcBef>
                <a:spcPts val="0"/>
              </a:spcBef>
              <a:spcAft>
                <a:spcPts val="300"/>
              </a:spcAft>
            </a:pPr>
            <a:r>
              <a:rPr sz="1000" b="0" i="0">
                <a:solidFill>
                  <a:srgbClr val="5F6368"/>
                </a:solidFill>
                <a:latin typeface="Arial"/>
              </a:rPr>
              <a:t>Filing and turnover analysis — sample data in the demo</a:t>
            </a:r>
          </a:p>
        </p:txBody>
      </p:sp>
      <p:pic>
        <p:nvPicPr>
          <p:cNvPr id="141" name="snap_c_gst" descr="c_gst.png"/>
          <p:cNvPicPr>
            <a:picLocks noChangeAspect="1"/>
          </p:cNvPicPr>
          <p:nvPr/>
        </p:nvPicPr>
        <p:blipFill>
          <a:blip r:embed="rId6"/>
          <a:stretch>
            <a:fillRect/>
          </a:stretch>
        </p:blipFill>
        <p:spPr>
          <a:xfrm>
            <a:off x="4663440" y="1920240"/>
            <a:ext cx="4160520" cy="2703282"/>
          </a:xfrm>
          <a:prstGeom prst="rect">
            <a:avLst/>
          </a:prstGeom>
          <a:ln w="9525">
            <a:solidFill>
              <a:srgbClr val="DADCE0"/>
            </a:solidFill>
          </a:ln>
        </p:spPr>
      </p:pic>
    </p:spTree>
    <p:extLst>
      <p:ext uri="{BB962C8B-B14F-4D97-AF65-F5344CB8AC3E}">
        <p14:creationId xmlns:p14="http://schemas.microsoft.com/office/powerpoint/2010/main" val="17326592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35" name="Google Shape;135;p23"/>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Snapshots of the prototype — each source analysed</a:t>
            </a:r>
            <a:endParaRPr sz="1600">
              <a:latin typeface="Google Sans Flex Medium"/>
              <a:ea typeface="Google Sans Flex Medium"/>
              <a:cs typeface="Google Sans Flex Medium"/>
              <a:sym typeface="Google Sans Flex Medium"/>
            </a:endParaRPr>
          </a:p>
        </p:txBody>
      </p:sp>
      <p:sp>
        <p:nvSpPr>
          <p:cNvPr id="136" name="TextBox 135"/>
          <p:cNvSpPr txBox="1"/>
          <p:nvPr/>
        </p:nvSpPr>
        <p:spPr>
          <a:xfrm>
            <a:off x="320040" y="1371600"/>
            <a:ext cx="4160520" cy="246888"/>
          </a:xfrm>
          <a:prstGeom prst="rect">
            <a:avLst/>
          </a:prstGeom>
          <a:noFill/>
        </p:spPr>
        <p:txBody>
          <a:bodyPr wrap="square" lIns="0" tIns="0" rIns="0" bIns="0" anchor="t">
            <a:noAutofit/>
          </a:bodyPr>
          <a:lstStyle/>
          <a:p>
            <a:pPr algn="l">
              <a:spcBef>
                <a:spcPts val="0"/>
              </a:spcBef>
              <a:spcAft>
                <a:spcPts val="300"/>
              </a:spcAft>
            </a:pPr>
            <a:r>
              <a:rPr sz="1150" b="1" i="0">
                <a:solidFill>
                  <a:srgbClr val="202124"/>
                </a:solidFill>
                <a:latin typeface="Arial"/>
              </a:rPr>
              <a:t>Income Tax Filing (ITR)</a:t>
            </a:r>
          </a:p>
        </p:txBody>
      </p:sp>
      <p:sp>
        <p:nvSpPr>
          <p:cNvPr id="137" name="TextBox 136"/>
          <p:cNvSpPr txBox="1"/>
          <p:nvPr/>
        </p:nvSpPr>
        <p:spPr>
          <a:xfrm>
            <a:off x="320040" y="1609344"/>
            <a:ext cx="4160520" cy="228600"/>
          </a:xfrm>
          <a:prstGeom prst="rect">
            <a:avLst/>
          </a:prstGeom>
          <a:noFill/>
        </p:spPr>
        <p:txBody>
          <a:bodyPr wrap="square" lIns="0" tIns="0" rIns="0" bIns="0" anchor="t">
            <a:noAutofit/>
          </a:bodyPr>
          <a:lstStyle/>
          <a:p>
            <a:pPr algn="l">
              <a:spcBef>
                <a:spcPts val="0"/>
              </a:spcBef>
              <a:spcAft>
                <a:spcPts val="300"/>
              </a:spcAft>
            </a:pPr>
            <a:r>
              <a:rPr sz="1000" b="0" i="0">
                <a:solidFill>
                  <a:srgbClr val="5F6368"/>
                </a:solidFill>
                <a:latin typeface="Arial"/>
              </a:rPr>
              <a:t>Income, tax and filing — sample data in the demo</a:t>
            </a:r>
          </a:p>
        </p:txBody>
      </p:sp>
      <p:pic>
        <p:nvPicPr>
          <p:cNvPr id="138" name="snap_c_itr" descr="c_itr.png"/>
          <p:cNvPicPr>
            <a:picLocks noChangeAspect="1"/>
          </p:cNvPicPr>
          <p:nvPr/>
        </p:nvPicPr>
        <p:blipFill>
          <a:blip r:embed="rId5"/>
          <a:stretch>
            <a:fillRect/>
          </a:stretch>
        </p:blipFill>
        <p:spPr>
          <a:xfrm>
            <a:off x="320040" y="1920240"/>
            <a:ext cx="4160520" cy="2703282"/>
          </a:xfrm>
          <a:prstGeom prst="rect">
            <a:avLst/>
          </a:prstGeom>
          <a:ln w="9525">
            <a:solidFill>
              <a:srgbClr val="DADCE0"/>
            </a:solidFill>
          </a:ln>
        </p:spPr>
      </p:pic>
      <p:sp>
        <p:nvSpPr>
          <p:cNvPr id="139" name="TextBox 138"/>
          <p:cNvSpPr txBox="1"/>
          <p:nvPr/>
        </p:nvSpPr>
        <p:spPr>
          <a:xfrm>
            <a:off x="4663440" y="1371600"/>
            <a:ext cx="4160520" cy="246888"/>
          </a:xfrm>
          <a:prstGeom prst="rect">
            <a:avLst/>
          </a:prstGeom>
          <a:noFill/>
        </p:spPr>
        <p:txBody>
          <a:bodyPr wrap="square" lIns="0" tIns="0" rIns="0" bIns="0" anchor="t">
            <a:noAutofit/>
          </a:bodyPr>
          <a:lstStyle/>
          <a:p>
            <a:pPr algn="l">
              <a:spcBef>
                <a:spcPts val="0"/>
              </a:spcBef>
              <a:spcAft>
                <a:spcPts val="300"/>
              </a:spcAft>
            </a:pPr>
            <a:r>
              <a:rPr sz="1150" b="1" i="0">
                <a:solidFill>
                  <a:srgbClr val="202124"/>
                </a:solidFill>
                <a:latin typeface="Arial"/>
              </a:rPr>
              <a:t>Corporate Registry (MCA)</a:t>
            </a:r>
          </a:p>
        </p:txBody>
      </p:sp>
      <p:sp>
        <p:nvSpPr>
          <p:cNvPr id="140" name="TextBox 139"/>
          <p:cNvSpPr txBox="1"/>
          <p:nvPr/>
        </p:nvSpPr>
        <p:spPr>
          <a:xfrm>
            <a:off x="4663440" y="1609344"/>
            <a:ext cx="4160520" cy="228600"/>
          </a:xfrm>
          <a:prstGeom prst="rect">
            <a:avLst/>
          </a:prstGeom>
          <a:noFill/>
        </p:spPr>
        <p:txBody>
          <a:bodyPr wrap="square" lIns="0" tIns="0" rIns="0" bIns="0" anchor="t">
            <a:noAutofit/>
          </a:bodyPr>
          <a:lstStyle/>
          <a:p>
            <a:pPr algn="l">
              <a:spcBef>
                <a:spcPts val="0"/>
              </a:spcBef>
              <a:spcAft>
                <a:spcPts val="300"/>
              </a:spcAft>
            </a:pPr>
            <a:r>
              <a:rPr sz="1000" b="0" i="0">
                <a:solidFill>
                  <a:srgbClr val="5F6368"/>
                </a:solidFill>
                <a:latin typeface="Arial"/>
              </a:rPr>
              <a:t>Company, directors and charges — sample data in the demo</a:t>
            </a:r>
          </a:p>
        </p:txBody>
      </p:sp>
      <p:pic>
        <p:nvPicPr>
          <p:cNvPr id="141" name="snap_c_mca" descr="c_mca.png"/>
          <p:cNvPicPr>
            <a:picLocks noChangeAspect="1"/>
          </p:cNvPicPr>
          <p:nvPr/>
        </p:nvPicPr>
        <p:blipFill>
          <a:blip r:embed="rId6"/>
          <a:stretch>
            <a:fillRect/>
          </a:stretch>
        </p:blipFill>
        <p:spPr>
          <a:xfrm>
            <a:off x="4663440" y="1920240"/>
            <a:ext cx="4160520" cy="2703282"/>
          </a:xfrm>
          <a:prstGeom prst="rect">
            <a:avLst/>
          </a:prstGeom>
          <a:ln w="9525">
            <a:solidFill>
              <a:srgbClr val="DADCE0"/>
            </a:solidFill>
          </a:ln>
        </p:spPr>
      </p:pic>
    </p:spTree>
    <p:extLst>
      <p:ext uri="{BB962C8B-B14F-4D97-AF65-F5344CB8AC3E}">
        <p14:creationId xmlns:p14="http://schemas.microsoft.com/office/powerpoint/2010/main" val="422700728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2">
            <a:alphaModFix/>
          </a:blip>
          <a:srcRect b="98001"/>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35" name="Google Shape;135;p23"/>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Snapshots of the prototype — the bank</a:t>
            </a:r>
            <a:endParaRPr sz="1600">
              <a:latin typeface="Google Sans Flex Medium"/>
              <a:ea typeface="Google Sans Flex Medium"/>
              <a:cs typeface="Google Sans Flex Medium"/>
              <a:sym typeface="Google Sans Flex Medium"/>
            </a:endParaRPr>
          </a:p>
        </p:txBody>
      </p:sp>
      <p:sp>
        <p:nvSpPr>
          <p:cNvPr id="136" name="TextBox 135"/>
          <p:cNvSpPr txBox="1"/>
          <p:nvPr/>
        </p:nvSpPr>
        <p:spPr>
          <a:xfrm>
            <a:off x="320040" y="1371600"/>
            <a:ext cx="4160520" cy="246888"/>
          </a:xfrm>
          <a:prstGeom prst="rect">
            <a:avLst/>
          </a:prstGeom>
          <a:noFill/>
        </p:spPr>
        <p:txBody>
          <a:bodyPr wrap="square" lIns="0" tIns="0" rIns="0" bIns="0" anchor="t">
            <a:noAutofit/>
          </a:bodyPr>
          <a:lstStyle/>
          <a:p>
            <a:pPr algn="l">
              <a:spcBef>
                <a:spcPts val="0"/>
              </a:spcBef>
              <a:spcAft>
                <a:spcPts val="300"/>
              </a:spcAft>
            </a:pPr>
            <a:r>
              <a:rPr sz="1150" b="1" i="0">
                <a:solidFill>
                  <a:srgbClr val="202124"/>
                </a:solidFill>
                <a:latin typeface="Arial"/>
              </a:rPr>
              <a:t>Bank dashboard</a:t>
            </a:r>
          </a:p>
        </p:txBody>
      </p:sp>
      <p:sp>
        <p:nvSpPr>
          <p:cNvPr id="137" name="TextBox 136"/>
          <p:cNvSpPr txBox="1"/>
          <p:nvPr/>
        </p:nvSpPr>
        <p:spPr>
          <a:xfrm>
            <a:off x="320040" y="1609344"/>
            <a:ext cx="4160520" cy="228600"/>
          </a:xfrm>
          <a:prstGeom prst="rect">
            <a:avLst/>
          </a:prstGeom>
          <a:noFill/>
        </p:spPr>
        <p:txBody>
          <a:bodyPr wrap="square" lIns="0" tIns="0" rIns="0" bIns="0" anchor="t">
            <a:noAutofit/>
          </a:bodyPr>
          <a:lstStyle/>
          <a:p>
            <a:pPr algn="l">
              <a:spcBef>
                <a:spcPts val="0"/>
              </a:spcBef>
              <a:spcAft>
                <a:spcPts val="300"/>
              </a:spcAft>
            </a:pPr>
            <a:r>
              <a:rPr sz="1000" b="0" i="0">
                <a:solidFill>
                  <a:srgbClr val="5F6368"/>
                </a:solidFill>
                <a:latin typeface="Arial"/>
              </a:rPr>
              <a:t>The onboarded portfolio at a glance</a:t>
            </a:r>
          </a:p>
        </p:txBody>
      </p:sp>
      <p:pic>
        <p:nvPicPr>
          <p:cNvPr id="138" name="snap_b_dashboard" descr="b_dashboard.png"/>
          <p:cNvPicPr>
            <a:picLocks noChangeAspect="1"/>
          </p:cNvPicPr>
          <p:nvPr/>
        </p:nvPicPr>
        <p:blipFill>
          <a:blip r:embed="rId4"/>
          <a:stretch>
            <a:fillRect/>
          </a:stretch>
        </p:blipFill>
        <p:spPr>
          <a:xfrm>
            <a:off x="320040" y="1920240"/>
            <a:ext cx="4160520" cy="2428730"/>
          </a:xfrm>
          <a:prstGeom prst="rect">
            <a:avLst/>
          </a:prstGeom>
          <a:ln w="9525">
            <a:solidFill>
              <a:srgbClr val="DADCE0"/>
            </a:solidFill>
          </a:ln>
        </p:spPr>
      </p:pic>
      <p:sp>
        <p:nvSpPr>
          <p:cNvPr id="139" name="TextBox 138"/>
          <p:cNvSpPr txBox="1"/>
          <p:nvPr/>
        </p:nvSpPr>
        <p:spPr>
          <a:xfrm>
            <a:off x="4663440" y="1371600"/>
            <a:ext cx="4160520" cy="246888"/>
          </a:xfrm>
          <a:prstGeom prst="rect">
            <a:avLst/>
          </a:prstGeom>
          <a:noFill/>
        </p:spPr>
        <p:txBody>
          <a:bodyPr wrap="square" lIns="0" tIns="0" rIns="0" bIns="0" anchor="t">
            <a:noAutofit/>
          </a:bodyPr>
          <a:lstStyle/>
          <a:p>
            <a:pPr algn="l">
              <a:spcBef>
                <a:spcPts val="0"/>
              </a:spcBef>
              <a:spcAft>
                <a:spcPts val="300"/>
              </a:spcAft>
            </a:pPr>
            <a:r>
              <a:rPr sz="1150" b="1" i="0">
                <a:solidFill>
                  <a:srgbClr val="202124"/>
                </a:solidFill>
                <a:latin typeface="Arial"/>
              </a:rPr>
              <a:t>One page per customer</a:t>
            </a:r>
          </a:p>
        </p:txBody>
      </p:sp>
      <p:sp>
        <p:nvSpPr>
          <p:cNvPr id="140" name="TextBox 139"/>
          <p:cNvSpPr txBox="1"/>
          <p:nvPr/>
        </p:nvSpPr>
        <p:spPr>
          <a:xfrm>
            <a:off x="4663440" y="1609344"/>
            <a:ext cx="4160520" cy="228600"/>
          </a:xfrm>
          <a:prstGeom prst="rect">
            <a:avLst/>
          </a:prstGeom>
          <a:noFill/>
        </p:spPr>
        <p:txBody>
          <a:bodyPr wrap="square" lIns="0" tIns="0" rIns="0" bIns="0" anchor="t">
            <a:noAutofit/>
          </a:bodyPr>
          <a:lstStyle/>
          <a:p>
            <a:pPr algn="l">
              <a:spcBef>
                <a:spcPts val="0"/>
              </a:spcBef>
              <a:spcAft>
                <a:spcPts val="300"/>
              </a:spcAft>
            </a:pPr>
            <a:r>
              <a:rPr sz="1000" b="0" i="0">
                <a:solidFill>
                  <a:srgbClr val="5F6368"/>
                </a:solidFill>
                <a:latin typeface="Arial"/>
              </a:rPr>
              <a:t>Opens on the Risk Lens; every source in its own tab</a:t>
            </a:r>
          </a:p>
        </p:txBody>
      </p:sp>
      <p:pic>
        <p:nvPicPr>
          <p:cNvPr id="141" name="snap_b_customer" descr="b_customer.png"/>
          <p:cNvPicPr>
            <a:picLocks noChangeAspect="1"/>
          </p:cNvPicPr>
          <p:nvPr/>
        </p:nvPicPr>
        <p:blipFill>
          <a:blip r:embed="rId5"/>
          <a:stretch>
            <a:fillRect/>
          </a:stretch>
        </p:blipFill>
        <p:spPr>
          <a:xfrm>
            <a:off x="4663440" y="1920240"/>
            <a:ext cx="4160520" cy="2423450"/>
          </a:xfrm>
          <a:prstGeom prst="rect">
            <a:avLst/>
          </a:prstGeom>
          <a:ln w="9525">
            <a:solidFill>
              <a:srgbClr val="DADCE0"/>
            </a:solid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2">
            <a:alphaModFix/>
          </a:blip>
          <a:srcRect b="98001"/>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35" name="Google Shape;135;p23"/>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Snapshots of the prototype — fraud detection per customer</a:t>
            </a:r>
            <a:endParaRPr sz="1600">
              <a:latin typeface="Google Sans Flex Medium"/>
              <a:ea typeface="Google Sans Flex Medium"/>
              <a:cs typeface="Google Sans Flex Medium"/>
              <a:sym typeface="Google Sans Flex Medium"/>
            </a:endParaRPr>
          </a:p>
        </p:txBody>
      </p:sp>
      <p:pic>
        <p:nvPicPr>
          <p:cNvPr id="136" name="snap_b_customers" descr="b_customers.png"/>
          <p:cNvPicPr>
            <a:picLocks noChangeAspect="1"/>
          </p:cNvPicPr>
          <p:nvPr/>
        </p:nvPicPr>
        <p:blipFill>
          <a:blip r:embed="rId4"/>
          <a:stretch>
            <a:fillRect/>
          </a:stretch>
        </p:blipFill>
        <p:spPr>
          <a:xfrm>
            <a:off x="320040" y="1188720"/>
            <a:ext cx="4480560" cy="1904807"/>
          </a:xfrm>
          <a:prstGeom prst="rect">
            <a:avLst/>
          </a:prstGeom>
          <a:ln w="9525">
            <a:solidFill>
              <a:srgbClr val="DADCE0"/>
            </a:solidFill>
          </a:ln>
        </p:spPr>
      </p:pic>
      <p:sp>
        <p:nvSpPr>
          <p:cNvPr id="137" name="TextBox 136"/>
          <p:cNvSpPr txBox="1"/>
          <p:nvPr/>
        </p:nvSpPr>
        <p:spPr>
          <a:xfrm>
            <a:off x="5029200" y="1691640"/>
            <a:ext cx="3749039" cy="274320"/>
          </a:xfrm>
          <a:prstGeom prst="rect">
            <a:avLst/>
          </a:prstGeom>
          <a:noFill/>
        </p:spPr>
        <p:txBody>
          <a:bodyPr wrap="square" lIns="0" tIns="0" rIns="0" bIns="0" anchor="t">
            <a:noAutofit/>
          </a:bodyPr>
          <a:lstStyle/>
          <a:p>
            <a:pPr algn="l">
              <a:spcBef>
                <a:spcPts val="0"/>
              </a:spcBef>
              <a:spcAft>
                <a:spcPts val="300"/>
              </a:spcAft>
            </a:pPr>
            <a:r>
              <a:rPr sz="1200" b="1" i="0">
                <a:solidFill>
                  <a:srgbClr val="202124"/>
                </a:solidFill>
                <a:latin typeface="Arial"/>
              </a:rPr>
              <a:t>Customers</a:t>
            </a:r>
          </a:p>
        </p:txBody>
      </p:sp>
      <p:sp>
        <p:nvSpPr>
          <p:cNvPr id="138" name="TextBox 137"/>
          <p:cNvSpPr txBox="1"/>
          <p:nvPr/>
        </p:nvSpPr>
        <p:spPr>
          <a:xfrm>
            <a:off x="5029200" y="1993392"/>
            <a:ext cx="3749039" cy="822960"/>
          </a:xfrm>
          <a:prstGeom prst="rect">
            <a:avLst/>
          </a:prstGeom>
          <a:noFill/>
        </p:spPr>
        <p:txBody>
          <a:bodyPr wrap="square" lIns="0" tIns="0" rIns="0" bIns="0" anchor="t">
            <a:noAutofit/>
          </a:bodyPr>
          <a:lstStyle/>
          <a:p>
            <a:pPr algn="l">
              <a:spcBef>
                <a:spcPts val="0"/>
              </a:spcBef>
              <a:spcAft>
                <a:spcPts val="300"/>
              </a:spcAft>
            </a:pPr>
            <a:r>
              <a:rPr sz="1050" b="0" i="0">
                <a:solidFill>
                  <a:srgbClr val="5F6368"/>
                </a:solidFill>
                <a:latin typeface="Arial"/>
              </a:rPr>
              <a:t>A risk status for every customer — Reddy Industries reads High risk</a:t>
            </a:r>
          </a:p>
        </p:txBody>
      </p:sp>
      <p:pic>
        <p:nvPicPr>
          <p:cNvPr id="139" name="snap_b_risklens" descr="b_risklens.png"/>
          <p:cNvPicPr>
            <a:picLocks noChangeAspect="1"/>
          </p:cNvPicPr>
          <p:nvPr/>
        </p:nvPicPr>
        <p:blipFill>
          <a:blip r:embed="rId5"/>
          <a:stretch>
            <a:fillRect/>
          </a:stretch>
        </p:blipFill>
        <p:spPr>
          <a:xfrm>
            <a:off x="320040" y="3127248"/>
            <a:ext cx="4480560" cy="1904807"/>
          </a:xfrm>
          <a:prstGeom prst="rect">
            <a:avLst/>
          </a:prstGeom>
          <a:ln w="9525">
            <a:solidFill>
              <a:srgbClr val="DADCE0"/>
            </a:solidFill>
          </a:ln>
        </p:spPr>
      </p:pic>
      <p:sp>
        <p:nvSpPr>
          <p:cNvPr id="140" name="TextBox 139"/>
          <p:cNvSpPr txBox="1"/>
          <p:nvPr/>
        </p:nvSpPr>
        <p:spPr>
          <a:xfrm>
            <a:off x="5029200" y="3630168"/>
            <a:ext cx="3749039" cy="274320"/>
          </a:xfrm>
          <a:prstGeom prst="rect">
            <a:avLst/>
          </a:prstGeom>
          <a:noFill/>
        </p:spPr>
        <p:txBody>
          <a:bodyPr wrap="square" lIns="0" tIns="0" rIns="0" bIns="0" anchor="t">
            <a:noAutofit/>
          </a:bodyPr>
          <a:lstStyle/>
          <a:p>
            <a:pPr algn="l">
              <a:spcBef>
                <a:spcPts val="0"/>
              </a:spcBef>
              <a:spcAft>
                <a:spcPts val="300"/>
              </a:spcAft>
            </a:pPr>
            <a:r>
              <a:rPr sz="1200" b="1" i="0">
                <a:solidFill>
                  <a:srgbClr val="202124"/>
                </a:solidFill>
                <a:latin typeface="Arial"/>
              </a:rPr>
              <a:t>Risk Lens</a:t>
            </a:r>
          </a:p>
        </p:txBody>
      </p:sp>
      <p:sp>
        <p:nvSpPr>
          <p:cNvPr id="141" name="TextBox 140"/>
          <p:cNvSpPr txBox="1"/>
          <p:nvPr/>
        </p:nvSpPr>
        <p:spPr>
          <a:xfrm>
            <a:off x="5029200" y="3931920"/>
            <a:ext cx="3749039" cy="822960"/>
          </a:xfrm>
          <a:prstGeom prst="rect">
            <a:avLst/>
          </a:prstGeom>
          <a:noFill/>
        </p:spPr>
        <p:txBody>
          <a:bodyPr wrap="square" lIns="0" tIns="0" rIns="0" bIns="0" anchor="t">
            <a:noAutofit/>
          </a:bodyPr>
          <a:lstStyle/>
          <a:p>
            <a:pPr algn="l">
              <a:spcBef>
                <a:spcPts val="0"/>
              </a:spcBef>
              <a:spcAft>
                <a:spcPts val="300"/>
              </a:spcAft>
            </a:pPr>
            <a:r>
              <a:rPr sz="1050" b="0" i="0">
                <a:solidFill>
                  <a:srgbClr val="5F6368"/>
                </a:solidFill>
                <a:latin typeface="Arial"/>
              </a:rPr>
              <a:t>The verdict, then one section per source — Bank conduct is flagged</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2">
            <a:alphaModFix/>
          </a:blip>
          <a:srcRect b="98001"/>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35" name="Google Shape;135;p23"/>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Snapshots of the prototype — fraud detection per customer</a:t>
            </a:r>
            <a:endParaRPr sz="1600">
              <a:latin typeface="Google Sans Flex Medium"/>
              <a:ea typeface="Google Sans Flex Medium"/>
              <a:cs typeface="Google Sans Flex Medium"/>
              <a:sym typeface="Google Sans Flex Medium"/>
            </a:endParaRPr>
          </a:p>
        </p:txBody>
      </p:sp>
      <p:pic>
        <p:nvPicPr>
          <p:cNvPr id="136" name="snap_b_finding" descr="b_finding.png"/>
          <p:cNvPicPr>
            <a:picLocks noChangeAspect="1"/>
          </p:cNvPicPr>
          <p:nvPr/>
        </p:nvPicPr>
        <p:blipFill>
          <a:blip r:embed="rId4"/>
          <a:stretch>
            <a:fillRect/>
          </a:stretch>
        </p:blipFill>
        <p:spPr>
          <a:xfrm>
            <a:off x="320040" y="1188720"/>
            <a:ext cx="4480560" cy="1904807"/>
          </a:xfrm>
          <a:prstGeom prst="rect">
            <a:avLst/>
          </a:prstGeom>
          <a:ln w="9525">
            <a:solidFill>
              <a:srgbClr val="DADCE0"/>
            </a:solidFill>
          </a:ln>
        </p:spPr>
      </p:pic>
      <p:sp>
        <p:nvSpPr>
          <p:cNvPr id="137" name="TextBox 136"/>
          <p:cNvSpPr txBox="1"/>
          <p:nvPr/>
        </p:nvSpPr>
        <p:spPr>
          <a:xfrm>
            <a:off x="5029200" y="1691640"/>
            <a:ext cx="3749039" cy="274320"/>
          </a:xfrm>
          <a:prstGeom prst="rect">
            <a:avLst/>
          </a:prstGeom>
          <a:noFill/>
        </p:spPr>
        <p:txBody>
          <a:bodyPr wrap="square" lIns="0" tIns="0" rIns="0" bIns="0" anchor="t">
            <a:noAutofit/>
          </a:bodyPr>
          <a:lstStyle/>
          <a:p>
            <a:pPr algn="l">
              <a:spcBef>
                <a:spcPts val="0"/>
              </a:spcBef>
              <a:spcAft>
                <a:spcPts val="300"/>
              </a:spcAft>
            </a:pPr>
            <a:r>
              <a:rPr sz="1200" b="1" i="0">
                <a:solidFill>
                  <a:srgbClr val="202124"/>
                </a:solidFill>
                <a:latin typeface="Arial"/>
              </a:rPr>
              <a:t>A finding with its evidence</a:t>
            </a:r>
          </a:p>
        </p:txBody>
      </p:sp>
      <p:sp>
        <p:nvSpPr>
          <p:cNvPr id="138" name="TextBox 137"/>
          <p:cNvSpPr txBox="1"/>
          <p:nvPr/>
        </p:nvSpPr>
        <p:spPr>
          <a:xfrm>
            <a:off x="5029200" y="1993392"/>
            <a:ext cx="3749039" cy="822960"/>
          </a:xfrm>
          <a:prstGeom prst="rect">
            <a:avLst/>
          </a:prstGeom>
          <a:noFill/>
        </p:spPr>
        <p:txBody>
          <a:bodyPr wrap="square" lIns="0" tIns="0" rIns="0" bIns="0" anchor="t">
            <a:noAutofit/>
          </a:bodyPr>
          <a:lstStyle/>
          <a:p>
            <a:pPr algn="l">
              <a:spcBef>
                <a:spcPts val="0"/>
              </a:spcBef>
              <a:spcAft>
                <a:spcPts val="300"/>
              </a:spcAft>
            </a:pPr>
            <a:r>
              <a:rPr sz="1050" b="0" i="0">
                <a:solidFill>
                  <a:srgbClr val="5F6368"/>
                </a:solidFill>
                <a:latin typeface="Arial"/>
              </a:rPr>
              <a:t>Read from the bank's own Account Aggregator record; the officer confirms or dismisses it</a:t>
            </a:r>
          </a:p>
        </p:txBody>
      </p:sp>
      <p:pic>
        <p:nvPicPr>
          <p:cNvPr id="139" name="snap_b_loancase" descr="b_loancase.png"/>
          <p:cNvPicPr>
            <a:picLocks noChangeAspect="1"/>
          </p:cNvPicPr>
          <p:nvPr/>
        </p:nvPicPr>
        <p:blipFill>
          <a:blip r:embed="rId5"/>
          <a:stretch>
            <a:fillRect/>
          </a:stretch>
        </p:blipFill>
        <p:spPr>
          <a:xfrm>
            <a:off x="320040" y="3127248"/>
            <a:ext cx="4480560" cy="1904807"/>
          </a:xfrm>
          <a:prstGeom prst="rect">
            <a:avLst/>
          </a:prstGeom>
          <a:ln w="9525">
            <a:solidFill>
              <a:srgbClr val="DADCE0"/>
            </a:solidFill>
          </a:ln>
        </p:spPr>
      </p:pic>
      <p:sp>
        <p:nvSpPr>
          <p:cNvPr id="140" name="TextBox 139"/>
          <p:cNvSpPr txBox="1"/>
          <p:nvPr/>
        </p:nvSpPr>
        <p:spPr>
          <a:xfrm>
            <a:off x="5029200" y="3630168"/>
            <a:ext cx="3749039" cy="274320"/>
          </a:xfrm>
          <a:prstGeom prst="rect">
            <a:avLst/>
          </a:prstGeom>
          <a:noFill/>
        </p:spPr>
        <p:txBody>
          <a:bodyPr wrap="square" lIns="0" tIns="0" rIns="0" bIns="0" anchor="t">
            <a:noAutofit/>
          </a:bodyPr>
          <a:lstStyle/>
          <a:p>
            <a:pPr algn="l">
              <a:spcBef>
                <a:spcPts val="0"/>
              </a:spcBef>
              <a:spcAft>
                <a:spcPts val="300"/>
              </a:spcAft>
            </a:pPr>
            <a:r>
              <a:rPr sz="1200" b="1" i="0">
                <a:solidFill>
                  <a:srgbClr val="202124"/>
                </a:solidFill>
                <a:latin typeface="Arial"/>
              </a:rPr>
              <a:t>Clear → loan case</a:t>
            </a:r>
          </a:p>
        </p:txBody>
      </p:sp>
      <p:sp>
        <p:nvSpPr>
          <p:cNvPr id="141" name="TextBox 140"/>
          <p:cNvSpPr txBox="1"/>
          <p:nvPr/>
        </p:nvSpPr>
        <p:spPr>
          <a:xfrm>
            <a:off x="5029200" y="3931920"/>
            <a:ext cx="3749039" cy="822960"/>
          </a:xfrm>
          <a:prstGeom prst="rect">
            <a:avLst/>
          </a:prstGeom>
          <a:noFill/>
        </p:spPr>
        <p:txBody>
          <a:bodyPr wrap="square" lIns="0" tIns="0" rIns="0" bIns="0" anchor="t">
            <a:noAutofit/>
          </a:bodyPr>
          <a:lstStyle/>
          <a:p>
            <a:pPr algn="l">
              <a:spcBef>
                <a:spcPts val="0"/>
              </a:spcBef>
              <a:spcAft>
                <a:spcPts val="300"/>
              </a:spcAft>
            </a:pPr>
            <a:r>
              <a:rPr sz="1050" b="0" i="0">
                <a:solidFill>
                  <a:srgbClr val="5F6368"/>
                </a:solidFill>
                <a:latin typeface="Arial"/>
              </a:rPr>
              <a:t>A customer with nothing open goes on to the AI credit decision and the LOS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43" name="Google Shape;143;p24"/>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perf_0"/>
          <p:cNvSpPr/>
          <p:nvPr/>
        </p:nvSpPr>
        <p:spPr>
          <a:xfrm>
            <a:off x="320040" y="1188720"/>
            <a:ext cx="2011680" cy="1024128"/>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5" name="TextBox 144"/>
          <p:cNvSpPr txBox="1"/>
          <p:nvPr/>
        </p:nvSpPr>
        <p:spPr>
          <a:xfrm>
            <a:off x="429768" y="1280160"/>
            <a:ext cx="1792224" cy="457200"/>
          </a:xfrm>
          <a:prstGeom prst="rect">
            <a:avLst/>
          </a:prstGeom>
          <a:noFill/>
        </p:spPr>
        <p:txBody>
          <a:bodyPr wrap="square" lIns="0" tIns="0" rIns="0" bIns="0" anchor="ctr">
            <a:noAutofit/>
          </a:bodyPr>
          <a:lstStyle/>
          <a:p>
            <a:pPr algn="l">
              <a:spcBef>
                <a:spcPts val="0"/>
              </a:spcBef>
              <a:spcAft>
                <a:spcPts val="300"/>
              </a:spcAft>
            </a:pPr>
            <a:r>
              <a:rPr sz="2200" b="1" i="0">
                <a:solidFill>
                  <a:srgbClr val="7A1230"/>
                </a:solidFill>
                <a:latin typeface="Arial"/>
              </a:rPr>
              <a:t>99.8–100%</a:t>
            </a:r>
          </a:p>
        </p:txBody>
      </p:sp>
      <p:sp>
        <p:nvSpPr>
          <p:cNvPr id="146" name="TextBox 145"/>
          <p:cNvSpPr txBox="1"/>
          <p:nvPr/>
        </p:nvSpPr>
        <p:spPr>
          <a:xfrm>
            <a:off x="429768" y="1755648"/>
            <a:ext cx="1792224" cy="402336"/>
          </a:xfrm>
          <a:prstGeom prst="rect">
            <a:avLst/>
          </a:prstGeom>
          <a:noFill/>
        </p:spPr>
        <p:txBody>
          <a:bodyPr wrap="square" lIns="0" tIns="0" rIns="0" bIns="0" anchor="t">
            <a:noAutofit/>
          </a:bodyPr>
          <a:lstStyle/>
          <a:p>
            <a:pPr algn="l">
              <a:spcBef>
                <a:spcPts val="0"/>
              </a:spcBef>
              <a:spcAft>
                <a:spcPts val="300"/>
              </a:spcAft>
            </a:pPr>
            <a:r>
              <a:rPr sz="1000" b="0" i="0">
                <a:solidFill>
                  <a:srgbClr val="5F6368"/>
                </a:solidFill>
                <a:latin typeface="Arial"/>
              </a:rPr>
              <a:t>of 1,298 statement rows read exactly — two live runs</a:t>
            </a:r>
          </a:p>
        </p:txBody>
      </p:sp>
      <p:sp>
        <p:nvSpPr>
          <p:cNvPr id="147" name="perf_1"/>
          <p:cNvSpPr/>
          <p:nvPr/>
        </p:nvSpPr>
        <p:spPr>
          <a:xfrm>
            <a:off x="2487168" y="1188720"/>
            <a:ext cx="2011680" cy="1024128"/>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8" name="TextBox 147"/>
          <p:cNvSpPr txBox="1"/>
          <p:nvPr/>
        </p:nvSpPr>
        <p:spPr>
          <a:xfrm>
            <a:off x="2596896" y="1280160"/>
            <a:ext cx="1792224" cy="457200"/>
          </a:xfrm>
          <a:prstGeom prst="rect">
            <a:avLst/>
          </a:prstGeom>
          <a:noFill/>
        </p:spPr>
        <p:txBody>
          <a:bodyPr wrap="square" lIns="0" tIns="0" rIns="0" bIns="0" anchor="ctr">
            <a:noAutofit/>
          </a:bodyPr>
          <a:lstStyle/>
          <a:p>
            <a:pPr algn="l">
              <a:spcBef>
                <a:spcPts val="0"/>
              </a:spcBef>
              <a:spcAft>
                <a:spcPts val="300"/>
              </a:spcAft>
            </a:pPr>
            <a:r>
              <a:rPr sz="2200" b="1" i="0">
                <a:solidFill>
                  <a:srgbClr val="7A1230"/>
                </a:solidFill>
                <a:latin typeface="Arial"/>
              </a:rPr>
              <a:t>20 / 20</a:t>
            </a:r>
          </a:p>
        </p:txBody>
      </p:sp>
      <p:sp>
        <p:nvSpPr>
          <p:cNvPr id="149" name="TextBox 148"/>
          <p:cNvSpPr txBox="1"/>
          <p:nvPr/>
        </p:nvSpPr>
        <p:spPr>
          <a:xfrm>
            <a:off x="2596896" y="1755648"/>
            <a:ext cx="1792224" cy="402336"/>
          </a:xfrm>
          <a:prstGeom prst="rect">
            <a:avLst/>
          </a:prstGeom>
          <a:noFill/>
        </p:spPr>
        <p:txBody>
          <a:bodyPr wrap="square" lIns="0" tIns="0" rIns="0" bIns="0" anchor="t">
            <a:noAutofit/>
          </a:bodyPr>
          <a:lstStyle/>
          <a:p>
            <a:pPr algn="l">
              <a:spcBef>
                <a:spcPts val="0"/>
              </a:spcBef>
              <a:spcAft>
                <a:spcPts val="300"/>
              </a:spcAft>
            </a:pPr>
            <a:r>
              <a:rPr sz="1000" b="0" i="0">
                <a:solidFill>
                  <a:srgbClr val="5F6368"/>
                </a:solidFill>
                <a:latin typeface="Arial"/>
              </a:rPr>
              <a:t>demo assessments raise exactly their expected findings</a:t>
            </a:r>
          </a:p>
        </p:txBody>
      </p:sp>
      <p:sp>
        <p:nvSpPr>
          <p:cNvPr id="150" name="perf_2"/>
          <p:cNvSpPr/>
          <p:nvPr/>
        </p:nvSpPr>
        <p:spPr>
          <a:xfrm>
            <a:off x="4654296" y="1188720"/>
            <a:ext cx="2011680" cy="1024128"/>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1" name="TextBox 150"/>
          <p:cNvSpPr txBox="1"/>
          <p:nvPr/>
        </p:nvSpPr>
        <p:spPr>
          <a:xfrm>
            <a:off x="4764024" y="1280160"/>
            <a:ext cx="1792224" cy="457200"/>
          </a:xfrm>
          <a:prstGeom prst="rect">
            <a:avLst/>
          </a:prstGeom>
          <a:noFill/>
        </p:spPr>
        <p:txBody>
          <a:bodyPr wrap="square" lIns="0" tIns="0" rIns="0" bIns="0" anchor="ctr">
            <a:noAutofit/>
          </a:bodyPr>
          <a:lstStyle/>
          <a:p>
            <a:pPr algn="l">
              <a:spcBef>
                <a:spcPts val="0"/>
              </a:spcBef>
              <a:spcAft>
                <a:spcPts val="300"/>
              </a:spcAft>
            </a:pPr>
            <a:r>
              <a:rPr sz="2200" b="1" i="0">
                <a:solidFill>
                  <a:srgbClr val="1E8E3E"/>
                </a:solidFill>
                <a:latin typeface="Arial"/>
              </a:rPr>
              <a:t>0</a:t>
            </a:r>
          </a:p>
        </p:txBody>
      </p:sp>
      <p:sp>
        <p:nvSpPr>
          <p:cNvPr id="152" name="TextBox 151"/>
          <p:cNvSpPr txBox="1"/>
          <p:nvPr/>
        </p:nvSpPr>
        <p:spPr>
          <a:xfrm>
            <a:off x="4764024" y="1755648"/>
            <a:ext cx="1792224" cy="402336"/>
          </a:xfrm>
          <a:prstGeom prst="rect">
            <a:avLst/>
          </a:prstGeom>
          <a:noFill/>
        </p:spPr>
        <p:txBody>
          <a:bodyPr wrap="square" lIns="0" tIns="0" rIns="0" bIns="0" anchor="t">
            <a:noAutofit/>
          </a:bodyPr>
          <a:lstStyle/>
          <a:p>
            <a:pPr algn="l">
              <a:spcBef>
                <a:spcPts val="0"/>
              </a:spcBef>
              <a:spcAft>
                <a:spcPts val="300"/>
              </a:spcAft>
            </a:pPr>
            <a:r>
              <a:rPr sz="1000" b="0" i="0">
                <a:solidFill>
                  <a:srgbClr val="5F6368"/>
                </a:solidFill>
                <a:latin typeface="Arial"/>
              </a:rPr>
              <a:t>false alarms on genuine applicants — checks and AI</a:t>
            </a:r>
          </a:p>
        </p:txBody>
      </p:sp>
      <p:sp>
        <p:nvSpPr>
          <p:cNvPr id="153" name="perf_3"/>
          <p:cNvSpPr/>
          <p:nvPr/>
        </p:nvSpPr>
        <p:spPr>
          <a:xfrm>
            <a:off x="6821424" y="1188720"/>
            <a:ext cx="2011680" cy="1024128"/>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4" name="TextBox 153"/>
          <p:cNvSpPr txBox="1"/>
          <p:nvPr/>
        </p:nvSpPr>
        <p:spPr>
          <a:xfrm>
            <a:off x="6931152" y="1280160"/>
            <a:ext cx="1792224" cy="457200"/>
          </a:xfrm>
          <a:prstGeom prst="rect">
            <a:avLst/>
          </a:prstGeom>
          <a:noFill/>
        </p:spPr>
        <p:txBody>
          <a:bodyPr wrap="square" lIns="0" tIns="0" rIns="0" bIns="0" anchor="ctr">
            <a:noAutofit/>
          </a:bodyPr>
          <a:lstStyle/>
          <a:p>
            <a:pPr algn="l">
              <a:spcBef>
                <a:spcPts val="0"/>
              </a:spcBef>
              <a:spcAft>
                <a:spcPts val="300"/>
              </a:spcAft>
            </a:pPr>
            <a:r>
              <a:rPr sz="2200" b="1" i="0">
                <a:solidFill>
                  <a:srgbClr val="7A1230"/>
                </a:solidFill>
                <a:latin typeface="Arial"/>
              </a:rPr>
              <a:t>5 / 5</a:t>
            </a:r>
          </a:p>
        </p:txBody>
      </p:sp>
      <p:sp>
        <p:nvSpPr>
          <p:cNvPr id="155" name="TextBox 154"/>
          <p:cNvSpPr txBox="1"/>
          <p:nvPr/>
        </p:nvSpPr>
        <p:spPr>
          <a:xfrm>
            <a:off x="6931152" y="1755648"/>
            <a:ext cx="1792224" cy="402336"/>
          </a:xfrm>
          <a:prstGeom prst="rect">
            <a:avLst/>
          </a:prstGeom>
          <a:noFill/>
        </p:spPr>
        <p:txBody>
          <a:bodyPr wrap="square" lIns="0" tIns="0" rIns="0" bIns="0" anchor="t">
            <a:noAutofit/>
          </a:bodyPr>
          <a:lstStyle/>
          <a:p>
            <a:pPr algn="l">
              <a:spcBef>
                <a:spcPts val="0"/>
              </a:spcBef>
              <a:spcAft>
                <a:spcPts val="300"/>
              </a:spcAft>
            </a:pPr>
            <a:r>
              <a:rPr sz="1000" b="0" i="0">
                <a:solidFill>
                  <a:srgbClr val="5F6368"/>
                </a:solidFill>
                <a:latin typeface="Arial"/>
              </a:rPr>
              <a:t>expected AI findings found by the investigator</a:t>
            </a:r>
          </a:p>
        </p:txBody>
      </p:sp>
      <p:sp>
        <p:nvSpPr>
          <p:cNvPr id="156" name="TextBox 155"/>
          <p:cNvSpPr txBox="1"/>
          <p:nvPr/>
        </p:nvSpPr>
        <p:spPr>
          <a:xfrm>
            <a:off x="320040" y="2331720"/>
            <a:ext cx="8503920" cy="228600"/>
          </a:xfrm>
          <a:prstGeom prst="rect">
            <a:avLst/>
          </a:prstGeom>
          <a:noFill/>
        </p:spPr>
        <p:txBody>
          <a:bodyPr wrap="square" lIns="0" tIns="0" rIns="0" bIns="0" anchor="t">
            <a:noAutofit/>
          </a:bodyPr>
          <a:lstStyle/>
          <a:p>
            <a:pPr algn="l">
              <a:spcBef>
                <a:spcPts val="0"/>
              </a:spcBef>
              <a:spcAft>
                <a:spcPts val="300"/>
              </a:spcAft>
            </a:pPr>
            <a:r>
              <a:rPr sz="1000" b="1" i="0">
                <a:solidFill>
                  <a:srgbClr val="7A1230"/>
                </a:solidFill>
                <a:latin typeface="Arial"/>
              </a:rPr>
              <a:t>How it is measured: </a:t>
            </a:r>
            <a:r>
              <a:rPr sz="1000" b="0" i="0">
                <a:solidFill>
                  <a:srgbClr val="5F6368"/>
                </a:solidFill>
                <a:latin typeface="Arial"/>
              </a:rPr>
              <a:t>synthetic documents with known ground truth, read by live Gemini, scored row by row, checks run on Gemini's own reading</a:t>
            </a:r>
          </a:p>
        </p:txBody>
      </p:sp>
      <p:graphicFrame>
        <p:nvGraphicFramePr>
          <p:cNvPr id="157" name="bench_table"/>
          <p:cNvGraphicFramePr>
            <a:graphicFrameLocks noGrp="1"/>
          </p:cNvGraphicFramePr>
          <p:nvPr/>
        </p:nvGraphicFramePr>
        <p:xfrm>
          <a:off x="320040" y="2633472"/>
          <a:ext cx="8503920" cy="2112264"/>
        </p:xfrm>
        <a:graphic>
          <a:graphicData uri="http://schemas.openxmlformats.org/drawingml/2006/table">
            <a:tbl>
              <a:tblPr firstRow="1"/>
              <a:tblGrid>
                <a:gridCol w="214884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3611880">
                  <a:extLst>
                    <a:ext uri="{9D8B030D-6E8A-4147-A177-3AD203B41FA5}">
                      <a16:colId xmlns:a16="http://schemas.microsoft.com/office/drawing/2014/main" val="20002"/>
                    </a:ext>
                  </a:extLst>
                </a:gridCol>
              </a:tblGrid>
              <a:tr h="301752">
                <a:tc>
                  <a:txBody>
                    <a:bodyPr/>
                    <a:lstStyle/>
                    <a:p>
                      <a:r>
                        <a:rPr sz="950" b="1">
                          <a:solidFill>
                            <a:srgbClr val="FFFFFF"/>
                          </a:solidFill>
                          <a:latin typeface="Arial"/>
                        </a:rPr>
                        <a:t>Check</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202124"/>
                    </a:solidFill>
                  </a:tcPr>
                </a:tc>
                <a:tc>
                  <a:txBody>
                    <a:bodyPr/>
                    <a:lstStyle/>
                    <a:p>
                      <a:r>
                        <a:rPr sz="950" b="1">
                          <a:solidFill>
                            <a:srgbClr val="FFFFFF"/>
                          </a:solidFill>
                          <a:latin typeface="Arial"/>
                        </a:rPr>
                        <a:t>Manual review</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202124"/>
                    </a:solidFill>
                  </a:tcPr>
                </a:tc>
                <a:tc>
                  <a:txBody>
                    <a:bodyPr/>
                    <a:lstStyle/>
                    <a:p>
                      <a:r>
                        <a:rPr sz="950" b="1">
                          <a:solidFill>
                            <a:srgbClr val="FFFFFF"/>
                          </a:solidFill>
                          <a:latin typeface="Arial"/>
                        </a:rPr>
                        <a:t>FinRiskLens</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202124"/>
                    </a:solidFill>
                  </a:tcPr>
                </a:tc>
                <a:extLst>
                  <a:ext uri="{0D108BD9-81ED-4DB2-BD59-A6C34878D82A}">
                    <a16:rowId xmlns:a16="http://schemas.microsoft.com/office/drawing/2014/main" val="10000"/>
                  </a:ext>
                </a:extLst>
              </a:tr>
              <a:tr h="301752">
                <a:tc>
                  <a:txBody>
                    <a:bodyPr/>
                    <a:lstStyle/>
                    <a:p>
                      <a:r>
                        <a:rPr sz="950" b="1">
                          <a:solidFill>
                            <a:srgbClr val="202124"/>
                          </a:solidFill>
                          <a:latin typeface="Arial"/>
                        </a:rPr>
                        <a:t>Statement arithmetic</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FFFFF"/>
                    </a:solidFill>
                  </a:tcPr>
                </a:tc>
                <a:tc>
                  <a:txBody>
                    <a:bodyPr/>
                    <a:lstStyle/>
                    <a:p>
                      <a:r>
                        <a:rPr sz="950" b="0">
                          <a:solidFill>
                            <a:srgbClr val="202124"/>
                          </a:solidFill>
                          <a:latin typeface="Arial"/>
                        </a:rPr>
                        <a:t>Spot-checked by eye</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FFFFF"/>
                    </a:solidFill>
                  </a:tcPr>
                </a:tc>
                <a:tc>
                  <a:txBody>
                    <a:bodyPr/>
                    <a:lstStyle/>
                    <a:p>
                      <a:r>
                        <a:rPr sz="950" b="0">
                          <a:solidFill>
                            <a:srgbClr val="202124"/>
                          </a:solidFill>
                          <a:latin typeface="Arial"/>
                        </a:rPr>
                        <a:t>Every row and page: balance, carry-over, totals</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FFFFF"/>
                    </a:solidFill>
                  </a:tcPr>
                </a:tc>
                <a:extLst>
                  <a:ext uri="{0D108BD9-81ED-4DB2-BD59-A6C34878D82A}">
                    <a16:rowId xmlns:a16="http://schemas.microsoft.com/office/drawing/2014/main" val="10001"/>
                  </a:ext>
                </a:extLst>
              </a:tr>
              <a:tr h="301752">
                <a:tc>
                  <a:txBody>
                    <a:bodyPr/>
                    <a:lstStyle/>
                    <a:p>
                      <a:r>
                        <a:rPr sz="950" b="1">
                          <a:solidFill>
                            <a:srgbClr val="202124"/>
                          </a:solidFill>
                          <a:latin typeface="Arial"/>
                        </a:rPr>
                        <a:t>Statement vs bank</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8F9FA"/>
                    </a:solidFill>
                  </a:tcPr>
                </a:tc>
                <a:tc>
                  <a:txBody>
                    <a:bodyPr/>
                    <a:lstStyle/>
                    <a:p>
                      <a:r>
                        <a:rPr sz="950" b="0">
                          <a:solidFill>
                            <a:srgbClr val="202124"/>
                          </a:solidFill>
                          <a:latin typeface="Arial"/>
                        </a:rPr>
                        <a:t>Ask for a bank-certified copy</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8F9FA"/>
                    </a:solidFill>
                  </a:tcPr>
                </a:tc>
                <a:tc>
                  <a:txBody>
                    <a:bodyPr/>
                    <a:lstStyle/>
                    <a:p>
                      <a:r>
                        <a:rPr sz="950" b="0">
                          <a:solidFill>
                            <a:srgbClr val="202124"/>
                          </a:solidFill>
                          <a:latin typeface="Arial"/>
                        </a:rPr>
                        <a:t>Automatic when Account Aggregator is linked</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8F9FA"/>
                    </a:solidFill>
                  </a:tcPr>
                </a:tc>
                <a:extLst>
                  <a:ext uri="{0D108BD9-81ED-4DB2-BD59-A6C34878D82A}">
                    <a16:rowId xmlns:a16="http://schemas.microsoft.com/office/drawing/2014/main" val="10002"/>
                  </a:ext>
                </a:extLst>
              </a:tr>
              <a:tr h="301752">
                <a:tc>
                  <a:txBody>
                    <a:bodyPr/>
                    <a:lstStyle/>
                    <a:p>
                      <a:r>
                        <a:rPr sz="950" b="1">
                          <a:solidFill>
                            <a:srgbClr val="202124"/>
                          </a:solidFill>
                          <a:latin typeface="Arial"/>
                        </a:rPr>
                        <a:t>Edited files</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FFFFF"/>
                    </a:solidFill>
                  </a:tcPr>
                </a:tc>
                <a:tc>
                  <a:txBody>
                    <a:bodyPr/>
                    <a:lstStyle/>
                    <a:p>
                      <a:r>
                        <a:rPr sz="950" b="0">
                          <a:solidFill>
                            <a:srgbClr val="202124"/>
                          </a:solidFill>
                          <a:latin typeface="Arial"/>
                        </a:rPr>
                        <a:t>Rarely examined</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FFFFF"/>
                    </a:solidFill>
                  </a:tcPr>
                </a:tc>
                <a:tc>
                  <a:txBody>
                    <a:bodyPr/>
                    <a:lstStyle/>
                    <a:p>
                      <a:r>
                        <a:rPr sz="950" b="0">
                          <a:solidFill>
                            <a:srgbClr val="202124"/>
                          </a:solidFill>
                          <a:latin typeface="Arial"/>
                        </a:rPr>
                        <a:t>Producer, creator and edit dates read on upload</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FFFFF"/>
                    </a:solidFill>
                  </a:tcPr>
                </a:tc>
                <a:extLst>
                  <a:ext uri="{0D108BD9-81ED-4DB2-BD59-A6C34878D82A}">
                    <a16:rowId xmlns:a16="http://schemas.microsoft.com/office/drawing/2014/main" val="10003"/>
                  </a:ext>
                </a:extLst>
              </a:tr>
              <a:tr h="301752">
                <a:tc>
                  <a:txBody>
                    <a:bodyPr/>
                    <a:lstStyle/>
                    <a:p>
                      <a:r>
                        <a:rPr sz="950" b="1">
                          <a:solidFill>
                            <a:srgbClr val="202124"/>
                          </a:solidFill>
                          <a:latin typeface="Arial"/>
                        </a:rPr>
                        <a:t>Links across customers</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8F9FA"/>
                    </a:solidFill>
                  </a:tcPr>
                </a:tc>
                <a:tc>
                  <a:txBody>
                    <a:bodyPr/>
                    <a:lstStyle/>
                    <a:p>
                      <a:r>
                        <a:rPr sz="950" b="0">
                          <a:solidFill>
                            <a:srgbClr val="202124"/>
                          </a:solidFill>
                          <a:latin typeface="Arial"/>
                        </a:rPr>
                        <a:t>One customer at a time</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8F9FA"/>
                    </a:solidFill>
                  </a:tcPr>
                </a:tc>
                <a:tc>
                  <a:txBody>
                    <a:bodyPr/>
                    <a:lstStyle/>
                    <a:p>
                      <a:r>
                        <a:rPr sz="950" b="0">
                          <a:solidFill>
                            <a:srgbClr val="202124"/>
                          </a:solidFill>
                          <a:latin typeface="Arial"/>
                        </a:rPr>
                        <a:t>Shared file, account, director or contacts; GST loops</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8F9FA"/>
                    </a:solidFill>
                  </a:tcPr>
                </a:tc>
                <a:extLst>
                  <a:ext uri="{0D108BD9-81ED-4DB2-BD59-A6C34878D82A}">
                    <a16:rowId xmlns:a16="http://schemas.microsoft.com/office/drawing/2014/main" val="10004"/>
                  </a:ext>
                </a:extLst>
              </a:tr>
              <a:tr h="301752">
                <a:tc>
                  <a:txBody>
                    <a:bodyPr/>
                    <a:lstStyle/>
                    <a:p>
                      <a:r>
                        <a:rPr sz="950" b="1">
                          <a:solidFill>
                            <a:srgbClr val="202124"/>
                          </a:solidFill>
                          <a:latin typeface="Arial"/>
                        </a:rPr>
                        <a:t>Credit decision</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FFFFF"/>
                    </a:solidFill>
                  </a:tcPr>
                </a:tc>
                <a:tc>
                  <a:txBody>
                    <a:bodyPr/>
                    <a:lstStyle/>
                    <a:p>
                      <a:r>
                        <a:rPr sz="950" b="0">
                          <a:solidFill>
                            <a:srgbClr val="202124"/>
                          </a:solidFill>
                          <a:latin typeface="Arial"/>
                        </a:rPr>
                        <a:t>FOIR worked out by hand</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FFFFF"/>
                    </a:solidFill>
                  </a:tcPr>
                </a:tc>
                <a:tc>
                  <a:txBody>
                    <a:bodyPr/>
                    <a:lstStyle/>
                    <a:p>
                      <a:r>
                        <a:rPr sz="950" b="0">
                          <a:solidFill>
                            <a:srgbClr val="202124"/>
                          </a:solidFill>
                          <a:latin typeface="Arial"/>
                        </a:rPr>
                        <a:t>Capacity computed in code; every AI figure traced</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FFFFF"/>
                    </a:solidFill>
                  </a:tcPr>
                </a:tc>
                <a:extLst>
                  <a:ext uri="{0D108BD9-81ED-4DB2-BD59-A6C34878D82A}">
                    <a16:rowId xmlns:a16="http://schemas.microsoft.com/office/drawing/2014/main" val="10005"/>
                  </a:ext>
                </a:extLst>
              </a:tr>
              <a:tr h="301752">
                <a:tc>
                  <a:txBody>
                    <a:bodyPr/>
                    <a:lstStyle/>
                    <a:p>
                      <a:r>
                        <a:rPr sz="950" b="1">
                          <a:solidFill>
                            <a:srgbClr val="202124"/>
                          </a:solidFill>
                          <a:latin typeface="Arial"/>
                        </a:rPr>
                        <a:t>Speed</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8F9FA"/>
                    </a:solidFill>
                  </a:tcPr>
                </a:tc>
                <a:tc>
                  <a:txBody>
                    <a:bodyPr/>
                    <a:lstStyle/>
                    <a:p>
                      <a:r>
                        <a:rPr sz="950" b="0">
                          <a:solidFill>
                            <a:srgbClr val="202124"/>
                          </a:solidFill>
                          <a:latin typeface="Arial"/>
                        </a:rPr>
                        <a:t>Analyst time per file</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8F9FA"/>
                    </a:solidFill>
                  </a:tcPr>
                </a:tc>
                <a:tc>
                  <a:txBody>
                    <a:bodyPr/>
                    <a:lstStyle/>
                    <a:p>
                      <a:r>
                        <a:rPr sz="950" b="0">
                          <a:solidFill>
                            <a:srgbClr val="202124"/>
                          </a:solidFill>
                          <a:latin typeface="Arial"/>
                        </a:rPr>
                        <a:t>10–60 s per statement · 12–43 s per investigation</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8F9FA"/>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51" name="Google Shape;151;p25"/>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sp>
        <p:nvSpPr>
          <p:cNvPr id="152" name="fut_0"/>
          <p:cNvSpPr/>
          <p:nvPr/>
        </p:nvSpPr>
        <p:spPr>
          <a:xfrm>
            <a:off x="320040" y="1188720"/>
            <a:ext cx="4206240" cy="178308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3" name="fut_0_circle"/>
          <p:cNvSpPr/>
          <p:nvPr/>
        </p:nvSpPr>
        <p:spPr>
          <a:xfrm>
            <a:off x="457200" y="1325880"/>
            <a:ext cx="384048" cy="384048"/>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4" name="fut_0_icon" descr="finger_w.png"/>
          <p:cNvPicPr>
            <a:picLocks noChangeAspect="1"/>
          </p:cNvPicPr>
          <p:nvPr/>
        </p:nvPicPr>
        <p:blipFill>
          <a:blip r:embed="rId5"/>
          <a:stretch>
            <a:fillRect/>
          </a:stretch>
        </p:blipFill>
        <p:spPr>
          <a:xfrm>
            <a:off x="541690" y="1410370"/>
            <a:ext cx="215066" cy="215066"/>
          </a:xfrm>
          <a:prstGeom prst="rect">
            <a:avLst/>
          </a:prstGeom>
        </p:spPr>
      </p:pic>
      <p:sp>
        <p:nvSpPr>
          <p:cNvPr id="155" name="TextBox 154"/>
          <p:cNvSpPr txBox="1"/>
          <p:nvPr/>
        </p:nvSpPr>
        <p:spPr>
          <a:xfrm>
            <a:off x="941832" y="1325880"/>
            <a:ext cx="3474720" cy="384048"/>
          </a:xfrm>
          <a:prstGeom prst="rect">
            <a:avLst/>
          </a:prstGeom>
          <a:noFill/>
        </p:spPr>
        <p:txBody>
          <a:bodyPr wrap="square" lIns="0" tIns="0" rIns="0" bIns="0" anchor="ctr">
            <a:noAutofit/>
          </a:bodyPr>
          <a:lstStyle/>
          <a:p>
            <a:pPr algn="l">
              <a:spcBef>
                <a:spcPts val="0"/>
              </a:spcBef>
              <a:spcAft>
                <a:spcPts val="300"/>
              </a:spcAft>
            </a:pPr>
            <a:r>
              <a:rPr sz="1200" b="1" i="0">
                <a:solidFill>
                  <a:srgbClr val="202124"/>
                </a:solidFill>
                <a:latin typeface="Arial"/>
              </a:rPr>
              <a:t>Registry cross-checks</a:t>
            </a:r>
          </a:p>
        </p:txBody>
      </p:sp>
      <p:sp>
        <p:nvSpPr>
          <p:cNvPr id="156" name="TextBox 155"/>
          <p:cNvSpPr txBox="1"/>
          <p:nvPr/>
        </p:nvSpPr>
        <p:spPr>
          <a:xfrm>
            <a:off x="457200" y="1792224"/>
            <a:ext cx="3931920" cy="1088136"/>
          </a:xfrm>
          <a:prstGeom prst="rect">
            <a:avLst/>
          </a:prstGeom>
          <a:noFill/>
        </p:spPr>
        <p:txBody>
          <a:bodyPr wrap="square" lIns="0" tIns="0" rIns="0" bIns="0" anchor="t">
            <a:noAutofit/>
          </a:bodyPr>
          <a:lstStyle/>
          <a:p>
            <a:pPr marL="146304" indent="-146304" algn="l">
              <a:spcBef>
                <a:spcPts val="0"/>
              </a:spcBef>
              <a:spcAft>
                <a:spcPts val="300"/>
              </a:spcAft>
              <a:buFont typeface="Arial"/>
              <a:buChar char="•"/>
            </a:pPr>
            <a:r>
              <a:rPr sz="1150" b="0" i="0">
                <a:solidFill>
                  <a:srgbClr val="202124"/>
                </a:solidFill>
                <a:latin typeface="Arial"/>
              </a:rPr>
              <a:t>GST, ITR and bank turnover reconciled</a:t>
            </a:r>
          </a:p>
          <a:p>
            <a:pPr marL="146304" indent="-146304" algn="l">
              <a:spcBef>
                <a:spcPts val="0"/>
              </a:spcBef>
              <a:spcAft>
                <a:spcPts val="300"/>
              </a:spcAft>
              <a:buFont typeface="Arial"/>
              <a:buChar char="•"/>
            </a:pPr>
            <a:r>
              <a:rPr sz="1150" b="0" i="0">
                <a:solidFill>
                  <a:srgbClr val="202124"/>
                </a:solidFill>
                <a:latin typeface="Arial"/>
              </a:rPr>
              <a:t>Name, PAN and address across every source</a:t>
            </a:r>
          </a:p>
          <a:p>
            <a:pPr marL="146304" indent="-146304" algn="l">
              <a:spcBef>
                <a:spcPts val="0"/>
              </a:spcBef>
              <a:spcAft>
                <a:spcPts val="300"/>
              </a:spcAft>
              <a:buFont typeface="Arial"/>
              <a:buChar char="•"/>
            </a:pPr>
            <a:r>
              <a:rPr sz="1150" b="0" i="0">
                <a:solidFill>
                  <a:srgbClr val="202124"/>
                </a:solidFill>
                <a:latin typeface="Arial"/>
              </a:rPr>
              <a:t>Password-protected and scanned statements</a:t>
            </a:r>
          </a:p>
        </p:txBody>
      </p:sp>
      <p:sp>
        <p:nvSpPr>
          <p:cNvPr id="157" name="fut_1"/>
          <p:cNvSpPr/>
          <p:nvPr/>
        </p:nvSpPr>
        <p:spPr>
          <a:xfrm>
            <a:off x="4617720" y="1188720"/>
            <a:ext cx="4206240" cy="178308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8" name="fut_1_circle"/>
          <p:cNvSpPr/>
          <p:nvPr/>
        </p:nvSpPr>
        <p:spPr>
          <a:xfrm>
            <a:off x="4754880" y="1325880"/>
            <a:ext cx="384048" cy="384048"/>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9" name="fut_1_icon" descr="search_w.png"/>
          <p:cNvPicPr>
            <a:picLocks noChangeAspect="1"/>
          </p:cNvPicPr>
          <p:nvPr/>
        </p:nvPicPr>
        <p:blipFill>
          <a:blip r:embed="rId6"/>
          <a:stretch>
            <a:fillRect/>
          </a:stretch>
        </p:blipFill>
        <p:spPr>
          <a:xfrm>
            <a:off x="4839370" y="1410370"/>
            <a:ext cx="215066" cy="215066"/>
          </a:xfrm>
          <a:prstGeom prst="rect">
            <a:avLst/>
          </a:prstGeom>
        </p:spPr>
      </p:pic>
      <p:sp>
        <p:nvSpPr>
          <p:cNvPr id="160" name="TextBox 159"/>
          <p:cNvSpPr txBox="1"/>
          <p:nvPr/>
        </p:nvSpPr>
        <p:spPr>
          <a:xfrm>
            <a:off x="5239512" y="1325880"/>
            <a:ext cx="3474720" cy="384048"/>
          </a:xfrm>
          <a:prstGeom prst="rect">
            <a:avLst/>
          </a:prstGeom>
          <a:noFill/>
        </p:spPr>
        <p:txBody>
          <a:bodyPr wrap="square" lIns="0" tIns="0" rIns="0" bIns="0" anchor="ctr">
            <a:noAutofit/>
          </a:bodyPr>
          <a:lstStyle/>
          <a:p>
            <a:pPr algn="l">
              <a:spcBef>
                <a:spcPts val="0"/>
              </a:spcBef>
              <a:spcAft>
                <a:spcPts val="300"/>
              </a:spcAft>
            </a:pPr>
            <a:r>
              <a:rPr sz="1200" b="1" i="0">
                <a:solidFill>
                  <a:srgbClr val="202124"/>
                </a:solidFill>
                <a:latin typeface="Arial"/>
              </a:rPr>
              <a:t>Evidence highlighting</a:t>
            </a:r>
          </a:p>
        </p:txBody>
      </p:sp>
      <p:sp>
        <p:nvSpPr>
          <p:cNvPr id="161" name="TextBox 160"/>
          <p:cNvSpPr txBox="1"/>
          <p:nvPr/>
        </p:nvSpPr>
        <p:spPr>
          <a:xfrm>
            <a:off x="4754880" y="1792224"/>
            <a:ext cx="3931920" cy="1088136"/>
          </a:xfrm>
          <a:prstGeom prst="rect">
            <a:avLst/>
          </a:prstGeom>
          <a:noFill/>
        </p:spPr>
        <p:txBody>
          <a:bodyPr wrap="square" lIns="0" tIns="0" rIns="0" bIns="0" anchor="t">
            <a:noAutofit/>
          </a:bodyPr>
          <a:lstStyle/>
          <a:p>
            <a:pPr marL="146304" indent="-146304" algn="l">
              <a:spcBef>
                <a:spcPts val="0"/>
              </a:spcBef>
              <a:spcAft>
                <a:spcPts val="300"/>
              </a:spcAft>
              <a:buFont typeface="Arial"/>
              <a:buChar char="•"/>
            </a:pPr>
            <a:r>
              <a:rPr sz="1150" b="0" i="0">
                <a:solidFill>
                  <a:srgbClr val="202124"/>
                </a:solidFill>
                <a:latin typeface="Arial"/>
              </a:rPr>
              <a:t>Highlight the exact row on the PDF page</a:t>
            </a:r>
          </a:p>
          <a:p>
            <a:pPr marL="146304" indent="-146304" algn="l">
              <a:spcBef>
                <a:spcPts val="0"/>
              </a:spcBef>
              <a:spcAft>
                <a:spcPts val="300"/>
              </a:spcAft>
              <a:buFont typeface="Arial"/>
              <a:buChar char="•"/>
            </a:pPr>
            <a:r>
              <a:rPr sz="1150" b="0" i="0">
                <a:solidFill>
                  <a:srgbClr val="202124"/>
                </a:solidFill>
                <a:latin typeface="Arial"/>
              </a:rPr>
              <a:t>Bounding boxes already in the extraction contract</a:t>
            </a:r>
          </a:p>
          <a:p>
            <a:pPr marL="146304" indent="-146304" algn="l">
              <a:spcBef>
                <a:spcPts val="0"/>
              </a:spcBef>
              <a:spcAft>
                <a:spcPts val="300"/>
              </a:spcAft>
              <a:buFont typeface="Arial"/>
              <a:buChar char="•"/>
            </a:pPr>
            <a:r>
              <a:rPr sz="1150" b="0" i="0">
                <a:solidFill>
                  <a:srgbClr val="202124"/>
                </a:solidFill>
                <a:latin typeface="Arial"/>
              </a:rPr>
              <a:t>Side-by-side PDF and bank record view</a:t>
            </a:r>
          </a:p>
        </p:txBody>
      </p:sp>
      <p:sp>
        <p:nvSpPr>
          <p:cNvPr id="162" name="fut_2"/>
          <p:cNvSpPr/>
          <p:nvPr/>
        </p:nvSpPr>
        <p:spPr>
          <a:xfrm>
            <a:off x="320040" y="3081528"/>
            <a:ext cx="4206240" cy="178308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3" name="fut_2_circle"/>
          <p:cNvSpPr/>
          <p:nvPr/>
        </p:nvSpPr>
        <p:spPr>
          <a:xfrm>
            <a:off x="457200" y="3218688"/>
            <a:ext cx="384048" cy="384048"/>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64" name="fut_2_icon" descr="book_w.png"/>
          <p:cNvPicPr>
            <a:picLocks noChangeAspect="1"/>
          </p:cNvPicPr>
          <p:nvPr/>
        </p:nvPicPr>
        <p:blipFill>
          <a:blip r:embed="rId7"/>
          <a:stretch>
            <a:fillRect/>
          </a:stretch>
        </p:blipFill>
        <p:spPr>
          <a:xfrm>
            <a:off x="541690" y="3303178"/>
            <a:ext cx="215066" cy="215066"/>
          </a:xfrm>
          <a:prstGeom prst="rect">
            <a:avLst/>
          </a:prstGeom>
        </p:spPr>
      </p:pic>
      <p:sp>
        <p:nvSpPr>
          <p:cNvPr id="165" name="TextBox 164"/>
          <p:cNvSpPr txBox="1"/>
          <p:nvPr/>
        </p:nvSpPr>
        <p:spPr>
          <a:xfrm>
            <a:off x="941832" y="3218688"/>
            <a:ext cx="3474720" cy="384048"/>
          </a:xfrm>
          <a:prstGeom prst="rect">
            <a:avLst/>
          </a:prstGeom>
          <a:noFill/>
        </p:spPr>
        <p:txBody>
          <a:bodyPr wrap="square" lIns="0" tIns="0" rIns="0" bIns="0" anchor="ctr">
            <a:noAutofit/>
          </a:bodyPr>
          <a:lstStyle/>
          <a:p>
            <a:pPr algn="l">
              <a:spcBef>
                <a:spcPts val="0"/>
              </a:spcBef>
              <a:spcAft>
                <a:spcPts val="300"/>
              </a:spcAft>
            </a:pPr>
            <a:r>
              <a:rPr sz="1200" b="1" i="0">
                <a:solidFill>
                  <a:srgbClr val="202124"/>
                </a:solidFill>
                <a:latin typeface="Arial"/>
              </a:rPr>
              <a:t>Case memory and policy Q&amp;A</a:t>
            </a:r>
          </a:p>
        </p:txBody>
      </p:sp>
      <p:sp>
        <p:nvSpPr>
          <p:cNvPr id="166" name="TextBox 165"/>
          <p:cNvSpPr txBox="1"/>
          <p:nvPr/>
        </p:nvSpPr>
        <p:spPr>
          <a:xfrm>
            <a:off x="457200" y="3685032"/>
            <a:ext cx="3931920" cy="1088136"/>
          </a:xfrm>
          <a:prstGeom prst="rect">
            <a:avLst/>
          </a:prstGeom>
          <a:noFill/>
        </p:spPr>
        <p:txBody>
          <a:bodyPr wrap="square" lIns="0" tIns="0" rIns="0" bIns="0" anchor="t">
            <a:noAutofit/>
          </a:bodyPr>
          <a:lstStyle/>
          <a:p>
            <a:pPr marL="146304" indent="-146304" algn="l">
              <a:spcBef>
                <a:spcPts val="0"/>
              </a:spcBef>
              <a:spcAft>
                <a:spcPts val="300"/>
              </a:spcAft>
              <a:buFont typeface="Arial"/>
              <a:buChar char="•"/>
            </a:pPr>
            <a:r>
              <a:rPr sz="1150" b="0" i="0">
                <a:solidFill>
                  <a:srgbClr val="202124"/>
                </a:solidFill>
                <a:latin typeface="Arial"/>
              </a:rPr>
              <a:t>Confirmed findings feed the knowledge base</a:t>
            </a:r>
          </a:p>
          <a:p>
            <a:pPr marL="146304" indent="-146304" algn="l">
              <a:spcBef>
                <a:spcPts val="0"/>
              </a:spcBef>
              <a:spcAft>
                <a:spcPts val="300"/>
              </a:spcAft>
              <a:buFont typeface="Arial"/>
              <a:buChar char="•"/>
            </a:pPr>
            <a:r>
              <a:rPr sz="1150" b="0" i="0">
                <a:solidFill>
                  <a:srgbClr val="202124"/>
                </a:solidFill>
                <a:latin typeface="Arial"/>
              </a:rPr>
              <a:t>Policy questions answered with citations</a:t>
            </a:r>
          </a:p>
          <a:p>
            <a:pPr marL="146304" indent="-146304" algn="l">
              <a:spcBef>
                <a:spcPts val="0"/>
              </a:spcBef>
              <a:spcAft>
                <a:spcPts val="300"/>
              </a:spcAft>
              <a:buFont typeface="Arial"/>
              <a:buChar char="•"/>
            </a:pPr>
            <a:r>
              <a:rPr sz="1150" b="0" i="0">
                <a:solidFill>
                  <a:srgbClr val="202124"/>
                </a:solidFill>
                <a:latin typeface="Arial"/>
              </a:rPr>
              <a:t>Refusal when the policy is silent</a:t>
            </a:r>
          </a:p>
        </p:txBody>
      </p:sp>
      <p:sp>
        <p:nvSpPr>
          <p:cNvPr id="167" name="fut_3"/>
          <p:cNvSpPr/>
          <p:nvPr/>
        </p:nvSpPr>
        <p:spPr>
          <a:xfrm>
            <a:off x="4617720" y="3081528"/>
            <a:ext cx="4206240" cy="178308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8" name="fut_3_circle"/>
          <p:cNvSpPr/>
          <p:nvPr/>
        </p:nvSpPr>
        <p:spPr>
          <a:xfrm>
            <a:off x="4754880" y="3218688"/>
            <a:ext cx="384048" cy="384048"/>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69" name="fut_3_icon" descr="layers_w.png"/>
          <p:cNvPicPr>
            <a:picLocks noChangeAspect="1"/>
          </p:cNvPicPr>
          <p:nvPr/>
        </p:nvPicPr>
        <p:blipFill>
          <a:blip r:embed="rId8"/>
          <a:stretch>
            <a:fillRect/>
          </a:stretch>
        </p:blipFill>
        <p:spPr>
          <a:xfrm>
            <a:off x="4839370" y="3303178"/>
            <a:ext cx="215066" cy="215066"/>
          </a:xfrm>
          <a:prstGeom prst="rect">
            <a:avLst/>
          </a:prstGeom>
        </p:spPr>
      </p:pic>
      <p:sp>
        <p:nvSpPr>
          <p:cNvPr id="170" name="TextBox 169"/>
          <p:cNvSpPr txBox="1"/>
          <p:nvPr/>
        </p:nvSpPr>
        <p:spPr>
          <a:xfrm>
            <a:off x="5239512" y="3218688"/>
            <a:ext cx="3474720" cy="384048"/>
          </a:xfrm>
          <a:prstGeom prst="rect">
            <a:avLst/>
          </a:prstGeom>
          <a:noFill/>
        </p:spPr>
        <p:txBody>
          <a:bodyPr wrap="square" lIns="0" tIns="0" rIns="0" bIns="0" anchor="ctr">
            <a:noAutofit/>
          </a:bodyPr>
          <a:lstStyle/>
          <a:p>
            <a:pPr algn="l">
              <a:spcBef>
                <a:spcPts val="0"/>
              </a:spcBef>
              <a:spcAft>
                <a:spcPts val="300"/>
              </a:spcAft>
            </a:pPr>
            <a:r>
              <a:rPr sz="1200" b="1" i="0">
                <a:solidFill>
                  <a:srgbClr val="202124"/>
                </a:solidFill>
                <a:latin typeface="Arial"/>
              </a:rPr>
              <a:t>Scale and integration</a:t>
            </a:r>
          </a:p>
        </p:txBody>
      </p:sp>
      <p:sp>
        <p:nvSpPr>
          <p:cNvPr id="171" name="TextBox 170"/>
          <p:cNvSpPr txBox="1"/>
          <p:nvPr/>
        </p:nvSpPr>
        <p:spPr>
          <a:xfrm>
            <a:off x="4754880" y="3685032"/>
            <a:ext cx="3931920" cy="1088136"/>
          </a:xfrm>
          <a:prstGeom prst="rect">
            <a:avLst/>
          </a:prstGeom>
          <a:noFill/>
        </p:spPr>
        <p:txBody>
          <a:bodyPr wrap="square" lIns="0" tIns="0" rIns="0" bIns="0" anchor="t">
            <a:noAutofit/>
          </a:bodyPr>
          <a:lstStyle/>
          <a:p>
            <a:pPr marL="146304" indent="-146304" algn="l">
              <a:spcBef>
                <a:spcPts val="0"/>
              </a:spcBef>
              <a:spcAft>
                <a:spcPts val="300"/>
              </a:spcAft>
              <a:buFont typeface="Arial"/>
              <a:buChar char="•"/>
            </a:pPr>
            <a:r>
              <a:rPr sz="1150" b="0" i="0">
                <a:solidFill>
                  <a:srgbClr val="202124"/>
                </a:solidFill>
                <a:latin typeface="Arial"/>
              </a:rPr>
              <a:t>Entity link tables for portfolio-scale customer links</a:t>
            </a:r>
          </a:p>
          <a:p>
            <a:pPr marL="146304" indent="-146304" algn="l">
              <a:spcBef>
                <a:spcPts val="0"/>
              </a:spcBef>
              <a:spcAft>
                <a:spcPts val="300"/>
              </a:spcAft>
              <a:buFont typeface="Arial"/>
              <a:buChar char="•"/>
            </a:pPr>
            <a:r>
              <a:rPr sz="1150" b="0" i="0">
                <a:solidFill>
                  <a:srgbClr val="202124"/>
                </a:solidFill>
                <a:latin typeface="Arial"/>
              </a:rPr>
              <a:t>Live GST, ITR, MCA and OFAC/AML screening via licensed providers</a:t>
            </a:r>
          </a:p>
          <a:p>
            <a:pPr marL="146304" indent="-146304" algn="l">
              <a:spcBef>
                <a:spcPts val="0"/>
              </a:spcBef>
              <a:spcAft>
                <a:spcPts val="300"/>
              </a:spcAft>
              <a:buFont typeface="Arial"/>
              <a:buChar char="•"/>
            </a:pPr>
            <a:r>
              <a:rPr sz="1150" b="0" i="0">
                <a:solidFill>
                  <a:srgbClr val="202124"/>
                </a:solidFill>
                <a:latin typeface="Arial"/>
              </a:rPr>
              <a:t>Per-lender policies and thresholds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59" name="Google Shape;159;p26"/>
          <p:cNvSpPr txBox="1"/>
          <p:nvPr/>
        </p:nvSpPr>
        <p:spPr>
          <a:xfrm>
            <a:off x="265350" y="663825"/>
            <a:ext cx="8943000" cy="146304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dirty="0">
                <a:latin typeface="Google Sans Flex Medium"/>
                <a:ea typeface="Google Sans Flex Medium"/>
                <a:cs typeface="Google Sans Flex Medium"/>
                <a:sym typeface="Google Sans Flex Medium"/>
              </a:rPr>
              <a:t>Provide links to your:</a:t>
            </a:r>
            <a:endParaRPr sz="1600" dirty="0">
              <a:latin typeface="Google Sans Flex Medium"/>
              <a:ea typeface="Google Sans Flex Medium"/>
              <a:cs typeface="Google Sans Flex Medium"/>
              <a:sym typeface="Google Sans Flex Medium"/>
            </a:endParaRPr>
          </a:p>
          <a:p>
            <a:pPr marL="0" lvl="0" indent="0" algn="l" rtl="0">
              <a:spcBef>
                <a:spcPts val="0"/>
              </a:spcBef>
              <a:spcAft>
                <a:spcPts val="0"/>
              </a:spcAft>
              <a:buNone/>
            </a:pPr>
            <a:endParaRPr sz="1600" dirty="0">
              <a:latin typeface="Google Sans Flex Medium"/>
              <a:ea typeface="Google Sans Flex Medium"/>
              <a:cs typeface="Google Sans Flex Medium"/>
              <a:sym typeface="Google Sans Flex Medium"/>
            </a:endParaRPr>
          </a:p>
          <a:p>
            <a:pPr marL="457200" lvl="0" indent="-317500" algn="l" rtl="0">
              <a:spcBef>
                <a:spcPts val="0"/>
              </a:spcBef>
              <a:spcAft>
                <a:spcPts val="0"/>
              </a:spcAft>
              <a:buSzPts val="1400"/>
              <a:buFont typeface="Google Sans Flex Medium"/>
              <a:buChar char="●"/>
            </a:pPr>
            <a:r>
              <a:rPr lang="en-GB" dirty="0">
                <a:latin typeface="Google Sans Flex Medium"/>
                <a:ea typeface="Google Sans Flex Medium"/>
                <a:cs typeface="Google Sans Flex Medium"/>
                <a:sym typeface="Google Sans Flex Medium"/>
              </a:rPr>
              <a:t>GitHub Public Repository: </a:t>
            </a:r>
            <a:r>
              <a:rPr dirty="0">
                <a:hlinkClick r:id="rId5"/>
              </a:rPr>
              <a:t>https://github.com/abhinavmukwane/FinRiskLensAI-RAG-V2</a:t>
            </a:r>
            <a:endParaRPr dirty="0">
              <a:latin typeface="Google Sans Flex Medium"/>
              <a:ea typeface="Google Sans Flex Medium"/>
              <a:cs typeface="Google Sans Flex Medium"/>
              <a:sym typeface="Google Sans Flex Medium"/>
            </a:endParaRPr>
          </a:p>
          <a:p>
            <a:pPr marL="457200" indent="-317500">
              <a:buSzPts val="1400"/>
              <a:buFont typeface="Google Sans Flex Medium"/>
              <a:buChar char="●"/>
            </a:pPr>
            <a:r>
              <a:rPr lang="en-GB" dirty="0">
                <a:latin typeface="Google Sans Flex Medium"/>
                <a:ea typeface="Google Sans Flex Medium"/>
                <a:cs typeface="Google Sans Flex Medium"/>
                <a:sym typeface="Google Sans Flex Medium"/>
              </a:rPr>
              <a:t>Demo Video Link (3 Minutes): </a:t>
            </a:r>
            <a:r>
              <a:rPr lang="en-IN" dirty="0">
                <a:hlinkClick r:id="rId6"/>
              </a:rPr>
              <a:t>https://video-ai-builder-cup.finrisklensai.com</a:t>
            </a:r>
            <a:endParaRPr dirty="0">
              <a:sym typeface="Google Sans Flex Medium"/>
            </a:endParaRPr>
          </a:p>
          <a:p>
            <a:pPr marL="457200" lvl="0" indent="-317500" algn="l" rtl="0">
              <a:spcBef>
                <a:spcPts val="0"/>
              </a:spcBef>
              <a:spcAft>
                <a:spcPts val="0"/>
              </a:spcAft>
              <a:buSzPts val="1400"/>
              <a:buFont typeface="Google Sans Flex Medium"/>
              <a:buChar char="●"/>
            </a:pPr>
            <a:r>
              <a:rPr lang="en-GB" dirty="0">
                <a:latin typeface="Google Sans Flex Medium"/>
                <a:ea typeface="Google Sans Flex Medium"/>
                <a:cs typeface="Google Sans Flex Medium"/>
                <a:sym typeface="Google Sans Flex Medium"/>
              </a:rPr>
              <a:t>Final Product Link: </a:t>
            </a:r>
            <a:r>
              <a:rPr dirty="0">
                <a:hlinkClick r:id="rId7"/>
              </a:rPr>
              <a:t>https://finrisklensai.cloud.run</a:t>
            </a:r>
            <a:endParaRPr dirty="0">
              <a:latin typeface="Google Sans Flex Medium"/>
              <a:ea typeface="Google Sans Flex Medium"/>
              <a:cs typeface="Google Sans Flex Medium"/>
              <a:sym typeface="Google Sans Flex Medium"/>
            </a:endParaRPr>
          </a:p>
          <a:p>
            <a:pPr marL="0" lvl="0" indent="0" algn="l" rtl="0">
              <a:spcBef>
                <a:spcPts val="0"/>
              </a:spcBef>
              <a:spcAft>
                <a:spcPts val="0"/>
              </a:spcAft>
              <a:buNone/>
            </a:pPr>
            <a:endParaRPr sz="1600" dirty="0">
              <a:latin typeface="Google Sans Flex Medium"/>
              <a:ea typeface="Google Sans Flex Medium"/>
              <a:cs typeface="Google Sans Flex Medium"/>
              <a:sym typeface="Google Sans Flex Medium"/>
            </a:endParaRPr>
          </a:p>
        </p:txBody>
      </p:sp>
      <p:sp>
        <p:nvSpPr>
          <p:cNvPr id="160" name="access_box"/>
          <p:cNvSpPr/>
          <p:nvPr/>
        </p:nvSpPr>
        <p:spPr>
          <a:xfrm>
            <a:off x="320040" y="2423160"/>
            <a:ext cx="8503920" cy="86868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1" name="access_circle"/>
          <p:cNvSpPr/>
          <p:nvPr/>
        </p:nvSpPr>
        <p:spPr>
          <a:xfrm>
            <a:off x="457200" y="2560320"/>
            <a:ext cx="384048" cy="384048"/>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62" name="access_icon" descr="lock_w.png"/>
          <p:cNvPicPr>
            <a:picLocks noChangeAspect="1"/>
          </p:cNvPicPr>
          <p:nvPr/>
        </p:nvPicPr>
        <p:blipFill>
          <a:blip r:embed="rId8"/>
          <a:stretch>
            <a:fillRect/>
          </a:stretch>
        </p:blipFill>
        <p:spPr>
          <a:xfrm>
            <a:off x="541690" y="2644810"/>
            <a:ext cx="215066" cy="215066"/>
          </a:xfrm>
          <a:prstGeom prst="rect">
            <a:avLst/>
          </a:prstGeom>
        </p:spPr>
      </p:pic>
      <p:sp>
        <p:nvSpPr>
          <p:cNvPr id="163" name="TextBox 162"/>
          <p:cNvSpPr txBox="1"/>
          <p:nvPr/>
        </p:nvSpPr>
        <p:spPr>
          <a:xfrm>
            <a:off x="960119" y="2514600"/>
            <a:ext cx="7726680" cy="914400"/>
          </a:xfrm>
          <a:prstGeom prst="rect">
            <a:avLst/>
          </a:prstGeom>
          <a:noFill/>
        </p:spPr>
        <p:txBody>
          <a:bodyPr wrap="square" lIns="0" tIns="0" rIns="0" bIns="0" anchor="t">
            <a:noAutofit/>
          </a:bodyPr>
          <a:lstStyle/>
          <a:p>
            <a:pPr algn="l">
              <a:spcBef>
                <a:spcPts val="0"/>
              </a:spcBef>
              <a:spcAft>
                <a:spcPts val="300"/>
              </a:spcAft>
            </a:pPr>
            <a:r>
              <a:rPr sz="1200" b="1" i="0" dirty="0">
                <a:solidFill>
                  <a:srgbClr val="202124"/>
                </a:solidFill>
                <a:latin typeface="Arial"/>
              </a:rPr>
              <a:t>For the evaluation panel</a:t>
            </a:r>
          </a:p>
          <a:p>
            <a:pPr algn="l">
              <a:spcBef>
                <a:spcPts val="0"/>
              </a:spcBef>
              <a:spcAft>
                <a:spcPts val="300"/>
              </a:spcAft>
            </a:pPr>
            <a:r>
              <a:rPr sz="1050" b="0" i="0" dirty="0">
                <a:solidFill>
                  <a:srgbClr val="202124"/>
                </a:solidFill>
                <a:latin typeface="Arial"/>
              </a:rPr>
              <a:t>Bank portal: </a:t>
            </a:r>
            <a:r>
              <a:rPr sz="1050" b="1" i="0" dirty="0">
                <a:solidFill>
                  <a:srgbClr val="202124"/>
                </a:solidFill>
                <a:latin typeface="Arial"/>
                <a:hlinkClick r:id="rId9"/>
              </a:rPr>
              <a:t>https://finrisklensai.cloud.run/Auth/BankLogin</a:t>
            </a:r>
            <a:r>
              <a:rPr sz="1050" b="0" i="0" dirty="0">
                <a:solidFill>
                  <a:srgbClr val="202124"/>
                </a:solidFill>
                <a:latin typeface="Arial"/>
              </a:rPr>
              <a:t> — credentials are</a:t>
            </a:r>
            <a:r>
              <a:rPr lang="en-US" sz="1050" b="0" i="0" dirty="0">
                <a:solidFill>
                  <a:srgbClr val="202124"/>
                </a:solidFill>
                <a:latin typeface="Arial"/>
              </a:rPr>
              <a:t> User ID: </a:t>
            </a:r>
            <a:r>
              <a:rPr lang="en-US" sz="1050" b="0" i="0" dirty="0" err="1">
                <a:solidFill>
                  <a:srgbClr val="202124"/>
                </a:solidFill>
                <a:latin typeface="Arial"/>
              </a:rPr>
              <a:t>bankadmin</a:t>
            </a:r>
            <a:r>
              <a:rPr lang="en-US" sz="1050" dirty="0">
                <a:solidFill>
                  <a:srgbClr val="202124"/>
                </a:solidFill>
              </a:rPr>
              <a:t>, Password: Bank@123</a:t>
            </a:r>
            <a:r>
              <a:rPr sz="1050" b="0" i="0" dirty="0">
                <a:solidFill>
                  <a:srgbClr val="202124"/>
                </a:solidFill>
                <a:latin typeface="Arial"/>
              </a:rPr>
              <a:t>.</a:t>
            </a:r>
          </a:p>
          <a:p>
            <a:pPr algn="l">
              <a:spcBef>
                <a:spcPts val="0"/>
              </a:spcBef>
              <a:spcAft>
                <a:spcPts val="300"/>
              </a:spcAft>
            </a:pPr>
            <a:r>
              <a:rPr sz="1050" b="0" i="0" dirty="0">
                <a:solidFill>
                  <a:srgbClr val="5F6368"/>
                </a:solidFill>
                <a:latin typeface="Arial"/>
              </a:rPr>
              <a:t>All demo data is synthetic. GST, ITR and MCA are generated samples; OFAC/AML screening is a demo.</a:t>
            </a:r>
          </a:p>
        </p:txBody>
      </p:sp>
      <p:sp>
        <p:nvSpPr>
          <p:cNvPr id="164" name="repo_box"/>
          <p:cNvSpPr/>
          <p:nvPr/>
        </p:nvSpPr>
        <p:spPr>
          <a:xfrm>
            <a:off x="320040" y="3429000"/>
            <a:ext cx="8503920" cy="105156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5" name="repo_circle"/>
          <p:cNvSpPr/>
          <p:nvPr/>
        </p:nvSpPr>
        <p:spPr>
          <a:xfrm>
            <a:off x="457200" y="3566160"/>
            <a:ext cx="384048" cy="384048"/>
          </a:xfrm>
          <a:prstGeom prst="ellipse">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66" name="repo_icon" descr="github_w.png"/>
          <p:cNvPicPr>
            <a:picLocks noChangeAspect="1"/>
          </p:cNvPicPr>
          <p:nvPr/>
        </p:nvPicPr>
        <p:blipFill>
          <a:blip r:embed="rId10"/>
          <a:stretch>
            <a:fillRect/>
          </a:stretch>
        </p:blipFill>
        <p:spPr>
          <a:xfrm>
            <a:off x="541690" y="3650650"/>
            <a:ext cx="215066" cy="215066"/>
          </a:xfrm>
          <a:prstGeom prst="rect">
            <a:avLst/>
          </a:prstGeom>
        </p:spPr>
      </p:pic>
      <p:sp>
        <p:nvSpPr>
          <p:cNvPr id="167" name="TextBox 166"/>
          <p:cNvSpPr txBox="1"/>
          <p:nvPr/>
        </p:nvSpPr>
        <p:spPr>
          <a:xfrm>
            <a:off x="960119" y="3520440"/>
            <a:ext cx="7726680" cy="914400"/>
          </a:xfrm>
          <a:prstGeom prst="rect">
            <a:avLst/>
          </a:prstGeom>
          <a:noFill/>
        </p:spPr>
        <p:txBody>
          <a:bodyPr wrap="square" lIns="0" tIns="0" rIns="0" bIns="0" anchor="t">
            <a:noAutofit/>
          </a:bodyPr>
          <a:lstStyle/>
          <a:p>
            <a:pPr algn="l">
              <a:spcBef>
                <a:spcPts val="0"/>
              </a:spcBef>
              <a:spcAft>
                <a:spcPts val="300"/>
              </a:spcAft>
            </a:pPr>
            <a:r>
              <a:rPr sz="1200" b="1" i="0">
                <a:solidFill>
                  <a:srgbClr val="202124"/>
                </a:solidFill>
                <a:latin typeface="Arial"/>
              </a:rPr>
              <a:t>In the repository</a:t>
            </a:r>
          </a:p>
          <a:p>
            <a:pPr algn="l">
              <a:spcBef>
                <a:spcPts val="0"/>
              </a:spcBef>
              <a:spcAft>
                <a:spcPts val="300"/>
              </a:spcAft>
            </a:pPr>
            <a:r>
              <a:rPr sz="1050" b="0" i="0">
                <a:solidFill>
                  <a:srgbClr val="202124"/>
                </a:solidFill>
                <a:latin typeface="Arial"/>
              </a:rPr>
              <a:t>README — how it works and every measurement · Doc/12_CUSTOMER_RISK_LENS.md — the customer flow · Doc/ARCHITECTURE.md</a:t>
            </a:r>
          </a:p>
          <a:p>
            <a:pPr algn="l">
              <a:spcBef>
                <a:spcPts val="0"/>
              </a:spcBef>
              <a:spcAft>
                <a:spcPts val="300"/>
              </a:spcAft>
            </a:pPr>
            <a:r>
              <a:rPr sz="1050" b="0" i="0">
                <a:solidFill>
                  <a:srgbClr val="5F6368"/>
                </a:solidFill>
                <a:latin typeface="Arial"/>
              </a:rPr>
              <a:t>Run it yourself: dotnet test (70 tests) · DemoData eval (live extraction scored against ground truth)</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63"/>
        <p:cNvGrpSpPr/>
        <p:nvPr/>
      </p:nvGrpSpPr>
      <p:grpSpPr>
        <a:xfrm>
          <a:off x="0" y="0"/>
          <a:ext cx="0" cy="0"/>
          <a:chOff x="0" y="0"/>
          <a:chExt cx="0" cy="0"/>
        </a:xfrm>
      </p:grpSpPr>
      <p:pic>
        <p:nvPicPr>
          <p:cNvPr id="164" name="Google Shape;164;p27"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65" name="Google Shape;165;p2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66" name="Google Shape;166;p27"/>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67" name="Google Shape;143;p24"/>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Try it on the live site</a:t>
            </a:r>
            <a:endParaRPr sz="1600">
              <a:latin typeface="Google Sans Flex Medium"/>
              <a:ea typeface="Google Sans Flex Medium"/>
              <a:cs typeface="Google Sans Flex Medium"/>
              <a:sym typeface="Google Sans Flex Medium"/>
            </a:endParaRPr>
          </a:p>
        </p:txBody>
      </p:sp>
      <p:sp>
        <p:nvSpPr>
          <p:cNvPr id="168" name="try_customer"/>
          <p:cNvSpPr/>
          <p:nvPr/>
        </p:nvSpPr>
        <p:spPr>
          <a:xfrm>
            <a:off x="320040" y="1188720"/>
            <a:ext cx="4206240" cy="242316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9" name="try_customer_circle"/>
          <p:cNvSpPr/>
          <p:nvPr/>
        </p:nvSpPr>
        <p:spPr>
          <a:xfrm>
            <a:off x="457200" y="1325880"/>
            <a:ext cx="384048" cy="384048"/>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0" name="try_customer_icon" descr="users_w.png"/>
          <p:cNvPicPr>
            <a:picLocks noChangeAspect="1"/>
          </p:cNvPicPr>
          <p:nvPr/>
        </p:nvPicPr>
        <p:blipFill>
          <a:blip r:embed="rId5"/>
          <a:stretch>
            <a:fillRect/>
          </a:stretch>
        </p:blipFill>
        <p:spPr>
          <a:xfrm>
            <a:off x="541690" y="1410370"/>
            <a:ext cx="215066" cy="215066"/>
          </a:xfrm>
          <a:prstGeom prst="rect">
            <a:avLst/>
          </a:prstGeom>
        </p:spPr>
      </p:pic>
      <p:sp>
        <p:nvSpPr>
          <p:cNvPr id="171" name="TextBox 170"/>
          <p:cNvSpPr txBox="1"/>
          <p:nvPr/>
        </p:nvSpPr>
        <p:spPr>
          <a:xfrm>
            <a:off x="941832" y="1325880"/>
            <a:ext cx="3474720" cy="384048"/>
          </a:xfrm>
          <a:prstGeom prst="rect">
            <a:avLst/>
          </a:prstGeom>
          <a:noFill/>
        </p:spPr>
        <p:txBody>
          <a:bodyPr wrap="square" lIns="0" tIns="0" rIns="0" bIns="0" anchor="ctr">
            <a:noAutofit/>
          </a:bodyPr>
          <a:lstStyle/>
          <a:p>
            <a:pPr algn="l">
              <a:spcBef>
                <a:spcPts val="0"/>
              </a:spcBef>
              <a:spcAft>
                <a:spcPts val="300"/>
              </a:spcAft>
            </a:pPr>
            <a:r>
              <a:rPr sz="1200" b="1" i="0">
                <a:solidFill>
                  <a:srgbClr val="202124"/>
                </a:solidFill>
                <a:latin typeface="Arial"/>
              </a:rPr>
              <a:t>As a customer (MSME)</a:t>
            </a:r>
          </a:p>
        </p:txBody>
      </p:sp>
      <p:sp>
        <p:nvSpPr>
          <p:cNvPr id="172" name="TextBox 171"/>
          <p:cNvSpPr txBox="1"/>
          <p:nvPr/>
        </p:nvSpPr>
        <p:spPr>
          <a:xfrm>
            <a:off x="457200" y="1792224"/>
            <a:ext cx="3931920" cy="1728216"/>
          </a:xfrm>
          <a:prstGeom prst="rect">
            <a:avLst/>
          </a:prstGeom>
          <a:noFill/>
        </p:spPr>
        <p:txBody>
          <a:bodyPr wrap="square" lIns="0" tIns="0" rIns="0" bIns="0" anchor="t">
            <a:noAutofit/>
          </a:bodyPr>
          <a:lstStyle/>
          <a:p>
            <a:pPr algn="l">
              <a:spcBef>
                <a:spcPts val="0"/>
              </a:spcBef>
              <a:spcAft>
                <a:spcPts val="500"/>
              </a:spcAft>
            </a:pPr>
            <a:r>
              <a:rPr sz="1050" b="1" i="0">
                <a:solidFill>
                  <a:srgbClr val="7A1230"/>
                </a:solidFill>
                <a:latin typeface="Arial"/>
              </a:rPr>
              <a:t>1  </a:t>
            </a:r>
            <a:r>
              <a:rPr sz="1050" b="0" i="0">
                <a:solidFill>
                  <a:srgbClr val="202124"/>
                </a:solidFill>
                <a:latin typeface="Arial"/>
              </a:rPr>
              <a:t>Start MSME Assessment on the home page: register with the Udyam number, verify by email code</a:t>
            </a:r>
          </a:p>
          <a:p>
            <a:pPr algn="l">
              <a:spcBef>
                <a:spcPts val="0"/>
              </a:spcBef>
              <a:spcAft>
                <a:spcPts val="500"/>
              </a:spcAft>
            </a:pPr>
            <a:r>
              <a:rPr sz="1050" b="1" i="0">
                <a:solidFill>
                  <a:srgbClr val="7A1230"/>
                </a:solidFill>
                <a:latin typeface="Arial"/>
              </a:rPr>
              <a:t>2  </a:t>
            </a:r>
            <a:r>
              <a:rPr sz="1050" b="0" i="0">
                <a:solidFill>
                  <a:srgbClr val="202124"/>
                </a:solidFill>
                <a:latin typeface="Arial"/>
              </a:rPr>
              <a:t>Connect data sources: bank data by Account Aggregator consent; GST, ITR and MCA</a:t>
            </a:r>
          </a:p>
          <a:p>
            <a:pPr algn="l">
              <a:spcBef>
                <a:spcPts val="0"/>
              </a:spcBef>
              <a:spcAft>
                <a:spcPts val="500"/>
              </a:spcAft>
            </a:pPr>
            <a:r>
              <a:rPr sz="1050" b="1" i="0">
                <a:solidFill>
                  <a:srgbClr val="7A1230"/>
                </a:solidFill>
                <a:latin typeface="Arial"/>
              </a:rPr>
              <a:t>3  </a:t>
            </a:r>
            <a:r>
              <a:rPr sz="1050" b="0" i="0">
                <a:solidFill>
                  <a:srgbClr val="202124"/>
                </a:solidFill>
                <a:latin typeface="Arial"/>
              </a:rPr>
              <a:t>Upload bank statements or other documents</a:t>
            </a:r>
          </a:p>
          <a:p>
            <a:pPr algn="l">
              <a:spcBef>
                <a:spcPts val="0"/>
              </a:spcBef>
              <a:spcAft>
                <a:spcPts val="500"/>
              </a:spcAft>
            </a:pPr>
            <a:r>
              <a:rPr sz="1050" b="1" i="0">
                <a:solidFill>
                  <a:srgbClr val="7A1230"/>
                </a:solidFill>
                <a:latin typeface="Arial"/>
              </a:rPr>
              <a:t>4  </a:t>
            </a:r>
            <a:r>
              <a:rPr sz="1050" b="0" i="0">
                <a:solidFill>
                  <a:srgbClr val="202124"/>
                </a:solidFill>
                <a:latin typeface="Arial"/>
              </a:rPr>
              <a:t>Each source page explains the business's own data; the assistant answers questions on it</a:t>
            </a:r>
          </a:p>
        </p:txBody>
      </p:sp>
      <p:sp>
        <p:nvSpPr>
          <p:cNvPr id="173" name="try_bank"/>
          <p:cNvSpPr/>
          <p:nvPr/>
        </p:nvSpPr>
        <p:spPr>
          <a:xfrm>
            <a:off x="4617720" y="1188720"/>
            <a:ext cx="4206240" cy="242316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4" name="try_bank_circle"/>
          <p:cNvSpPr/>
          <p:nvPr/>
        </p:nvSpPr>
        <p:spPr>
          <a:xfrm>
            <a:off x="4754880" y="1325880"/>
            <a:ext cx="384048" cy="384048"/>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5" name="try_bank_icon" descr="bank_w.png"/>
          <p:cNvPicPr>
            <a:picLocks noChangeAspect="1"/>
          </p:cNvPicPr>
          <p:nvPr/>
        </p:nvPicPr>
        <p:blipFill>
          <a:blip r:embed="rId6"/>
          <a:stretch>
            <a:fillRect/>
          </a:stretch>
        </p:blipFill>
        <p:spPr>
          <a:xfrm>
            <a:off x="4839370" y="1410370"/>
            <a:ext cx="215066" cy="215066"/>
          </a:xfrm>
          <a:prstGeom prst="rect">
            <a:avLst/>
          </a:prstGeom>
        </p:spPr>
      </p:pic>
      <p:sp>
        <p:nvSpPr>
          <p:cNvPr id="176" name="TextBox 175"/>
          <p:cNvSpPr txBox="1"/>
          <p:nvPr/>
        </p:nvSpPr>
        <p:spPr>
          <a:xfrm>
            <a:off x="5239512" y="1325880"/>
            <a:ext cx="3474720" cy="384048"/>
          </a:xfrm>
          <a:prstGeom prst="rect">
            <a:avLst/>
          </a:prstGeom>
          <a:noFill/>
        </p:spPr>
        <p:txBody>
          <a:bodyPr wrap="square" lIns="0" tIns="0" rIns="0" bIns="0" anchor="ctr">
            <a:noAutofit/>
          </a:bodyPr>
          <a:lstStyle/>
          <a:p>
            <a:pPr algn="l">
              <a:spcBef>
                <a:spcPts val="0"/>
              </a:spcBef>
              <a:spcAft>
                <a:spcPts val="300"/>
              </a:spcAft>
            </a:pPr>
            <a:r>
              <a:rPr sz="1200" b="1" i="0">
                <a:solidFill>
                  <a:srgbClr val="202124"/>
                </a:solidFill>
                <a:latin typeface="Arial"/>
              </a:rPr>
              <a:t>As the bank (panel sign-in)</a:t>
            </a:r>
          </a:p>
        </p:txBody>
      </p:sp>
      <p:sp>
        <p:nvSpPr>
          <p:cNvPr id="177" name="TextBox 176"/>
          <p:cNvSpPr txBox="1"/>
          <p:nvPr/>
        </p:nvSpPr>
        <p:spPr>
          <a:xfrm>
            <a:off x="4754880" y="1792224"/>
            <a:ext cx="3931920" cy="1728216"/>
          </a:xfrm>
          <a:prstGeom prst="rect">
            <a:avLst/>
          </a:prstGeom>
          <a:noFill/>
        </p:spPr>
        <p:txBody>
          <a:bodyPr wrap="square" lIns="0" tIns="0" rIns="0" bIns="0" anchor="t">
            <a:noAutofit/>
          </a:bodyPr>
          <a:lstStyle/>
          <a:p>
            <a:pPr algn="l">
              <a:spcBef>
                <a:spcPts val="0"/>
              </a:spcBef>
              <a:spcAft>
                <a:spcPts val="500"/>
              </a:spcAft>
            </a:pPr>
            <a:r>
              <a:rPr sz="1050" b="1" i="0">
                <a:solidFill>
                  <a:srgbClr val="7A1230"/>
                </a:solidFill>
                <a:latin typeface="Arial"/>
              </a:rPr>
              <a:t>1  </a:t>
            </a:r>
            <a:r>
              <a:rPr sz="1050" b="0" i="0">
                <a:solidFill>
                  <a:srgbClr val="202124"/>
                </a:solidFill>
                <a:latin typeface="Arial"/>
              </a:rPr>
              <a:t>Dashboard: the onboarded portfolio</a:t>
            </a:r>
          </a:p>
          <a:p>
            <a:pPr algn="l">
              <a:spcBef>
                <a:spcPts val="0"/>
              </a:spcBef>
              <a:spcAft>
                <a:spcPts val="500"/>
              </a:spcAft>
            </a:pPr>
            <a:r>
              <a:rPr sz="1050" b="1" i="0">
                <a:solidFill>
                  <a:srgbClr val="7A1230"/>
                </a:solidFill>
                <a:latin typeface="Arial"/>
              </a:rPr>
              <a:t>2  </a:t>
            </a:r>
            <a:r>
              <a:rPr sz="1050" b="0" i="0">
                <a:solidFill>
                  <a:srgbClr val="202124"/>
                </a:solidFill>
                <a:latin typeface="Arial"/>
              </a:rPr>
              <a:t>Customers: a risk status for each — Clear, Review, High risk or Awaiting data</a:t>
            </a:r>
          </a:p>
          <a:p>
            <a:pPr algn="l">
              <a:spcBef>
                <a:spcPts val="0"/>
              </a:spcBef>
              <a:spcAft>
                <a:spcPts val="500"/>
              </a:spcAft>
            </a:pPr>
            <a:r>
              <a:rPr sz="1050" b="1" i="0">
                <a:solidFill>
                  <a:srgbClr val="7A1230"/>
                </a:solidFill>
                <a:latin typeface="Arial"/>
              </a:rPr>
              <a:t>3  </a:t>
            </a:r>
            <a:r>
              <a:rPr sz="1050" b="0" i="0">
                <a:solidFill>
                  <a:srgbClr val="202124"/>
                </a:solidFill>
                <a:latin typeface="Arial"/>
              </a:rPr>
              <a:t>Open a customer: the Risk Lens — verdict, a section per source, each finding with its evidence; confirm or dismiss</a:t>
            </a:r>
          </a:p>
          <a:p>
            <a:pPr algn="l">
              <a:spcBef>
                <a:spcPts val="0"/>
              </a:spcBef>
              <a:spcAft>
                <a:spcPts val="500"/>
              </a:spcAft>
            </a:pPr>
            <a:r>
              <a:rPr sz="1050" b="1" i="0">
                <a:solidFill>
                  <a:srgbClr val="7A1230"/>
                </a:solidFill>
                <a:latin typeface="Arial"/>
              </a:rPr>
              <a:t>4  </a:t>
            </a:r>
            <a:r>
              <a:rPr sz="1050" b="0" i="0">
                <a:solidFill>
                  <a:srgbClr val="202124"/>
                </a:solidFill>
                <a:latin typeface="Arial"/>
              </a:rPr>
              <a:t>A Clear customer: the AI credit decision, then the loan case to LOS, ULI (OCEN) or ONDC</a:t>
            </a:r>
          </a:p>
        </p:txBody>
      </p:sp>
      <p:sp>
        <p:nvSpPr>
          <p:cNvPr id="178" name="TextBox 177"/>
          <p:cNvSpPr txBox="1"/>
          <p:nvPr/>
        </p:nvSpPr>
        <p:spPr>
          <a:xfrm>
            <a:off x="320040" y="3794760"/>
            <a:ext cx="8503920" cy="411480"/>
          </a:xfrm>
          <a:prstGeom prst="rect">
            <a:avLst/>
          </a:prstGeom>
          <a:noFill/>
        </p:spPr>
        <p:txBody>
          <a:bodyPr wrap="square" lIns="0" tIns="0" rIns="0" bIns="0" anchor="t">
            <a:noAutofit/>
          </a:bodyPr>
          <a:lstStyle/>
          <a:p>
            <a:pPr algn="l">
              <a:spcBef>
                <a:spcPts val="0"/>
              </a:spcBef>
              <a:spcAft>
                <a:spcPts val="300"/>
              </a:spcAft>
            </a:pPr>
            <a:r>
              <a:rPr sz="950" b="1" i="0">
                <a:solidFill>
                  <a:srgbClr val="5F6368"/>
                </a:solidFill>
                <a:latin typeface="Arial"/>
              </a:rPr>
              <a:t>Demo data: </a:t>
            </a:r>
            <a:r>
              <a:rPr sz="950" b="0" i="0">
                <a:solidFill>
                  <a:srgbClr val="5F6368"/>
                </a:solidFill>
                <a:latin typeface="Arial"/>
              </a:rPr>
              <a:t>every business is synthetic; GST, ITR and MCA are generated samples; Account Aggregator runs on the Finvu sandbox; OFAC/AML screening is a demo. Bank sign-in details are on the links slide.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TotalTime>
  <Words>2604</Words>
  <Application>Microsoft Office PowerPoint</Application>
  <PresentationFormat>On-screen Show (16:9)</PresentationFormat>
  <Paragraphs>305</Paragraphs>
  <Slides>21</Slides>
  <Notes>18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Google Sans Flex Medium</vt:lpstr>
      <vt:lpstr>Google Sans Flex</vt:lpstr>
      <vt:lpstr>Google Sans Flex SemiBold</vt:lpstr>
      <vt:lpstr>Arial</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Abhinav</cp:lastModifiedBy>
  <cp:revision>7</cp:revision>
  <dcterms:modified xsi:type="dcterms:W3CDTF">2026-10-17T18:24:25Z</dcterms:modified>
</cp:coreProperties>
</file>