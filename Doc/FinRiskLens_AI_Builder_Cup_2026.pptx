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3"/>
  </p:notesMasterIdLst>
  <p:sldIdLst>
    <p:sldId id="278" r:id="rId2"/>
    <p:sldId id="258" r:id="rId3"/>
    <p:sldId id="259" r:id="rId4"/>
    <p:sldId id="260" r:id="rId5"/>
    <p:sldId id="261" r:id="rId6"/>
    <p:sldId id="262" r:id="rId7"/>
    <p:sldId id="263" r:id="rId8"/>
    <p:sldId id="264" r:id="rId9"/>
    <p:sldId id="265" r:id="rId10"/>
    <p:sldId id="266" r:id="rId11"/>
    <p:sldId id="277" r:id="rId12"/>
    <p:sldId id="276" r:id="rId13"/>
    <p:sldId id="275" r:id="rId14"/>
    <p:sldId id="274" r:id="rId15"/>
    <p:sldId id="273" r:id="rId16"/>
    <p:sldId id="272" r:id="rId17"/>
    <p:sldId id="267" r:id="rId18"/>
    <p:sldId id="268" r:id="rId19"/>
    <p:sldId id="269" r:id="rId20"/>
    <p:sldId id="270" r:id="rId21"/>
    <p:sldId id="271" r:id="rId22"/>
  </p:sldIdLst>
  <p:sldSz cx="9144000" cy="5143500" type="screen16x9"/>
  <p:notesSz cx="6858000" cy="9144000"/>
  <p:embeddedFontLst>
    <p:embeddedFont>
      <p:font typeface="Google Sans Flex" panose="020B0604020202020204" charset="0"/>
      <p:regular r:id="rId24"/>
      <p:bold r:id="rId25"/>
    </p:embeddedFont>
    <p:embeddedFont>
      <p:font typeface="Google Sans Flex Medium" panose="020B0604020202020204" charset="0"/>
      <p:regular r:id="rId26"/>
      <p:bold r:id="rId27"/>
    </p:embeddedFont>
    <p:embeddedFont>
      <p:font typeface="Google Sans Flex SemiBold" panose="020B0604020202020204"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FinRiskLens — evidence-based fraud detection and risk analysis for MSME lending, built on Google Cloud by team AS FinTech Developer.</a:t>
            </a:r>
          </a:p>
        </p:txBody>
      </p:sp>
    </p:spTree>
    <p:extLst>
      <p:ext uri="{BB962C8B-B14F-4D97-AF65-F5344CB8AC3E}">
        <p14:creationId xmlns:p14="http://schemas.microsoft.com/office/powerpoint/2010/main" val="3724175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RBI figures from the RBI Annual Report 2024-25 (released May 2025), date-of-reporting basis.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Steps 2–5 run in a background worker whenever a customer shares a source or uploads a document; the Risk Lens refreshes until they finish. Step 7 runs only for a Clear customer — a confirmed finding blocks it — and only an accepted Approve can be sent.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Customer documents are stored, read and embedded in Mumbai; only Gemini Pro (investigator and credit decision) and the Flash reranker run on the global endpoint, and Pro sees extracted facts, never the files.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All figures are planning estimates for budgeting. Gemini usage scales with pages read, investigations run and credit decisions made.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Extraction accuracy: two consecutive live runs on 14 scenarios (17 documents, 1,298 rows) scored 99.8% and 100%; the 6 linked-applicant scenarios scored 428/428. The eval also caught a model drift (95.6%) that day-first date guidance and an arithmetic-triggered re-read fixed.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10" Type="http://schemas.openxmlformats.org/officeDocument/2006/relationships/image" Target="../media/image14.png"/><Relationship Id="rId4" Type="http://schemas.openxmlformats.org/officeDocument/2006/relationships/image" Target="../media/image3.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13.png"/><Relationship Id="rId12"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4.png"/><Relationship Id="rId5" Type="http://schemas.openxmlformats.org/officeDocument/2006/relationships/image" Target="../media/image15.png"/><Relationship Id="rId10" Type="http://schemas.openxmlformats.org/officeDocument/2006/relationships/image" Target="../media/image16.png"/><Relationship Id="rId4" Type="http://schemas.openxmlformats.org/officeDocument/2006/relationships/image" Target="../media/image3.png"/><Relationship Id="rId9" Type="http://schemas.openxmlformats.org/officeDocument/2006/relationships/image" Target="../media/image7.png"/><Relationship Id="rId1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2.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2.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38.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png"/><Relationship Id="rId7" Type="http://schemas.openxmlformats.org/officeDocument/2006/relationships/hyperlink" Target="https://finrisklensai.cloud.run"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video-ai-builder-cup.finrisklensai.com/" TargetMode="External"/><Relationship Id="rId5" Type="http://schemas.openxmlformats.org/officeDocument/2006/relationships/hyperlink" Target="https://github.com/abhinavmukwane/FinRiskLensAI-RAG-V2" TargetMode="External"/><Relationship Id="rId10" Type="http://schemas.openxmlformats.org/officeDocument/2006/relationships/image" Target="../media/image42.png"/><Relationship Id="rId4" Type="http://schemas.openxmlformats.org/officeDocument/2006/relationships/image" Target="../media/image3.png"/><Relationship Id="rId9" Type="http://schemas.openxmlformats.org/officeDocument/2006/relationships/hyperlink" Target="https://finrisklensai.cloud.run/Auth/BankLogin"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2100" dirty="0">
                <a:latin typeface="Google Sans Flex SemiBold"/>
                <a:ea typeface="Google Sans Flex SemiBold"/>
                <a:cs typeface="Google Sans Flex SemiBold"/>
                <a:sym typeface="Google Sans Flex SemiBold"/>
              </a:rPr>
              <a:t>Team Details</a:t>
            </a:r>
            <a:endParaRPr sz="2100" dirty="0">
              <a:latin typeface="Google Sans Flex SemiBold"/>
              <a:ea typeface="Google Sans Flex SemiBold"/>
              <a:cs typeface="Google Sans Flex SemiBold"/>
              <a:sym typeface="Google Sans Flex SemiBold"/>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name: </a:t>
            </a:r>
            <a:r>
              <a:rPr lang="en-GB" sz="1800" b="1" dirty="0">
                <a:latin typeface="Google Sans Flex"/>
                <a:ea typeface="Google Sans Flex"/>
                <a:cs typeface="Google Sans Flex"/>
                <a:sym typeface="Google Sans Flex"/>
              </a:rPr>
              <a:t>AS FinTech Developer</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Team leader name: </a:t>
            </a:r>
            <a:r>
              <a:rPr lang="en-GB" sz="1800" b="1" dirty="0">
                <a:latin typeface="Google Sans Flex"/>
                <a:ea typeface="Google Sans Flex"/>
                <a:cs typeface="Google Sans Flex"/>
                <a:sym typeface="Google Sans Flex"/>
              </a:rPr>
              <a:t>Abhinav Mukwane &amp; Sourabh Thakre</a:t>
            </a:r>
            <a:endParaRPr sz="1800" dirty="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800" dirty="0">
                <a:latin typeface="Google Sans Flex"/>
                <a:ea typeface="Google Sans Flex"/>
                <a:cs typeface="Google Sans Flex"/>
                <a:sym typeface="Google Sans Flex"/>
              </a:rPr>
              <a:t>Problem Statement: </a:t>
            </a:r>
            <a:r>
              <a:rPr lang="en-GB" sz="1600" b="1" dirty="0">
                <a:latin typeface="Google Sans Flex"/>
                <a:ea typeface="Google Sans Flex"/>
                <a:cs typeface="Google Sans Flex"/>
                <a:sym typeface="Google Sans Flex"/>
              </a:rPr>
              <a:t>Intelligent Risk, Fraud &amp; Financial Experiences (BFSI). </a:t>
            </a:r>
            <a:r>
              <a:rPr lang="en-GB" sz="1600" b="1" dirty="0" err="1">
                <a:latin typeface="Google Sans Flex"/>
                <a:ea typeface="Google Sans Flex"/>
                <a:cs typeface="Google Sans Flex"/>
                <a:sym typeface="Google Sans Flex"/>
              </a:rPr>
              <a:t>FinRiskLens</a:t>
            </a:r>
            <a:r>
              <a:rPr lang="en-GB" sz="1600" b="1">
                <a:latin typeface="Google Sans Flex"/>
                <a:ea typeface="Google Sans Flex"/>
                <a:cs typeface="Google Sans Flex"/>
                <a:sym typeface="Google Sans Flex"/>
              </a:rPr>
              <a:t> AI</a:t>
            </a:r>
            <a:r>
              <a:rPr lang="en-GB" sz="1600" b="0">
                <a:latin typeface="Google Sans Flex"/>
                <a:ea typeface="Google Sans Flex"/>
                <a:cs typeface="Google Sans Flex"/>
                <a:sym typeface="Google Sans Flex"/>
              </a:rPr>
              <a:t> </a:t>
            </a:r>
            <a:r>
              <a:rPr lang="en-GB" sz="1600" b="0" dirty="0">
                <a:latin typeface="Google Sans Flex"/>
                <a:ea typeface="Google Sans Flex"/>
                <a:cs typeface="Google Sans Flex"/>
                <a:sym typeface="Google Sans Flex"/>
              </a:rPr>
              <a:t>— fraud detection and risk analysis for every MSME customer, from shared data to a grounded AI credit decision</a:t>
            </a:r>
            <a:endParaRPr sz="1800" dirty="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extLst>
      <p:ext uri="{BB962C8B-B14F-4D97-AF65-F5344CB8AC3E}">
        <p14:creationId xmlns:p14="http://schemas.microsoft.com/office/powerpoint/2010/main" val="5908264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stat_fraud"/>
          <p:cNvSpPr/>
          <p:nvPr/>
        </p:nvSpPr>
        <p:spPr>
          <a:xfrm>
            <a:off x="32004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29768" y="1280160"/>
            <a:ext cx="17922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C5221F"/>
                </a:solidFill>
                <a:latin typeface="Arial"/>
              </a:rPr>
              <a:t>₹36,014 cr</a:t>
            </a:r>
          </a:p>
        </p:txBody>
      </p:sp>
      <p:sp>
        <p:nvSpPr>
          <p:cNvPr id="74" name="TextBox 73"/>
          <p:cNvSpPr txBox="1"/>
          <p:nvPr/>
        </p:nvSpPr>
        <p:spPr>
          <a:xfrm>
            <a:off x="429768" y="1755648"/>
            <a:ext cx="1792224" cy="42976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involved in bank frauds in FY25</a:t>
            </a:r>
          </a:p>
        </p:txBody>
      </p:sp>
      <p:sp>
        <p:nvSpPr>
          <p:cNvPr id="75" name="stat_loans"/>
          <p:cNvSpPr/>
          <p:nvPr/>
        </p:nvSpPr>
        <p:spPr>
          <a:xfrm>
            <a:off x="2468880" y="1188720"/>
            <a:ext cx="201168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2578608" y="1280160"/>
            <a:ext cx="17922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C5221F"/>
                </a:solidFill>
                <a:latin typeface="Arial"/>
              </a:rPr>
              <a:t>₹33,148 cr</a:t>
            </a:r>
          </a:p>
        </p:txBody>
      </p:sp>
      <p:sp>
        <p:nvSpPr>
          <p:cNvPr id="77" name="TextBox 76"/>
          <p:cNvSpPr txBox="1"/>
          <p:nvPr/>
        </p:nvSpPr>
        <p:spPr>
          <a:xfrm>
            <a:off x="2578608" y="1755648"/>
            <a:ext cx="1792224" cy="42976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of it in loans — the largest category</a:t>
            </a:r>
          </a:p>
        </p:txBody>
      </p:sp>
      <p:sp>
        <p:nvSpPr>
          <p:cNvPr id="78" name="TextBox 77"/>
          <p:cNvSpPr txBox="1"/>
          <p:nvPr/>
        </p:nvSpPr>
        <p:spPr>
          <a:xfrm>
            <a:off x="320040" y="2304288"/>
            <a:ext cx="4160520" cy="228600"/>
          </a:xfrm>
          <a:prstGeom prst="rect">
            <a:avLst/>
          </a:prstGeom>
          <a:noFill/>
        </p:spPr>
        <p:txBody>
          <a:bodyPr wrap="square" lIns="0" tIns="0" rIns="0" bIns="0" anchor="t">
            <a:noAutofit/>
          </a:bodyPr>
          <a:lstStyle/>
          <a:p>
            <a:pPr algn="l">
              <a:spcBef>
                <a:spcPts val="0"/>
              </a:spcBef>
              <a:spcAft>
                <a:spcPts val="300"/>
              </a:spcAft>
            </a:pPr>
            <a:r>
              <a:rPr sz="850" b="0" i="0">
                <a:solidFill>
                  <a:srgbClr val="5F6368"/>
                </a:solidFill>
                <a:latin typeface="Arial"/>
              </a:rPr>
              <a:t>Source: RBI Annual Report 2024-25 (date of reporting)</a:t>
            </a:r>
          </a:p>
        </p:txBody>
      </p:sp>
      <p:sp>
        <p:nvSpPr>
          <p:cNvPr id="79" name="brief_text"/>
          <p:cNvSpPr txBox="1"/>
          <p:nvPr/>
        </p:nvSpPr>
        <p:spPr>
          <a:xfrm>
            <a:off x="320040" y="2606040"/>
            <a:ext cx="4160520" cy="2331720"/>
          </a:xfrm>
          <a:prstGeom prst="rect">
            <a:avLst/>
          </a:prstGeom>
          <a:noFill/>
        </p:spPr>
        <p:txBody>
          <a:bodyPr wrap="square" lIns="0" tIns="0" rIns="0" bIns="0" anchor="t">
            <a:noAutofit/>
          </a:bodyPr>
          <a:lstStyle/>
          <a:p>
            <a:pPr algn="l">
              <a:spcBef>
                <a:spcPts val="0"/>
              </a:spcBef>
              <a:spcAft>
                <a:spcPts val="800"/>
              </a:spcAft>
            </a:pPr>
            <a:r>
              <a:rPr sz="1150" b="1" i="0" dirty="0">
                <a:solidFill>
                  <a:srgbClr val="202124"/>
                </a:solidFill>
                <a:latin typeface="Arial"/>
              </a:rPr>
              <a:t>MSME loans are decided on shared data and uploaded documents. </a:t>
            </a:r>
            <a:r>
              <a:rPr sz="1150" b="0" i="0" dirty="0">
                <a:solidFill>
                  <a:srgbClr val="202124"/>
                </a:solidFill>
                <a:latin typeface="Arial"/>
              </a:rPr>
              <a:t>A statement or ITR can be edited in minutes; one fabricator can supply many applicants.</a:t>
            </a:r>
          </a:p>
          <a:p>
            <a:pPr algn="l">
              <a:spcBef>
                <a:spcPts val="0"/>
              </a:spcBef>
              <a:spcAft>
                <a:spcPts val="800"/>
              </a:spcAft>
            </a:pPr>
            <a:r>
              <a:rPr sz="1150" b="1" i="0" dirty="0" err="1">
                <a:solidFill>
                  <a:srgbClr val="7A1230"/>
                </a:solidFill>
                <a:latin typeface="Arial"/>
              </a:rPr>
              <a:t>FinRiskLens</a:t>
            </a:r>
            <a:r>
              <a:rPr lang="en-US" sz="1150" b="1" i="0" dirty="0">
                <a:solidFill>
                  <a:srgbClr val="7A1230"/>
                </a:solidFill>
                <a:latin typeface="Arial"/>
              </a:rPr>
              <a:t> AI</a:t>
            </a:r>
            <a:r>
              <a:rPr sz="1150" b="1" i="0" dirty="0">
                <a:solidFill>
                  <a:srgbClr val="7A1230"/>
                </a:solidFill>
                <a:latin typeface="Arial"/>
              </a:rPr>
              <a:t> gives the bank one fraud and risk page per customer. </a:t>
            </a:r>
            <a:r>
              <a:rPr sz="1150" b="0" i="0" dirty="0">
                <a:solidFill>
                  <a:srgbClr val="202124"/>
                </a:solidFill>
                <a:latin typeface="Arial"/>
              </a:rPr>
              <a:t>Customers share bank data through Account Aggregator, fetch GST, ITR and MCA, and upload documents. Gemini reads every page, code checks the arithmetic and the bank's own record, and the network lens links related customers.</a:t>
            </a:r>
          </a:p>
          <a:p>
            <a:pPr algn="l">
              <a:spcBef>
                <a:spcPts val="0"/>
              </a:spcBef>
              <a:spcAft>
                <a:spcPts val="300"/>
              </a:spcAft>
            </a:pPr>
            <a:r>
              <a:rPr sz="1150" b="0" i="0" dirty="0">
                <a:solidFill>
                  <a:srgbClr val="202124"/>
                </a:solidFill>
                <a:latin typeface="Arial"/>
              </a:rPr>
              <a:t>Every finding links to its evidence. A Clear customer gets </a:t>
            </a:r>
            <a:r>
              <a:rPr sz="1150" b="1" i="0" dirty="0">
                <a:solidFill>
                  <a:srgbClr val="202124"/>
                </a:solidFill>
                <a:latin typeface="Arial"/>
              </a:rPr>
              <a:t>a grounded AI credit decision, sent to the LOS, ULI (OCEN) or ONDC.</a:t>
            </a:r>
          </a:p>
        </p:txBody>
      </p:sp>
      <p:sp>
        <p:nvSpPr>
          <p:cNvPr id="80" name="lens_0"/>
          <p:cNvSpPr/>
          <p:nvPr/>
        </p:nvSpPr>
        <p:spPr>
          <a:xfrm>
            <a:off x="4709160" y="1188720"/>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lens_0_circle"/>
          <p:cNvSpPr/>
          <p:nvPr/>
        </p:nvSpPr>
        <p:spPr>
          <a:xfrm>
            <a:off x="4846320" y="1389888"/>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lens_0_icon" descr="doc_w.png"/>
          <p:cNvPicPr>
            <a:picLocks noChangeAspect="1"/>
          </p:cNvPicPr>
          <p:nvPr/>
        </p:nvPicPr>
        <p:blipFill>
          <a:blip r:embed="rId4"/>
          <a:stretch>
            <a:fillRect/>
          </a:stretch>
        </p:blipFill>
        <p:spPr>
          <a:xfrm>
            <a:off x="4938857" y="1482425"/>
            <a:ext cx="235549" cy="235549"/>
          </a:xfrm>
          <a:prstGeom prst="rect">
            <a:avLst/>
          </a:prstGeom>
        </p:spPr>
      </p:pic>
      <p:sp>
        <p:nvSpPr>
          <p:cNvPr id="83" name="TextBox 82"/>
          <p:cNvSpPr txBox="1"/>
          <p:nvPr/>
        </p:nvSpPr>
        <p:spPr>
          <a:xfrm>
            <a:off x="5413248" y="1298448"/>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Every source, one page</a:t>
            </a:r>
          </a:p>
        </p:txBody>
      </p:sp>
      <p:sp>
        <p:nvSpPr>
          <p:cNvPr id="84" name="TextBox 83"/>
          <p:cNvSpPr txBox="1"/>
          <p:nvPr/>
        </p:nvSpPr>
        <p:spPr>
          <a:xfrm>
            <a:off x="5413248" y="1572768"/>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Udyam, GST, bank, ITR, MCA and uploads, section by section</a:t>
            </a:r>
          </a:p>
        </p:txBody>
      </p:sp>
      <p:sp>
        <p:nvSpPr>
          <p:cNvPr id="85" name="lens_1"/>
          <p:cNvSpPr/>
          <p:nvPr/>
        </p:nvSpPr>
        <p:spPr>
          <a:xfrm>
            <a:off x="4709160" y="2130552"/>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lens_1_circle"/>
          <p:cNvSpPr/>
          <p:nvPr/>
        </p:nvSpPr>
        <p:spPr>
          <a:xfrm>
            <a:off x="4846320" y="2331720"/>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7" name="lens_1_icon" descr="bank_w.png"/>
          <p:cNvPicPr>
            <a:picLocks noChangeAspect="1"/>
          </p:cNvPicPr>
          <p:nvPr/>
        </p:nvPicPr>
        <p:blipFill>
          <a:blip r:embed="rId5"/>
          <a:stretch>
            <a:fillRect/>
          </a:stretch>
        </p:blipFill>
        <p:spPr>
          <a:xfrm>
            <a:off x="4938857" y="2424257"/>
            <a:ext cx="235549" cy="235549"/>
          </a:xfrm>
          <a:prstGeom prst="rect">
            <a:avLst/>
          </a:prstGeom>
        </p:spPr>
      </p:pic>
      <p:sp>
        <p:nvSpPr>
          <p:cNvPr id="88" name="TextBox 87"/>
          <p:cNvSpPr txBox="1"/>
          <p:nvPr/>
        </p:nvSpPr>
        <p:spPr>
          <a:xfrm>
            <a:off x="5413248" y="2240280"/>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The bank's own record</a:t>
            </a:r>
          </a:p>
        </p:txBody>
      </p:sp>
      <p:sp>
        <p:nvSpPr>
          <p:cNvPr id="89" name="TextBox 88"/>
          <p:cNvSpPr txBox="1"/>
          <p:nvPr/>
        </p:nvSpPr>
        <p:spPr>
          <a:xfrm>
            <a:off x="5413248" y="2514600"/>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Uploaded statements against the Account Aggregator feed</a:t>
            </a:r>
          </a:p>
        </p:txBody>
      </p:sp>
      <p:sp>
        <p:nvSpPr>
          <p:cNvPr id="90" name="lens_2"/>
          <p:cNvSpPr/>
          <p:nvPr/>
        </p:nvSpPr>
        <p:spPr>
          <a:xfrm>
            <a:off x="4709160" y="3072384"/>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lens_2_circle"/>
          <p:cNvSpPr/>
          <p:nvPr/>
        </p:nvSpPr>
        <p:spPr>
          <a:xfrm>
            <a:off x="4846320" y="3273552"/>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2" name="lens_2_icon" descr="ring_w.png"/>
          <p:cNvPicPr>
            <a:picLocks noChangeAspect="1"/>
          </p:cNvPicPr>
          <p:nvPr/>
        </p:nvPicPr>
        <p:blipFill>
          <a:blip r:embed="rId6"/>
          <a:stretch>
            <a:fillRect/>
          </a:stretch>
        </p:blipFill>
        <p:spPr>
          <a:xfrm>
            <a:off x="4938857" y="3366089"/>
            <a:ext cx="235549" cy="235549"/>
          </a:xfrm>
          <a:prstGeom prst="rect">
            <a:avLst/>
          </a:prstGeom>
        </p:spPr>
      </p:pic>
      <p:sp>
        <p:nvSpPr>
          <p:cNvPr id="93" name="TextBox 92"/>
          <p:cNvSpPr txBox="1"/>
          <p:nvPr/>
        </p:nvSpPr>
        <p:spPr>
          <a:xfrm>
            <a:off x="5413248" y="3182112"/>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The network</a:t>
            </a:r>
          </a:p>
        </p:txBody>
      </p:sp>
      <p:sp>
        <p:nvSpPr>
          <p:cNvPr id="94" name="TextBox 93"/>
          <p:cNvSpPr txBox="1"/>
          <p:nvPr/>
        </p:nvSpPr>
        <p:spPr>
          <a:xfrm>
            <a:off x="5413248" y="3456432"/>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Shared directors, contacts and files; circular GST trading</a:t>
            </a:r>
          </a:p>
        </p:txBody>
      </p:sp>
      <p:sp>
        <p:nvSpPr>
          <p:cNvPr id="95" name="lens_3"/>
          <p:cNvSpPr/>
          <p:nvPr/>
        </p:nvSpPr>
        <p:spPr>
          <a:xfrm>
            <a:off x="4709160" y="4014215"/>
            <a:ext cx="4114800" cy="8229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lens_3_circle"/>
          <p:cNvSpPr/>
          <p:nvPr/>
        </p:nvSpPr>
        <p:spPr>
          <a:xfrm>
            <a:off x="4846320" y="4215383"/>
            <a:ext cx="420624" cy="420624"/>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7" name="lens_3_icon" descr="bot_w.png"/>
          <p:cNvPicPr>
            <a:picLocks noChangeAspect="1"/>
          </p:cNvPicPr>
          <p:nvPr/>
        </p:nvPicPr>
        <p:blipFill>
          <a:blip r:embed="rId7"/>
          <a:stretch>
            <a:fillRect/>
          </a:stretch>
        </p:blipFill>
        <p:spPr>
          <a:xfrm>
            <a:off x="4938857" y="4307921"/>
            <a:ext cx="235549" cy="235549"/>
          </a:xfrm>
          <a:prstGeom prst="rect">
            <a:avLst/>
          </a:prstGeom>
        </p:spPr>
      </p:pic>
      <p:sp>
        <p:nvSpPr>
          <p:cNvPr id="98" name="TextBox 97"/>
          <p:cNvSpPr txBox="1"/>
          <p:nvPr/>
        </p:nvSpPr>
        <p:spPr>
          <a:xfrm>
            <a:off x="5413248" y="4123944"/>
            <a:ext cx="3291840"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Grounded AI decisions</a:t>
            </a:r>
          </a:p>
        </p:txBody>
      </p:sp>
      <p:sp>
        <p:nvSpPr>
          <p:cNvPr id="99" name="TextBox 98"/>
          <p:cNvSpPr txBox="1"/>
          <p:nvPr/>
        </p:nvSpPr>
        <p:spPr>
          <a:xfrm>
            <a:off x="5413248" y="4398264"/>
            <a:ext cx="3291840" cy="384048"/>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Investigation and credit decision; every figure traced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63825"/>
            <a:ext cx="8943000" cy="557784"/>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opp_0"/>
          <p:cNvSpPr/>
          <p:nvPr/>
        </p:nvSpPr>
        <p:spPr>
          <a:xfrm>
            <a:off x="32004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opp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opp_0_icon" descr="search_w.png"/>
          <p:cNvPicPr>
            <a:picLocks noChangeAspect="1"/>
          </p:cNvPicPr>
          <p:nvPr/>
        </p:nvPicPr>
        <p:blipFill>
          <a:blip r:embed="rId5"/>
          <a:stretch>
            <a:fillRect/>
          </a:stretch>
        </p:blipFill>
        <p:spPr>
          <a:xfrm>
            <a:off x="541690" y="1410370"/>
            <a:ext cx="215066" cy="215066"/>
          </a:xfrm>
          <a:prstGeom prst="rect">
            <a:avLst/>
          </a:prstGeom>
        </p:spPr>
      </p:pic>
      <p:sp>
        <p:nvSpPr>
          <p:cNvPr id="83" name="TextBox 82"/>
          <p:cNvSpPr txBox="1"/>
          <p:nvPr/>
        </p:nvSpPr>
        <p:spPr>
          <a:xfrm>
            <a:off x="941832"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How it differs from existing tools</a:t>
            </a:r>
          </a:p>
        </p:txBody>
      </p:sp>
      <p:sp>
        <p:nvSpPr>
          <p:cNvPr id="84" name="TextBox 83"/>
          <p:cNvSpPr txBox="1"/>
          <p:nvPr/>
        </p:nvSpPr>
        <p:spPr>
          <a:xfrm>
            <a:off x="45720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Statement analysers </a:t>
            </a:r>
            <a:r>
              <a:rPr sz="1050" b="0" i="0">
                <a:solidFill>
                  <a:srgbClr val="202124"/>
                </a:solidFill>
                <a:latin typeface="Arial"/>
              </a:rPr>
              <a:t>look at one document — FinRiskLens combines every source of a customer and returns findings with evidence</a:t>
            </a:r>
          </a:p>
          <a:p>
            <a:pPr marL="146304" indent="-146304" algn="l">
              <a:spcBef>
                <a:spcPts val="0"/>
              </a:spcBef>
              <a:spcAft>
                <a:spcPts val="300"/>
              </a:spcAft>
              <a:buFont typeface="Arial"/>
              <a:buChar char="•"/>
            </a:pPr>
            <a:r>
              <a:rPr sz="1050" b="1" i="0">
                <a:solidFill>
                  <a:srgbClr val="202124"/>
                </a:solidFill>
                <a:latin typeface="Arial"/>
              </a:rPr>
              <a:t>Arithmetic checks </a:t>
            </a:r>
            <a:r>
              <a:rPr sz="1050" b="0" i="0">
                <a:solidFill>
                  <a:srgbClr val="202124"/>
                </a:solidFill>
                <a:latin typeface="Arial"/>
              </a:rPr>
              <a:t>pass a careful forgery — FinRiskLens also compares it with the bank's own record</a:t>
            </a:r>
          </a:p>
          <a:p>
            <a:pPr marL="146304" indent="-146304" algn="l">
              <a:spcBef>
                <a:spcPts val="0"/>
              </a:spcBef>
              <a:spcAft>
                <a:spcPts val="300"/>
              </a:spcAft>
              <a:buFont typeface="Arial"/>
              <a:buChar char="•"/>
            </a:pPr>
            <a:r>
              <a:rPr sz="1050" b="1" i="0">
                <a:solidFill>
                  <a:srgbClr val="202124"/>
                </a:solidFill>
                <a:latin typeface="Arial"/>
              </a:rPr>
              <a:t>Single-customer review </a:t>
            </a:r>
            <a:r>
              <a:rPr sz="1050" b="0" i="0">
                <a:solidFill>
                  <a:srgbClr val="202124"/>
                </a:solidFill>
                <a:latin typeface="Arial"/>
              </a:rPr>
              <a:t>misses organised fraud — the network lens links related customers</a:t>
            </a:r>
          </a:p>
        </p:txBody>
      </p:sp>
      <p:sp>
        <p:nvSpPr>
          <p:cNvPr id="85" name="opp_1"/>
          <p:cNvSpPr/>
          <p:nvPr/>
        </p:nvSpPr>
        <p:spPr>
          <a:xfrm>
            <a:off x="3200400"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opp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7" name="opp_1_icon" descr="zap_w.png"/>
          <p:cNvPicPr>
            <a:picLocks noChangeAspect="1"/>
          </p:cNvPicPr>
          <p:nvPr/>
        </p:nvPicPr>
        <p:blipFill>
          <a:blip r:embed="rId6"/>
          <a:stretch>
            <a:fillRect/>
          </a:stretch>
        </p:blipFill>
        <p:spPr>
          <a:xfrm>
            <a:off x="3422050" y="1410370"/>
            <a:ext cx="215066" cy="215066"/>
          </a:xfrm>
          <a:prstGeom prst="rect">
            <a:avLst/>
          </a:prstGeom>
        </p:spPr>
      </p:pic>
      <p:sp>
        <p:nvSpPr>
          <p:cNvPr id="88" name="TextBox 87"/>
          <p:cNvSpPr txBox="1"/>
          <p:nvPr/>
        </p:nvSpPr>
        <p:spPr>
          <a:xfrm>
            <a:off x="382219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How it solves the problem</a:t>
            </a:r>
          </a:p>
        </p:txBody>
      </p:sp>
      <p:sp>
        <p:nvSpPr>
          <p:cNvPr id="89" name="TextBox 88"/>
          <p:cNvSpPr txBox="1"/>
          <p:nvPr/>
        </p:nvSpPr>
        <p:spPr>
          <a:xfrm>
            <a:off x="333756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Fast: </a:t>
            </a:r>
            <a:r>
              <a:rPr sz="1050" b="0" i="0">
                <a:solidFill>
                  <a:srgbClr val="202124"/>
                </a:solidFill>
                <a:latin typeface="Arial"/>
              </a:rPr>
              <a:t>a customer is reassessed as soon as a source arrives</a:t>
            </a:r>
          </a:p>
          <a:p>
            <a:pPr marL="146304" indent="-146304" algn="l">
              <a:spcBef>
                <a:spcPts val="0"/>
              </a:spcBef>
              <a:spcAft>
                <a:spcPts val="300"/>
              </a:spcAft>
              <a:buFont typeface="Arial"/>
              <a:buChar char="•"/>
            </a:pPr>
            <a:r>
              <a:rPr sz="1050" b="1" i="0">
                <a:solidFill>
                  <a:srgbClr val="202124"/>
                </a:solidFill>
                <a:latin typeface="Arial"/>
              </a:rPr>
              <a:t>Verifiable: </a:t>
            </a:r>
            <a:r>
              <a:rPr sz="1050" b="0" i="0">
                <a:solidFill>
                  <a:srgbClr val="202124"/>
                </a:solidFill>
                <a:latin typeface="Arial"/>
              </a:rPr>
              <a:t>every finding opens the document at its page and row</a:t>
            </a:r>
          </a:p>
          <a:p>
            <a:pPr marL="146304" indent="-146304" algn="l">
              <a:spcBef>
                <a:spcPts val="0"/>
              </a:spcBef>
              <a:spcAft>
                <a:spcPts val="300"/>
              </a:spcAft>
              <a:buFont typeface="Arial"/>
              <a:buChar char="•"/>
            </a:pPr>
            <a:r>
              <a:rPr sz="1050" b="1" i="0">
                <a:solidFill>
                  <a:srgbClr val="202124"/>
                </a:solidFill>
                <a:latin typeface="Arial"/>
              </a:rPr>
              <a:t>Decisive: </a:t>
            </a:r>
            <a:r>
              <a:rPr sz="1050" b="0" i="0">
                <a:solidFill>
                  <a:srgbClr val="202124"/>
                </a:solidFill>
                <a:latin typeface="Arial"/>
              </a:rPr>
              <a:t>the officer confirms or dismisses each finding; a Clear customer goes straight to a loan case</a:t>
            </a:r>
          </a:p>
          <a:p>
            <a:pPr marL="146304" indent="-146304" algn="l">
              <a:spcBef>
                <a:spcPts val="0"/>
              </a:spcBef>
              <a:spcAft>
                <a:spcPts val="300"/>
              </a:spcAft>
              <a:buFont typeface="Arial"/>
              <a:buChar char="•"/>
            </a:pPr>
            <a:r>
              <a:rPr sz="1050" b="1" i="0">
                <a:solidFill>
                  <a:srgbClr val="202124"/>
                </a:solidFill>
                <a:latin typeface="Arial"/>
              </a:rPr>
              <a:t>Policy-aware: </a:t>
            </a:r>
            <a:r>
              <a:rPr sz="1050" b="0" i="0">
                <a:solidFill>
                  <a:srgbClr val="202124"/>
                </a:solidFill>
                <a:latin typeface="Arial"/>
              </a:rPr>
              <a:t>findings and credit decisions cite the lender's credit policy</a:t>
            </a:r>
          </a:p>
        </p:txBody>
      </p:sp>
      <p:sp>
        <p:nvSpPr>
          <p:cNvPr id="90" name="opp_2"/>
          <p:cNvSpPr/>
          <p:nvPr/>
        </p:nvSpPr>
        <p:spPr>
          <a:xfrm>
            <a:off x="6080759" y="1188720"/>
            <a:ext cx="2743200" cy="278892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opp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2" name="opp_2_icon" descr="target_w.png"/>
          <p:cNvPicPr>
            <a:picLocks noChangeAspect="1"/>
          </p:cNvPicPr>
          <p:nvPr/>
        </p:nvPicPr>
        <p:blipFill>
          <a:blip r:embed="rId7"/>
          <a:stretch>
            <a:fillRect/>
          </a:stretch>
        </p:blipFill>
        <p:spPr>
          <a:xfrm>
            <a:off x="6302410" y="1410370"/>
            <a:ext cx="215066" cy="215066"/>
          </a:xfrm>
          <a:prstGeom prst="rect">
            <a:avLst/>
          </a:prstGeom>
        </p:spPr>
      </p:pic>
      <p:sp>
        <p:nvSpPr>
          <p:cNvPr id="93" name="TextBox 92"/>
          <p:cNvSpPr txBox="1"/>
          <p:nvPr/>
        </p:nvSpPr>
        <p:spPr>
          <a:xfrm>
            <a:off x="670255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USP</a:t>
            </a:r>
          </a:p>
        </p:txBody>
      </p:sp>
      <p:sp>
        <p:nvSpPr>
          <p:cNvPr id="94" name="TextBox 93"/>
          <p:cNvSpPr txBox="1"/>
          <p:nvPr/>
        </p:nvSpPr>
        <p:spPr>
          <a:xfrm>
            <a:off x="6217920" y="1792224"/>
            <a:ext cx="2468880" cy="209397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50" b="1" i="0">
                <a:solidFill>
                  <a:srgbClr val="202124"/>
                </a:solidFill>
                <a:latin typeface="Arial"/>
              </a:rPr>
              <a:t>Grounded AI: </a:t>
            </a:r>
            <a:r>
              <a:rPr sz="1050" b="0" i="0">
                <a:solidFill>
                  <a:srgbClr val="202124"/>
                </a:solidFill>
                <a:latin typeface="Arial"/>
              </a:rPr>
              <a:t>a claim or figure that cannot be traced is set aside — and shown</a:t>
            </a:r>
          </a:p>
          <a:p>
            <a:pPr marL="146304" indent="-146304" algn="l">
              <a:spcBef>
                <a:spcPts val="0"/>
              </a:spcBef>
              <a:spcAft>
                <a:spcPts val="300"/>
              </a:spcAft>
              <a:buFont typeface="Arial"/>
              <a:buChar char="•"/>
            </a:pPr>
            <a:r>
              <a:rPr sz="1050" b="1" i="0">
                <a:solidFill>
                  <a:srgbClr val="202124"/>
                </a:solidFill>
                <a:latin typeface="Arial"/>
              </a:rPr>
              <a:t>Bank-record cross-check </a:t>
            </a:r>
            <a:r>
              <a:rPr sz="1050" b="0" i="0">
                <a:solidFill>
                  <a:srgbClr val="202124"/>
                </a:solidFill>
                <a:latin typeface="Arial"/>
              </a:rPr>
              <a:t>through Account Aggregator</a:t>
            </a:r>
          </a:p>
          <a:p>
            <a:pPr marL="146304" indent="-146304" algn="l">
              <a:spcBef>
                <a:spcPts val="0"/>
              </a:spcBef>
              <a:spcAft>
                <a:spcPts val="300"/>
              </a:spcAft>
              <a:buFont typeface="Arial"/>
              <a:buChar char="•"/>
            </a:pPr>
            <a:r>
              <a:rPr sz="1050" b="1" i="0">
                <a:solidFill>
                  <a:srgbClr val="202124"/>
                </a:solidFill>
                <a:latin typeface="Arial"/>
              </a:rPr>
              <a:t>Linked customers </a:t>
            </a:r>
            <a:r>
              <a:rPr sz="1050" b="0" i="0">
                <a:solidFill>
                  <a:srgbClr val="202124"/>
                </a:solidFill>
                <a:latin typeface="Arial"/>
              </a:rPr>
              <a:t>through directors, contacts, files and GST invoices</a:t>
            </a:r>
          </a:p>
          <a:p>
            <a:pPr marL="146304" indent="-146304" algn="l">
              <a:spcBef>
                <a:spcPts val="0"/>
              </a:spcBef>
              <a:spcAft>
                <a:spcPts val="300"/>
              </a:spcAft>
              <a:buFont typeface="Arial"/>
              <a:buChar char="•"/>
            </a:pPr>
            <a:r>
              <a:rPr sz="1050" b="1" i="0">
                <a:solidFill>
                  <a:srgbClr val="202124"/>
                </a:solidFill>
                <a:latin typeface="Arial"/>
              </a:rPr>
              <a:t>Risk to loan: </a:t>
            </a:r>
            <a:r>
              <a:rPr sz="1050" b="0" i="0">
                <a:solidFill>
                  <a:srgbClr val="202124"/>
                </a:solidFill>
                <a:latin typeface="Arial"/>
              </a:rPr>
              <a:t>AI credit decision, then LOS, ULI (OCEN) or ONDC</a:t>
            </a:r>
          </a:p>
          <a:p>
            <a:pPr marL="146304" indent="-146304" algn="l">
              <a:spcBef>
                <a:spcPts val="0"/>
              </a:spcBef>
              <a:spcAft>
                <a:spcPts val="300"/>
              </a:spcAft>
              <a:buFont typeface="Arial"/>
              <a:buChar char="•"/>
            </a:pPr>
            <a:r>
              <a:rPr sz="1050" b="1" i="0">
                <a:solidFill>
                  <a:srgbClr val="202124"/>
                </a:solidFill>
                <a:latin typeface="Arial"/>
              </a:rPr>
              <a:t>Documents stay in India: </a:t>
            </a:r>
            <a:r>
              <a:rPr sz="1050" b="0" i="0">
                <a:solidFill>
                  <a:srgbClr val="202124"/>
                </a:solidFill>
                <a:latin typeface="Arial"/>
              </a:rPr>
              <a:t>read and stored in Mumbai</a:t>
            </a:r>
          </a:p>
        </p:txBody>
      </p:sp>
      <p:sp>
        <p:nvSpPr>
          <p:cNvPr id="95" name="who_gains"/>
          <p:cNvSpPr/>
          <p:nvPr/>
        </p:nvSpPr>
        <p:spPr>
          <a:xfrm>
            <a:off x="320040" y="4114800"/>
            <a:ext cx="8503920" cy="77724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57200" y="4178808"/>
            <a:ext cx="1188720" cy="640080"/>
          </a:xfrm>
          <a:prstGeom prst="rect">
            <a:avLst/>
          </a:prstGeom>
          <a:noFill/>
        </p:spPr>
        <p:txBody>
          <a:bodyPr wrap="square" lIns="0" tIns="0" rIns="0" bIns="0" anchor="ctr">
            <a:noAutofit/>
          </a:bodyPr>
          <a:lstStyle/>
          <a:p>
            <a:pPr algn="l">
              <a:spcBef>
                <a:spcPts val="0"/>
              </a:spcBef>
              <a:spcAft>
                <a:spcPts val="300"/>
              </a:spcAft>
            </a:pPr>
            <a:r>
              <a:rPr sz="1200" b="1" i="0">
                <a:solidFill>
                  <a:srgbClr val="7A1230"/>
                </a:solidFill>
                <a:latin typeface="Arial"/>
              </a:rPr>
              <a:t>Who gains</a:t>
            </a:r>
          </a:p>
        </p:txBody>
      </p:sp>
      <p:sp>
        <p:nvSpPr>
          <p:cNvPr id="97" name="TextBox 96"/>
          <p:cNvSpPr txBox="1"/>
          <p:nvPr/>
        </p:nvSpPr>
        <p:spPr>
          <a:xfrm>
            <a:off x="169164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Credit officers</a:t>
            </a:r>
          </a:p>
        </p:txBody>
      </p:sp>
      <p:sp>
        <p:nvSpPr>
          <p:cNvPr id="98" name="TextBox 97"/>
          <p:cNvSpPr txBox="1"/>
          <p:nvPr/>
        </p:nvSpPr>
        <p:spPr>
          <a:xfrm>
            <a:off x="169164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One page per customer, findings with evidence</a:t>
            </a:r>
          </a:p>
        </p:txBody>
      </p:sp>
      <p:sp>
        <p:nvSpPr>
          <p:cNvPr id="99" name="TextBox 98"/>
          <p:cNvSpPr txBox="1"/>
          <p:nvPr/>
        </p:nvSpPr>
        <p:spPr>
          <a:xfrm>
            <a:off x="406908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Fraud teams</a:t>
            </a:r>
          </a:p>
        </p:txBody>
      </p:sp>
      <p:sp>
        <p:nvSpPr>
          <p:cNvPr id="100" name="TextBox 99"/>
          <p:cNvSpPr txBox="1"/>
          <p:nvPr/>
        </p:nvSpPr>
        <p:spPr>
          <a:xfrm>
            <a:off x="406908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Linked customers across the portfolio</a:t>
            </a:r>
          </a:p>
        </p:txBody>
      </p:sp>
      <p:sp>
        <p:nvSpPr>
          <p:cNvPr id="101" name="TextBox 100"/>
          <p:cNvSpPr txBox="1"/>
          <p:nvPr/>
        </p:nvSpPr>
        <p:spPr>
          <a:xfrm>
            <a:off x="6446520" y="4206240"/>
            <a:ext cx="2286000" cy="228600"/>
          </a:xfrm>
          <a:prstGeom prst="rect">
            <a:avLst/>
          </a:prstGeom>
          <a:noFill/>
        </p:spPr>
        <p:txBody>
          <a:bodyPr wrap="square" lIns="0" tIns="0" rIns="0" bIns="0" anchor="t">
            <a:noAutofit/>
          </a:bodyPr>
          <a:lstStyle/>
          <a:p>
            <a:pPr algn="l">
              <a:spcBef>
                <a:spcPts val="0"/>
              </a:spcBef>
              <a:spcAft>
                <a:spcPts val="300"/>
              </a:spcAft>
            </a:pPr>
            <a:r>
              <a:rPr sz="1100" b="1" i="0">
                <a:solidFill>
                  <a:srgbClr val="202124"/>
                </a:solidFill>
                <a:latin typeface="Arial"/>
              </a:rPr>
              <a:t>Honest MSMEs</a:t>
            </a:r>
          </a:p>
        </p:txBody>
      </p:sp>
      <p:sp>
        <p:nvSpPr>
          <p:cNvPr id="102" name="TextBox 101"/>
          <p:cNvSpPr txBox="1"/>
          <p:nvPr/>
        </p:nvSpPr>
        <p:spPr>
          <a:xfrm>
            <a:off x="6446520" y="4443984"/>
            <a:ext cx="2286000" cy="41148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 Clear verdict — a faster loan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_0"/>
          <p:cNvSpPr/>
          <p:nvPr/>
        </p:nvSpPr>
        <p:spPr>
          <a:xfrm>
            <a:off x="32004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fea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0" name="feat_0_icon" descr="users_w.png"/>
          <p:cNvPicPr>
            <a:picLocks noChangeAspect="1"/>
          </p:cNvPicPr>
          <p:nvPr/>
        </p:nvPicPr>
        <p:blipFill>
          <a:blip r:embed="rId5"/>
          <a:stretch>
            <a:fillRect/>
          </a:stretch>
        </p:blipFill>
        <p:spPr>
          <a:xfrm>
            <a:off x="541690" y="1410370"/>
            <a:ext cx="215066" cy="215066"/>
          </a:xfrm>
          <a:prstGeom prst="rect">
            <a:avLst/>
          </a:prstGeom>
        </p:spPr>
      </p:pic>
      <p:sp>
        <p:nvSpPr>
          <p:cNvPr id="91" name="TextBox 90"/>
          <p:cNvSpPr txBox="1"/>
          <p:nvPr/>
        </p:nvSpPr>
        <p:spPr>
          <a:xfrm>
            <a:off x="941832"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Customer data, one place</a:t>
            </a:r>
          </a:p>
        </p:txBody>
      </p:sp>
      <p:sp>
        <p:nvSpPr>
          <p:cNvPr id="92" name="TextBox 91"/>
          <p:cNvSpPr txBox="1"/>
          <p:nvPr/>
        </p:nvSpPr>
        <p:spPr>
          <a:xfrm>
            <a:off x="45720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Business Registration (Udyam); Banking Data by Account Aggregator consent</a:t>
            </a:r>
          </a:p>
          <a:p>
            <a:pPr marL="146304" indent="-146304" algn="l">
              <a:spcBef>
                <a:spcPts val="0"/>
              </a:spcBef>
              <a:spcAft>
                <a:spcPts val="300"/>
              </a:spcAft>
              <a:buFont typeface="Arial"/>
              <a:buChar char="•"/>
            </a:pPr>
            <a:r>
              <a:rPr sz="1000" b="0" i="0">
                <a:solidFill>
                  <a:srgbClr val="202124"/>
                </a:solidFill>
                <a:latin typeface="Arial"/>
              </a:rPr>
              <a:t>Tax &amp; Sales (GST), Income Tax (ITR), Corporate Registry (MCA); uploads</a:t>
            </a:r>
          </a:p>
          <a:p>
            <a:pPr marL="146304" indent="-146304" algn="l">
              <a:spcBef>
                <a:spcPts val="0"/>
              </a:spcBef>
              <a:spcAft>
                <a:spcPts val="300"/>
              </a:spcAft>
              <a:buFont typeface="Arial"/>
              <a:buChar char="•"/>
            </a:pPr>
            <a:r>
              <a:rPr sz="1000" b="0" i="0">
                <a:solidFill>
                  <a:srgbClr val="202124"/>
                </a:solidFill>
                <a:latin typeface="Arial"/>
              </a:rPr>
              <a:t>Reassessed whenever a source arrives</a:t>
            </a:r>
          </a:p>
        </p:txBody>
      </p:sp>
      <p:sp>
        <p:nvSpPr>
          <p:cNvPr id="93" name="feat_1"/>
          <p:cNvSpPr/>
          <p:nvPr/>
        </p:nvSpPr>
        <p:spPr>
          <a:xfrm>
            <a:off x="3200400"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feat_1_circle"/>
          <p:cNvSpPr/>
          <p:nvPr/>
        </p:nvSpPr>
        <p:spPr>
          <a:xfrm>
            <a:off x="333756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5" name="feat_1_icon" descr="scan_w.png"/>
          <p:cNvPicPr>
            <a:picLocks noChangeAspect="1"/>
          </p:cNvPicPr>
          <p:nvPr/>
        </p:nvPicPr>
        <p:blipFill>
          <a:blip r:embed="rId6"/>
          <a:stretch>
            <a:fillRect/>
          </a:stretch>
        </p:blipFill>
        <p:spPr>
          <a:xfrm>
            <a:off x="3422050" y="1410370"/>
            <a:ext cx="215066" cy="215066"/>
          </a:xfrm>
          <a:prstGeom prst="rect">
            <a:avLst/>
          </a:prstGeom>
        </p:spPr>
      </p:pic>
      <p:sp>
        <p:nvSpPr>
          <p:cNvPr id="96" name="TextBox 95"/>
          <p:cNvSpPr txBox="1"/>
          <p:nvPr/>
        </p:nvSpPr>
        <p:spPr>
          <a:xfrm>
            <a:off x="382219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Document reading</a:t>
            </a:r>
          </a:p>
        </p:txBody>
      </p:sp>
      <p:sp>
        <p:nvSpPr>
          <p:cNvPr id="97" name="TextBox 96"/>
          <p:cNvSpPr txBox="1"/>
          <p:nvPr/>
        </p:nvSpPr>
        <p:spPr>
          <a:xfrm>
            <a:off x="333756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Gemini Flash in Mumbai reads every page in parallel</a:t>
            </a:r>
          </a:p>
          <a:p>
            <a:pPr marL="146304" indent="-146304" algn="l">
              <a:spcBef>
                <a:spcPts val="0"/>
              </a:spcBef>
              <a:spcAft>
                <a:spcPts val="300"/>
              </a:spcAft>
              <a:buFont typeface="Arial"/>
              <a:buChar char="•"/>
            </a:pPr>
            <a:r>
              <a:rPr sz="1000" b="0" i="0">
                <a:solidFill>
                  <a:srgbClr val="202124"/>
                </a:solidFill>
                <a:latin typeface="Arial"/>
              </a:rPr>
              <a:t>Numbers copied as printed, never corrected</a:t>
            </a:r>
          </a:p>
          <a:p>
            <a:pPr marL="146304" indent="-146304" algn="l">
              <a:spcBef>
                <a:spcPts val="0"/>
              </a:spcBef>
              <a:spcAft>
                <a:spcPts val="300"/>
              </a:spcAft>
              <a:buFont typeface="Arial"/>
              <a:buChar char="•"/>
            </a:pPr>
            <a:r>
              <a:rPr sz="1000" b="0" i="0">
                <a:solidFill>
                  <a:srgbClr val="202124"/>
                </a:solidFill>
                <a:latin typeface="Arial"/>
              </a:rPr>
              <a:t>A page that does not add up is read again</a:t>
            </a:r>
          </a:p>
        </p:txBody>
      </p:sp>
      <p:sp>
        <p:nvSpPr>
          <p:cNvPr id="98" name="feat_2"/>
          <p:cNvSpPr/>
          <p:nvPr/>
        </p:nvSpPr>
        <p:spPr>
          <a:xfrm>
            <a:off x="6080759" y="1188720"/>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feat_2_circle"/>
          <p:cNvSpPr/>
          <p:nvPr/>
        </p:nvSpPr>
        <p:spPr>
          <a:xfrm>
            <a:off x="621792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0" name="feat_2_icon" descr="calc_w.png"/>
          <p:cNvPicPr>
            <a:picLocks noChangeAspect="1"/>
          </p:cNvPicPr>
          <p:nvPr/>
        </p:nvPicPr>
        <p:blipFill>
          <a:blip r:embed="rId7"/>
          <a:stretch>
            <a:fillRect/>
          </a:stretch>
        </p:blipFill>
        <p:spPr>
          <a:xfrm>
            <a:off x="6302410" y="1410370"/>
            <a:ext cx="215066" cy="215066"/>
          </a:xfrm>
          <a:prstGeom prst="rect">
            <a:avLst/>
          </a:prstGeom>
        </p:spPr>
      </p:pic>
      <p:sp>
        <p:nvSpPr>
          <p:cNvPr id="101" name="TextBox 100"/>
          <p:cNvSpPr txBox="1"/>
          <p:nvPr/>
        </p:nvSpPr>
        <p:spPr>
          <a:xfrm>
            <a:off x="6702551" y="132588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Checks on every source</a:t>
            </a:r>
          </a:p>
        </p:txBody>
      </p:sp>
      <p:sp>
        <p:nvSpPr>
          <p:cNvPr id="102" name="TextBox 101"/>
          <p:cNvSpPr txBox="1"/>
          <p:nvPr/>
        </p:nvSpPr>
        <p:spPr>
          <a:xfrm>
            <a:off x="6217920" y="1792224"/>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Nine checks: balances, totals, slips, file history</a:t>
            </a:r>
          </a:p>
          <a:p>
            <a:pPr marL="146304" indent="-146304" algn="l">
              <a:spcBef>
                <a:spcPts val="0"/>
              </a:spcBef>
              <a:spcAft>
                <a:spcPts val="300"/>
              </a:spcAft>
              <a:buFont typeface="Arial"/>
              <a:buChar char="•"/>
            </a:pPr>
            <a:r>
              <a:rPr sz="1000" b="0" i="0">
                <a:solidFill>
                  <a:srgbClr val="202124"/>
                </a:solidFill>
                <a:latin typeface="Arial"/>
              </a:rPr>
              <a:t>Statement vs the bank's Account Aggregator record</a:t>
            </a:r>
          </a:p>
          <a:p>
            <a:pPr marL="146304" indent="-146304" algn="l">
              <a:spcBef>
                <a:spcPts val="0"/>
              </a:spcBef>
              <a:spcAft>
                <a:spcPts val="300"/>
              </a:spcAft>
              <a:buFont typeface="Arial"/>
              <a:buChar char="•"/>
            </a:pPr>
            <a:r>
              <a:rPr sz="1000" b="0" i="0">
                <a:solidFill>
                  <a:srgbClr val="202124"/>
                </a:solidFill>
                <a:latin typeface="Arial"/>
              </a:rPr>
              <a:t>Bank risk flags: pass-through, cash, bounces</a:t>
            </a:r>
          </a:p>
        </p:txBody>
      </p:sp>
      <p:sp>
        <p:nvSpPr>
          <p:cNvPr id="103" name="feat_3"/>
          <p:cNvSpPr/>
          <p:nvPr/>
        </p:nvSpPr>
        <p:spPr>
          <a:xfrm>
            <a:off x="32004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feat_3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5" name="feat_3_icon" descr="ring_w.png"/>
          <p:cNvPicPr>
            <a:picLocks noChangeAspect="1"/>
          </p:cNvPicPr>
          <p:nvPr/>
        </p:nvPicPr>
        <p:blipFill>
          <a:blip r:embed="rId8"/>
          <a:stretch>
            <a:fillRect/>
          </a:stretch>
        </p:blipFill>
        <p:spPr>
          <a:xfrm>
            <a:off x="541690" y="3303178"/>
            <a:ext cx="215066" cy="215066"/>
          </a:xfrm>
          <a:prstGeom prst="rect">
            <a:avLst/>
          </a:prstGeom>
        </p:spPr>
      </p:pic>
      <p:sp>
        <p:nvSpPr>
          <p:cNvPr id="106" name="TextBox 105"/>
          <p:cNvSpPr txBox="1"/>
          <p:nvPr/>
        </p:nvSpPr>
        <p:spPr>
          <a:xfrm>
            <a:off x="941832"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Linked customers</a:t>
            </a:r>
          </a:p>
        </p:txBody>
      </p:sp>
      <p:sp>
        <p:nvSpPr>
          <p:cNvPr id="107" name="TextBox 106"/>
          <p:cNvSpPr txBox="1"/>
          <p:nvPr/>
        </p:nvSpPr>
        <p:spPr>
          <a:xfrm>
            <a:off x="45720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Same file, template or salary account</a:t>
            </a:r>
          </a:p>
          <a:p>
            <a:pPr marL="146304" indent="-146304" algn="l">
              <a:spcBef>
                <a:spcPts val="0"/>
              </a:spcBef>
              <a:spcAft>
                <a:spcPts val="300"/>
              </a:spcAft>
              <a:buFont typeface="Arial"/>
              <a:buChar char="•"/>
            </a:pPr>
            <a:r>
              <a:rPr sz="1000" b="0" i="0">
                <a:solidFill>
                  <a:srgbClr val="202124"/>
                </a:solidFill>
                <a:latin typeface="Arial"/>
              </a:rPr>
              <a:t>Same director, mobile, email or address</a:t>
            </a:r>
          </a:p>
          <a:p>
            <a:pPr marL="146304" indent="-146304" algn="l">
              <a:spcBef>
                <a:spcPts val="0"/>
              </a:spcBef>
              <a:spcAft>
                <a:spcPts val="300"/>
              </a:spcAft>
              <a:buFont typeface="Arial"/>
              <a:buChar char="•"/>
            </a:pPr>
            <a:r>
              <a:rPr sz="1000" b="0" i="0">
                <a:solidFill>
                  <a:srgbClr val="202124"/>
                </a:solidFill>
                <a:latin typeface="Arial"/>
              </a:rPr>
              <a:t>Circular trading in GST invoices</a:t>
            </a:r>
          </a:p>
        </p:txBody>
      </p:sp>
      <p:sp>
        <p:nvSpPr>
          <p:cNvPr id="108" name="feat_4"/>
          <p:cNvSpPr/>
          <p:nvPr/>
        </p:nvSpPr>
        <p:spPr>
          <a:xfrm>
            <a:off x="3200400"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feat_4_circle"/>
          <p:cNvSpPr/>
          <p:nvPr/>
        </p:nvSpPr>
        <p:spPr>
          <a:xfrm>
            <a:off x="333756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feat_4_icon" descr="bot_w.png"/>
          <p:cNvPicPr>
            <a:picLocks noChangeAspect="1"/>
          </p:cNvPicPr>
          <p:nvPr/>
        </p:nvPicPr>
        <p:blipFill>
          <a:blip r:embed="rId9"/>
          <a:stretch>
            <a:fillRect/>
          </a:stretch>
        </p:blipFill>
        <p:spPr>
          <a:xfrm>
            <a:off x="3422050" y="3303178"/>
            <a:ext cx="215066" cy="215066"/>
          </a:xfrm>
          <a:prstGeom prst="rect">
            <a:avLst/>
          </a:prstGeom>
        </p:spPr>
      </p:pic>
      <p:sp>
        <p:nvSpPr>
          <p:cNvPr id="111" name="TextBox 110"/>
          <p:cNvSpPr txBox="1"/>
          <p:nvPr/>
        </p:nvSpPr>
        <p:spPr>
          <a:xfrm>
            <a:off x="3822191"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investigator, grounded</a:t>
            </a:r>
          </a:p>
        </p:txBody>
      </p:sp>
      <p:sp>
        <p:nvSpPr>
          <p:cNvPr id="112" name="TextBox 111"/>
          <p:cNvSpPr txBox="1"/>
          <p:nvPr/>
        </p:nvSpPr>
        <p:spPr>
          <a:xfrm>
            <a:off x="333756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Gemini Pro with tools bound to one customer</a:t>
            </a:r>
          </a:p>
          <a:p>
            <a:pPr marL="146304" indent="-146304" algn="l">
              <a:spcBef>
                <a:spcPts val="0"/>
              </a:spcBef>
              <a:spcAft>
                <a:spcPts val="300"/>
              </a:spcAft>
              <a:buFont typeface="Arial"/>
              <a:buChar char="•"/>
            </a:pPr>
            <a:r>
              <a:rPr sz="1000" b="0" i="0">
                <a:solidFill>
                  <a:srgbClr val="202124"/>
                </a:solidFill>
                <a:latin typeface="Arial"/>
              </a:rPr>
              <a:t>Every claim cites rows; amounts must trace</a:t>
            </a:r>
          </a:p>
          <a:p>
            <a:pPr marL="146304" indent="-146304" algn="l">
              <a:spcBef>
                <a:spcPts val="0"/>
              </a:spcBef>
              <a:spcAft>
                <a:spcPts val="300"/>
              </a:spcAft>
              <a:buFont typeface="Arial"/>
              <a:buChar char="•"/>
            </a:pPr>
            <a:r>
              <a:rPr sz="1000" b="0" i="0">
                <a:solidFill>
                  <a:srgbClr val="202124"/>
                </a:solidFill>
                <a:latin typeface="Arial"/>
              </a:rPr>
              <a:t>Rejected claims shown, never hidden</a:t>
            </a:r>
          </a:p>
        </p:txBody>
      </p:sp>
      <p:sp>
        <p:nvSpPr>
          <p:cNvPr id="113" name="feat_5"/>
          <p:cNvSpPr/>
          <p:nvPr/>
        </p:nvSpPr>
        <p:spPr>
          <a:xfrm>
            <a:off x="6080759" y="3081528"/>
            <a:ext cx="274320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feat_5_circle"/>
          <p:cNvSpPr/>
          <p:nvPr/>
        </p:nvSpPr>
        <p:spPr>
          <a:xfrm>
            <a:off x="621792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5" name="feat_5_icon" descr="rupee_w.png"/>
          <p:cNvPicPr>
            <a:picLocks noChangeAspect="1"/>
          </p:cNvPicPr>
          <p:nvPr/>
        </p:nvPicPr>
        <p:blipFill>
          <a:blip r:embed="rId10"/>
          <a:stretch>
            <a:fillRect/>
          </a:stretch>
        </p:blipFill>
        <p:spPr>
          <a:xfrm>
            <a:off x="6302410" y="3303178"/>
            <a:ext cx="215066" cy="215066"/>
          </a:xfrm>
          <a:prstGeom prst="rect">
            <a:avLst/>
          </a:prstGeom>
        </p:spPr>
      </p:pic>
      <p:sp>
        <p:nvSpPr>
          <p:cNvPr id="116" name="TextBox 115"/>
          <p:cNvSpPr txBox="1"/>
          <p:nvPr/>
        </p:nvSpPr>
        <p:spPr>
          <a:xfrm>
            <a:off x="6702551" y="3218688"/>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credit decision</a:t>
            </a:r>
          </a:p>
        </p:txBody>
      </p:sp>
      <p:sp>
        <p:nvSpPr>
          <p:cNvPr id="117" name="TextBox 116"/>
          <p:cNvSpPr txBox="1"/>
          <p:nvPr/>
        </p:nvSpPr>
        <p:spPr>
          <a:xfrm>
            <a:off x="6217920" y="3685032"/>
            <a:ext cx="246888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Credit capacity (FOIR) computed in code</a:t>
            </a:r>
          </a:p>
          <a:p>
            <a:pPr marL="146304" indent="-146304" algn="l">
              <a:spcBef>
                <a:spcPts val="0"/>
              </a:spcBef>
              <a:spcAft>
                <a:spcPts val="300"/>
              </a:spcAft>
              <a:buFont typeface="Arial"/>
              <a:buChar char="•"/>
            </a:pPr>
            <a:r>
              <a:rPr sz="1000" b="0" i="0">
                <a:solidFill>
                  <a:srgbClr val="202124"/>
                </a:solidFill>
                <a:latin typeface="Arial"/>
              </a:rPr>
              <a:t>Gemini Pro decides within it, citing policy</a:t>
            </a:r>
          </a:p>
          <a:p>
            <a:pPr marL="146304" indent="-146304" algn="l">
              <a:spcBef>
                <a:spcPts val="0"/>
              </a:spcBef>
              <a:spcAft>
                <a:spcPts val="300"/>
              </a:spcAft>
              <a:buFont typeface="Arial"/>
              <a:buChar char="•"/>
            </a:pPr>
            <a:r>
              <a:rPr sz="1000" b="0" i="0">
                <a:solidFill>
                  <a:srgbClr val="202124"/>
                </a:solidFill>
                <a:latin typeface="Arial"/>
              </a:rPr>
              <a:t>Accepted decisions go to LOS, ULI or ONDC</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a:t>
            </a:r>
            <a:endParaRPr sz="1600">
              <a:latin typeface="Google Sans Flex Medium"/>
              <a:ea typeface="Google Sans Flex Medium"/>
              <a:cs typeface="Google Sans Flex Medium"/>
              <a:sym typeface="Google Sans Flex Medium"/>
            </a:endParaRPr>
          </a:p>
        </p:txBody>
      </p:sp>
      <p:sp>
        <p:nvSpPr>
          <p:cNvPr id="96" name="step_0"/>
          <p:cNvSpPr/>
          <p:nvPr/>
        </p:nvSpPr>
        <p:spPr>
          <a:xfrm>
            <a:off x="32004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step_0_circle"/>
          <p:cNvSpPr/>
          <p:nvPr/>
        </p:nvSpPr>
        <p:spPr>
          <a:xfrm>
            <a:off x="62636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8" name="step_0_icon" descr="upload_w.png"/>
          <p:cNvPicPr>
            <a:picLocks noChangeAspect="1"/>
          </p:cNvPicPr>
          <p:nvPr/>
        </p:nvPicPr>
        <p:blipFill>
          <a:blip r:embed="rId5"/>
          <a:stretch>
            <a:fillRect/>
          </a:stretch>
        </p:blipFill>
        <p:spPr>
          <a:xfrm>
            <a:off x="726947" y="1472184"/>
            <a:ext cx="256032" cy="256032"/>
          </a:xfrm>
          <a:prstGeom prst="rect">
            <a:avLst/>
          </a:prstGeom>
        </p:spPr>
      </p:pic>
      <p:sp>
        <p:nvSpPr>
          <p:cNvPr id="99" name="TextBox 98"/>
          <p:cNvSpPr txBox="1"/>
          <p:nvPr/>
        </p:nvSpPr>
        <p:spPr>
          <a:xfrm>
            <a:off x="374904"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1. Share</a:t>
            </a:r>
          </a:p>
        </p:txBody>
      </p:sp>
      <p:sp>
        <p:nvSpPr>
          <p:cNvPr id="100" name="TextBox 99"/>
          <p:cNvSpPr txBox="1"/>
          <p:nvPr/>
        </p:nvSpPr>
        <p:spPr>
          <a:xfrm>
            <a:off x="393192"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AA consent; GST, ITR, MCA; uploads</a:t>
            </a:r>
          </a:p>
        </p:txBody>
      </p:sp>
      <p:cxnSp>
        <p:nvCxnSpPr>
          <p:cNvPr id="101" name="Connector 100"/>
          <p:cNvCxnSpPr/>
          <p:nvPr/>
        </p:nvCxnSpPr>
        <p:spPr>
          <a:xfrm>
            <a:off x="140817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step_1"/>
          <p:cNvSpPr/>
          <p:nvPr/>
        </p:nvSpPr>
        <p:spPr>
          <a:xfrm>
            <a:off x="1559052"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step_1_circle"/>
          <p:cNvSpPr/>
          <p:nvPr/>
        </p:nvSpPr>
        <p:spPr>
          <a:xfrm>
            <a:off x="1865376"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4" name="step_1_icon" descr="scan_w.png"/>
          <p:cNvPicPr>
            <a:picLocks noChangeAspect="1"/>
          </p:cNvPicPr>
          <p:nvPr/>
        </p:nvPicPr>
        <p:blipFill>
          <a:blip r:embed="rId6"/>
          <a:stretch>
            <a:fillRect/>
          </a:stretch>
        </p:blipFill>
        <p:spPr>
          <a:xfrm>
            <a:off x="1965960" y="1472184"/>
            <a:ext cx="256032" cy="256032"/>
          </a:xfrm>
          <a:prstGeom prst="rect">
            <a:avLst/>
          </a:prstGeom>
        </p:spPr>
      </p:pic>
      <p:sp>
        <p:nvSpPr>
          <p:cNvPr id="105" name="TextBox 104"/>
          <p:cNvSpPr txBox="1"/>
          <p:nvPr/>
        </p:nvSpPr>
        <p:spPr>
          <a:xfrm>
            <a:off x="1613916"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2. Extract</a:t>
            </a:r>
          </a:p>
        </p:txBody>
      </p:sp>
      <p:sp>
        <p:nvSpPr>
          <p:cNvPr id="106" name="TextBox 105"/>
          <p:cNvSpPr txBox="1"/>
          <p:nvPr/>
        </p:nvSpPr>
        <p:spPr>
          <a:xfrm>
            <a:off x="1632204"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Gemini Flash reads every page in Mumbai</a:t>
            </a:r>
          </a:p>
        </p:txBody>
      </p:sp>
      <p:cxnSp>
        <p:nvCxnSpPr>
          <p:cNvPr id="107" name="Connector 106"/>
          <p:cNvCxnSpPr/>
          <p:nvPr/>
        </p:nvCxnSpPr>
        <p:spPr>
          <a:xfrm>
            <a:off x="2647188"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 name="step_2"/>
          <p:cNvSpPr/>
          <p:nvPr/>
        </p:nvSpPr>
        <p:spPr>
          <a:xfrm>
            <a:off x="2798064"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step_2_circle"/>
          <p:cNvSpPr/>
          <p:nvPr/>
        </p:nvSpPr>
        <p:spPr>
          <a:xfrm>
            <a:off x="3104388"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step_2_icon" descr="calc_w.png"/>
          <p:cNvPicPr>
            <a:picLocks noChangeAspect="1"/>
          </p:cNvPicPr>
          <p:nvPr/>
        </p:nvPicPr>
        <p:blipFill>
          <a:blip r:embed="rId7"/>
          <a:stretch>
            <a:fillRect/>
          </a:stretch>
        </p:blipFill>
        <p:spPr>
          <a:xfrm>
            <a:off x="3204972" y="1472184"/>
            <a:ext cx="256032" cy="256032"/>
          </a:xfrm>
          <a:prstGeom prst="rect">
            <a:avLst/>
          </a:prstGeom>
        </p:spPr>
      </p:pic>
      <p:sp>
        <p:nvSpPr>
          <p:cNvPr id="111" name="TextBox 110"/>
          <p:cNvSpPr txBox="1"/>
          <p:nvPr/>
        </p:nvSpPr>
        <p:spPr>
          <a:xfrm>
            <a:off x="2852928"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3. Check</a:t>
            </a:r>
          </a:p>
        </p:txBody>
      </p:sp>
      <p:sp>
        <p:nvSpPr>
          <p:cNvPr id="112" name="TextBox 111"/>
          <p:cNvSpPr txBox="1"/>
          <p:nvPr/>
        </p:nvSpPr>
        <p:spPr>
          <a:xfrm>
            <a:off x="2871216"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Nine checks, bank record, bank risk flags</a:t>
            </a:r>
          </a:p>
        </p:txBody>
      </p:sp>
      <p:cxnSp>
        <p:nvCxnSpPr>
          <p:cNvPr id="113" name="Connector 112"/>
          <p:cNvCxnSpPr/>
          <p:nvPr/>
        </p:nvCxnSpPr>
        <p:spPr>
          <a:xfrm>
            <a:off x="3886200"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4" name="step_3"/>
          <p:cNvSpPr/>
          <p:nvPr/>
        </p:nvSpPr>
        <p:spPr>
          <a:xfrm>
            <a:off x="4037075"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step_3_circle"/>
          <p:cNvSpPr/>
          <p:nvPr/>
        </p:nvSpPr>
        <p:spPr>
          <a:xfrm>
            <a:off x="4343399"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6" name="step_3_icon" descr="ring_w.png"/>
          <p:cNvPicPr>
            <a:picLocks noChangeAspect="1"/>
          </p:cNvPicPr>
          <p:nvPr/>
        </p:nvPicPr>
        <p:blipFill>
          <a:blip r:embed="rId8"/>
          <a:stretch>
            <a:fillRect/>
          </a:stretch>
        </p:blipFill>
        <p:spPr>
          <a:xfrm>
            <a:off x="4443983" y="1472184"/>
            <a:ext cx="256032" cy="256032"/>
          </a:xfrm>
          <a:prstGeom prst="rect">
            <a:avLst/>
          </a:prstGeom>
        </p:spPr>
      </p:pic>
      <p:sp>
        <p:nvSpPr>
          <p:cNvPr id="117" name="TextBox 116"/>
          <p:cNvSpPr txBox="1"/>
          <p:nvPr/>
        </p:nvSpPr>
        <p:spPr>
          <a:xfrm>
            <a:off x="4091939"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4. Link</a:t>
            </a:r>
          </a:p>
        </p:txBody>
      </p:sp>
      <p:sp>
        <p:nvSpPr>
          <p:cNvPr id="118" name="TextBox 117"/>
          <p:cNvSpPr txBox="1"/>
          <p:nvPr/>
        </p:nvSpPr>
        <p:spPr>
          <a:xfrm>
            <a:off x="4110227"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Directors, contacts, files, GST loops</a:t>
            </a:r>
          </a:p>
        </p:txBody>
      </p:sp>
      <p:cxnSp>
        <p:nvCxnSpPr>
          <p:cNvPr id="119" name="Connector 118"/>
          <p:cNvCxnSpPr/>
          <p:nvPr/>
        </p:nvCxnSpPr>
        <p:spPr>
          <a:xfrm>
            <a:off x="5125211"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step_4"/>
          <p:cNvSpPr/>
          <p:nvPr/>
        </p:nvSpPr>
        <p:spPr>
          <a:xfrm>
            <a:off x="5276088"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step_4_circle"/>
          <p:cNvSpPr/>
          <p:nvPr/>
        </p:nvSpPr>
        <p:spPr>
          <a:xfrm>
            <a:off x="5582412"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step_4_icon" descr="bot_w.png"/>
          <p:cNvPicPr>
            <a:picLocks noChangeAspect="1"/>
          </p:cNvPicPr>
          <p:nvPr/>
        </p:nvPicPr>
        <p:blipFill>
          <a:blip r:embed="rId9"/>
          <a:stretch>
            <a:fillRect/>
          </a:stretch>
        </p:blipFill>
        <p:spPr>
          <a:xfrm>
            <a:off x="5682996" y="1472184"/>
            <a:ext cx="256032" cy="256032"/>
          </a:xfrm>
          <a:prstGeom prst="rect">
            <a:avLst/>
          </a:prstGeom>
        </p:spPr>
      </p:pic>
      <p:sp>
        <p:nvSpPr>
          <p:cNvPr id="123" name="TextBox 122"/>
          <p:cNvSpPr txBox="1"/>
          <p:nvPr/>
        </p:nvSpPr>
        <p:spPr>
          <a:xfrm>
            <a:off x="5330951"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5. Investigate</a:t>
            </a:r>
          </a:p>
        </p:txBody>
      </p:sp>
      <p:sp>
        <p:nvSpPr>
          <p:cNvPr id="124" name="TextBox 123"/>
          <p:cNvSpPr txBox="1"/>
          <p:nvPr/>
        </p:nvSpPr>
        <p:spPr>
          <a:xfrm>
            <a:off x="5349240"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Gemini Pro agent; every claim verified</a:t>
            </a:r>
          </a:p>
        </p:txBody>
      </p:sp>
      <p:cxnSp>
        <p:nvCxnSpPr>
          <p:cNvPr id="125" name="Connector 124"/>
          <p:cNvCxnSpPr/>
          <p:nvPr/>
        </p:nvCxnSpPr>
        <p:spPr>
          <a:xfrm>
            <a:off x="6364223" y="2075688"/>
            <a:ext cx="132589"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6" name="step_5"/>
          <p:cNvSpPr/>
          <p:nvPr/>
        </p:nvSpPr>
        <p:spPr>
          <a:xfrm>
            <a:off x="6515100"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step_5_circle"/>
          <p:cNvSpPr/>
          <p:nvPr/>
        </p:nvSpPr>
        <p:spPr>
          <a:xfrm>
            <a:off x="6821424" y="1371600"/>
            <a:ext cx="457200" cy="45720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8" name="step_5_icon" descr="review_w.png"/>
          <p:cNvPicPr>
            <a:picLocks noChangeAspect="1"/>
          </p:cNvPicPr>
          <p:nvPr/>
        </p:nvPicPr>
        <p:blipFill>
          <a:blip r:embed="rId10"/>
          <a:stretch>
            <a:fillRect/>
          </a:stretch>
        </p:blipFill>
        <p:spPr>
          <a:xfrm>
            <a:off x="6922008" y="1472184"/>
            <a:ext cx="256032" cy="256032"/>
          </a:xfrm>
          <a:prstGeom prst="rect">
            <a:avLst/>
          </a:prstGeom>
        </p:spPr>
      </p:pic>
      <p:sp>
        <p:nvSpPr>
          <p:cNvPr id="129" name="TextBox 128"/>
          <p:cNvSpPr txBox="1"/>
          <p:nvPr/>
        </p:nvSpPr>
        <p:spPr>
          <a:xfrm>
            <a:off x="6569964"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6. Risk Lens</a:t>
            </a:r>
          </a:p>
        </p:txBody>
      </p:sp>
      <p:sp>
        <p:nvSpPr>
          <p:cNvPr id="130" name="TextBox 129"/>
          <p:cNvSpPr txBox="1"/>
          <p:nvPr/>
        </p:nvSpPr>
        <p:spPr>
          <a:xfrm>
            <a:off x="6588252"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Verdict per customer; officer reviews</a:t>
            </a:r>
          </a:p>
        </p:txBody>
      </p:sp>
      <p:cxnSp>
        <p:nvCxnSpPr>
          <p:cNvPr id="131" name="Connector 130"/>
          <p:cNvCxnSpPr/>
          <p:nvPr/>
        </p:nvCxnSpPr>
        <p:spPr>
          <a:xfrm>
            <a:off x="7603236" y="2075688"/>
            <a:ext cx="13258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2" name="step_6"/>
          <p:cNvSpPr/>
          <p:nvPr/>
        </p:nvSpPr>
        <p:spPr>
          <a:xfrm>
            <a:off x="7754111" y="1234440"/>
            <a:ext cx="1069848" cy="169164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step_6_circle"/>
          <p:cNvSpPr/>
          <p:nvPr/>
        </p:nvSpPr>
        <p:spPr>
          <a:xfrm>
            <a:off x="8060435" y="1371600"/>
            <a:ext cx="457200" cy="45720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4" name="step_6_icon" descr="rupee_w.png"/>
          <p:cNvPicPr>
            <a:picLocks noChangeAspect="1"/>
          </p:cNvPicPr>
          <p:nvPr/>
        </p:nvPicPr>
        <p:blipFill>
          <a:blip r:embed="rId11"/>
          <a:stretch>
            <a:fillRect/>
          </a:stretch>
        </p:blipFill>
        <p:spPr>
          <a:xfrm>
            <a:off x="8161019" y="1472184"/>
            <a:ext cx="256032" cy="256032"/>
          </a:xfrm>
          <a:prstGeom prst="rect">
            <a:avLst/>
          </a:prstGeom>
        </p:spPr>
      </p:pic>
      <p:sp>
        <p:nvSpPr>
          <p:cNvPr id="135" name="TextBox 134"/>
          <p:cNvSpPr txBox="1"/>
          <p:nvPr/>
        </p:nvSpPr>
        <p:spPr>
          <a:xfrm>
            <a:off x="7808975" y="1901952"/>
            <a:ext cx="960119" cy="256032"/>
          </a:xfrm>
          <a:prstGeom prst="rect">
            <a:avLst/>
          </a:prstGeom>
          <a:noFill/>
        </p:spPr>
        <p:txBody>
          <a:bodyPr wrap="square" lIns="0" tIns="0" rIns="0" bIns="0" anchor="t">
            <a:noAutofit/>
          </a:bodyPr>
          <a:lstStyle/>
          <a:p>
            <a:pPr algn="ctr">
              <a:spcBef>
                <a:spcPts val="0"/>
              </a:spcBef>
              <a:spcAft>
                <a:spcPts val="300"/>
              </a:spcAft>
            </a:pPr>
            <a:r>
              <a:rPr sz="1100" b="1" i="0">
                <a:solidFill>
                  <a:srgbClr val="202124"/>
                </a:solidFill>
                <a:latin typeface="Arial"/>
              </a:rPr>
              <a:t>7. Decide</a:t>
            </a:r>
          </a:p>
        </p:txBody>
      </p:sp>
      <p:sp>
        <p:nvSpPr>
          <p:cNvPr id="136" name="TextBox 135"/>
          <p:cNvSpPr txBox="1"/>
          <p:nvPr/>
        </p:nvSpPr>
        <p:spPr>
          <a:xfrm>
            <a:off x="7827263" y="2176272"/>
            <a:ext cx="923544" cy="713232"/>
          </a:xfrm>
          <a:prstGeom prst="rect">
            <a:avLst/>
          </a:prstGeom>
          <a:noFill/>
        </p:spPr>
        <p:txBody>
          <a:bodyPr wrap="square" lIns="0" tIns="0" rIns="0" bIns="0" anchor="t">
            <a:noAutofit/>
          </a:bodyPr>
          <a:lstStyle/>
          <a:p>
            <a:pPr algn="ctr">
              <a:spcBef>
                <a:spcPts val="0"/>
              </a:spcBef>
              <a:spcAft>
                <a:spcPts val="300"/>
              </a:spcAft>
            </a:pPr>
            <a:r>
              <a:rPr sz="950" b="0" i="0">
                <a:solidFill>
                  <a:srgbClr val="5F6368"/>
                </a:solidFill>
                <a:latin typeface="Arial"/>
              </a:rPr>
              <a:t>AI credit decision → LOS · ULI · ONDC</a:t>
            </a:r>
          </a:p>
        </p:txBody>
      </p:sp>
      <p:sp>
        <p:nvSpPr>
          <p:cNvPr id="137" name="TextBox 136"/>
          <p:cNvSpPr txBox="1"/>
          <p:nvPr/>
        </p:nvSpPr>
        <p:spPr>
          <a:xfrm>
            <a:off x="320040" y="3063239"/>
            <a:ext cx="3657600" cy="228600"/>
          </a:xfrm>
          <a:prstGeom prst="rect">
            <a:avLst/>
          </a:prstGeom>
          <a:noFill/>
        </p:spPr>
        <p:txBody>
          <a:bodyPr wrap="square" lIns="0" tIns="0" rIns="0" bIns="0" anchor="t">
            <a:noAutofit/>
          </a:bodyPr>
          <a:lstStyle/>
          <a:p>
            <a:pPr algn="l">
              <a:spcBef>
                <a:spcPts val="0"/>
              </a:spcBef>
              <a:spcAft>
                <a:spcPts val="300"/>
              </a:spcAft>
            </a:pPr>
            <a:r>
              <a:rPr sz="950" b="0" i="0">
                <a:solidFill>
                  <a:srgbClr val="1A73E8"/>
                </a:solidFill>
                <a:latin typeface="Arial"/>
              </a:rPr>
              <a:t>■ </a:t>
            </a:r>
            <a:r>
              <a:rPr sz="950" b="0" i="0">
                <a:solidFill>
                  <a:srgbClr val="5F6368"/>
                </a:solidFill>
                <a:latin typeface="Arial"/>
              </a:rPr>
              <a:t>Gemini on Vertex AI   </a:t>
            </a:r>
            <a:r>
              <a:rPr sz="950" b="0" i="0">
                <a:solidFill>
                  <a:srgbClr val="7A1230"/>
                </a:solidFill>
                <a:latin typeface="Arial"/>
              </a:rPr>
              <a:t>■ </a:t>
            </a:r>
            <a:r>
              <a:rPr sz="950" b="0" i="0">
                <a:solidFill>
                  <a:srgbClr val="5F6368"/>
                </a:solidFill>
                <a:latin typeface="Arial"/>
              </a:rPr>
              <a:t>Deterministic code</a:t>
            </a:r>
          </a:p>
        </p:txBody>
      </p:sp>
      <p:sp>
        <p:nvSpPr>
          <p:cNvPr id="138" name="actor_0"/>
          <p:cNvSpPr/>
          <p:nvPr/>
        </p:nvSpPr>
        <p:spPr>
          <a:xfrm>
            <a:off x="32004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actor_0_circle"/>
          <p:cNvSpPr/>
          <p:nvPr/>
        </p:nvSpPr>
        <p:spPr>
          <a:xfrm>
            <a:off x="45720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actor_0_icon" descr="bank_w.png"/>
          <p:cNvPicPr>
            <a:picLocks noChangeAspect="1"/>
          </p:cNvPicPr>
          <p:nvPr/>
        </p:nvPicPr>
        <p:blipFill>
          <a:blip r:embed="rId12"/>
          <a:stretch>
            <a:fillRect/>
          </a:stretch>
        </p:blipFill>
        <p:spPr>
          <a:xfrm>
            <a:off x="541690" y="3650650"/>
            <a:ext cx="215066" cy="215066"/>
          </a:xfrm>
          <a:prstGeom prst="rect">
            <a:avLst/>
          </a:prstGeom>
        </p:spPr>
      </p:pic>
      <p:sp>
        <p:nvSpPr>
          <p:cNvPr id="141" name="TextBox 140"/>
          <p:cNvSpPr txBox="1"/>
          <p:nvPr/>
        </p:nvSpPr>
        <p:spPr>
          <a:xfrm>
            <a:off x="941832"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Customer (MSME)</a:t>
            </a:r>
          </a:p>
        </p:txBody>
      </p:sp>
      <p:sp>
        <p:nvSpPr>
          <p:cNvPr id="142" name="TextBox 141"/>
          <p:cNvSpPr txBox="1"/>
          <p:nvPr/>
        </p:nvSpPr>
        <p:spPr>
          <a:xfrm>
            <a:off x="45720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Registers with the Udyam number, shares bank data through Account Aggregator, fetches GST, ITR and MCA, uploads documents</a:t>
            </a:r>
          </a:p>
        </p:txBody>
      </p:sp>
      <p:sp>
        <p:nvSpPr>
          <p:cNvPr id="143" name="actor_1"/>
          <p:cNvSpPr/>
          <p:nvPr/>
        </p:nvSpPr>
        <p:spPr>
          <a:xfrm>
            <a:off x="3200400"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actor_1_circle"/>
          <p:cNvSpPr/>
          <p:nvPr/>
        </p:nvSpPr>
        <p:spPr>
          <a:xfrm>
            <a:off x="333756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5" name="actor_1_icon" descr="users_w.png"/>
          <p:cNvPicPr>
            <a:picLocks noChangeAspect="1"/>
          </p:cNvPicPr>
          <p:nvPr/>
        </p:nvPicPr>
        <p:blipFill>
          <a:blip r:embed="rId13"/>
          <a:stretch>
            <a:fillRect/>
          </a:stretch>
        </p:blipFill>
        <p:spPr>
          <a:xfrm>
            <a:off x="3422050" y="3650650"/>
            <a:ext cx="215066" cy="215066"/>
          </a:xfrm>
          <a:prstGeom prst="rect">
            <a:avLst/>
          </a:prstGeom>
        </p:spPr>
      </p:pic>
      <p:sp>
        <p:nvSpPr>
          <p:cNvPr id="146" name="TextBox 145"/>
          <p:cNvSpPr txBox="1"/>
          <p:nvPr/>
        </p:nvSpPr>
        <p:spPr>
          <a:xfrm>
            <a:off x="3822191"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Credit officer</a:t>
            </a:r>
          </a:p>
        </p:txBody>
      </p:sp>
      <p:sp>
        <p:nvSpPr>
          <p:cNvPr id="147" name="TextBox 146"/>
          <p:cNvSpPr txBox="1"/>
          <p:nvPr/>
        </p:nvSpPr>
        <p:spPr>
          <a:xfrm>
            <a:off x="333756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One Risk Lens per customer: reviews each finding, generates and accepts the credit decision, sends the loan case</a:t>
            </a:r>
          </a:p>
        </p:txBody>
      </p:sp>
      <p:sp>
        <p:nvSpPr>
          <p:cNvPr id="148" name="actor_2"/>
          <p:cNvSpPr/>
          <p:nvPr/>
        </p:nvSpPr>
        <p:spPr>
          <a:xfrm>
            <a:off x="6080759" y="3429000"/>
            <a:ext cx="2743200" cy="1417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actor_2_circle"/>
          <p:cNvSpPr/>
          <p:nvPr/>
        </p:nvSpPr>
        <p:spPr>
          <a:xfrm>
            <a:off x="6217920" y="3566160"/>
            <a:ext cx="384048" cy="384048"/>
          </a:xfrm>
          <a:prstGeom prst="ellipse">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0" name="actor_2_icon" descr="globe_w.png"/>
          <p:cNvPicPr>
            <a:picLocks noChangeAspect="1"/>
          </p:cNvPicPr>
          <p:nvPr/>
        </p:nvPicPr>
        <p:blipFill>
          <a:blip r:embed="rId14"/>
          <a:stretch>
            <a:fillRect/>
          </a:stretch>
        </p:blipFill>
        <p:spPr>
          <a:xfrm>
            <a:off x="6302410" y="3650650"/>
            <a:ext cx="215066" cy="215066"/>
          </a:xfrm>
          <a:prstGeom prst="rect">
            <a:avLst/>
          </a:prstGeom>
        </p:spPr>
      </p:pic>
      <p:sp>
        <p:nvSpPr>
          <p:cNvPr id="151" name="TextBox 150"/>
          <p:cNvSpPr txBox="1"/>
          <p:nvPr/>
        </p:nvSpPr>
        <p:spPr>
          <a:xfrm>
            <a:off x="6702551" y="3566160"/>
            <a:ext cx="201168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LOS · ULI · ONDC</a:t>
            </a:r>
          </a:p>
        </p:txBody>
      </p:sp>
      <p:sp>
        <p:nvSpPr>
          <p:cNvPr id="152" name="TextBox 151"/>
          <p:cNvSpPr txBox="1"/>
          <p:nvPr/>
        </p:nvSpPr>
        <p:spPr>
          <a:xfrm>
            <a:off x="6217920" y="4023360"/>
            <a:ext cx="2468880" cy="77724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Receive the accepted loan case with its risk assessment and the AI credit decision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 — a finding on the Risk Lens</a:t>
            </a:r>
            <a:endParaRPr sz="1600">
              <a:latin typeface="Google Sans Flex Medium"/>
              <a:ea typeface="Google Sans Flex Medium"/>
              <a:cs typeface="Google Sans Flex Medium"/>
              <a:sym typeface="Google Sans Flex Medium"/>
            </a:endParaRPr>
          </a:p>
        </p:txBody>
      </p:sp>
      <p:sp>
        <p:nvSpPr>
          <p:cNvPr id="104" name="mock_card"/>
          <p:cNvSpPr/>
          <p:nvPr/>
        </p:nvSpPr>
        <p:spPr>
          <a:xfrm>
            <a:off x="320040" y="1188720"/>
            <a:ext cx="5257800" cy="37033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mock_sev"/>
          <p:cNvSpPr/>
          <p:nvPr/>
        </p:nvSpPr>
        <p:spPr>
          <a:xfrm>
            <a:off x="548640" y="1353312"/>
            <a:ext cx="502920" cy="219456"/>
          </a:xfrm>
          <a:prstGeom prst="roundRect">
            <a:avLst>
              <a:gd name="adj" fmla="val 30000"/>
            </a:avLst>
          </a:prstGeom>
          <a:solidFill>
            <a:srgbClr val="C522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48640" y="1353312"/>
            <a:ext cx="502920" cy="219456"/>
          </a:xfrm>
          <a:prstGeom prst="rect">
            <a:avLst/>
          </a:prstGeom>
          <a:noFill/>
        </p:spPr>
        <p:txBody>
          <a:bodyPr wrap="square" lIns="0" tIns="0" rIns="0" bIns="0" anchor="ctr">
            <a:noAutofit/>
          </a:bodyPr>
          <a:lstStyle/>
          <a:p>
            <a:pPr algn="ctr">
              <a:spcBef>
                <a:spcPts val="0"/>
              </a:spcBef>
              <a:spcAft>
                <a:spcPts val="300"/>
              </a:spcAft>
            </a:pPr>
            <a:r>
              <a:rPr sz="900" b="1" i="0">
                <a:solidFill>
                  <a:srgbClr val="FFFFFF"/>
                </a:solidFill>
                <a:latin typeface="Arial"/>
              </a:rPr>
              <a:t>HIGH</a:t>
            </a:r>
          </a:p>
        </p:txBody>
      </p:sp>
      <p:sp>
        <p:nvSpPr>
          <p:cNvPr id="107" name="TextBox 106"/>
          <p:cNvSpPr txBox="1"/>
          <p:nvPr/>
        </p:nvSpPr>
        <p:spPr>
          <a:xfrm>
            <a:off x="1143000" y="1353312"/>
            <a:ext cx="4206240" cy="219456"/>
          </a:xfrm>
          <a:prstGeom prst="rect">
            <a:avLst/>
          </a:prstGeom>
          <a:noFill/>
        </p:spPr>
        <p:txBody>
          <a:bodyPr wrap="square" lIns="0" tIns="0" rIns="0" bIns="0" anchor="ctr">
            <a:noAutofit/>
          </a:bodyPr>
          <a:lstStyle/>
          <a:p>
            <a:pPr algn="l">
              <a:spcBef>
                <a:spcPts val="0"/>
              </a:spcBef>
              <a:spcAft>
                <a:spcPts val="300"/>
              </a:spcAft>
            </a:pPr>
            <a:r>
              <a:rPr sz="900" b="0" i="0">
                <a:solidFill>
                  <a:srgbClr val="5F6368"/>
                </a:solidFill>
                <a:latin typeface="Arial"/>
              </a:rPr>
              <a:t>Tampering   STATEMENT_VS_AA_MISMATCH   Deterministic</a:t>
            </a:r>
          </a:p>
        </p:txBody>
      </p:sp>
      <p:sp>
        <p:nvSpPr>
          <p:cNvPr id="108" name="TextBox 107"/>
          <p:cNvSpPr txBox="1"/>
          <p:nvPr/>
        </p:nvSpPr>
        <p:spPr>
          <a:xfrm>
            <a:off x="548640" y="1691640"/>
            <a:ext cx="4846320" cy="274320"/>
          </a:xfrm>
          <a:prstGeom prst="rect">
            <a:avLst/>
          </a:prstGeom>
          <a:noFill/>
        </p:spPr>
        <p:txBody>
          <a:bodyPr wrap="square" lIns="0" tIns="0" rIns="0" bIns="0" anchor="t">
            <a:noAutofit/>
          </a:bodyPr>
          <a:lstStyle/>
          <a:p>
            <a:pPr algn="l">
              <a:spcBef>
                <a:spcPts val="0"/>
              </a:spcBef>
              <a:spcAft>
                <a:spcPts val="300"/>
              </a:spcAft>
            </a:pPr>
            <a:r>
              <a:rPr sz="1250" b="1" i="0">
                <a:solidFill>
                  <a:srgbClr val="202124"/>
                </a:solidFill>
                <a:latin typeface="Arial"/>
              </a:rPr>
              <a:t>Statement disagrees with the bank's own record</a:t>
            </a:r>
          </a:p>
        </p:txBody>
      </p:sp>
      <p:sp>
        <p:nvSpPr>
          <p:cNvPr id="109" name="TextBox 108"/>
          <p:cNvSpPr txBox="1"/>
          <p:nvPr/>
        </p:nvSpPr>
        <p:spPr>
          <a:xfrm>
            <a:off x="548640" y="2011680"/>
            <a:ext cx="4846320" cy="86868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91 of 93 rows agree with the bank's Account Aggregator record, with 2 amounts changed and 4 transactions left out. Net effect: ₹3,65,800 more in credits and ₹1,30,000 less in debits than the bank recorded.</a:t>
            </a:r>
          </a:p>
        </p:txBody>
      </p:sp>
      <p:sp>
        <p:nvSpPr>
          <p:cNvPr id="110" name="TextBox 109"/>
          <p:cNvSpPr txBox="1"/>
          <p:nvPr/>
        </p:nvSpPr>
        <p:spPr>
          <a:xfrm>
            <a:off x="548640" y="2670048"/>
            <a:ext cx="4846320" cy="411480"/>
          </a:xfrm>
          <a:prstGeom prst="rect">
            <a:avLst/>
          </a:prstGeom>
          <a:noFill/>
        </p:spPr>
        <p:txBody>
          <a:bodyPr wrap="square" lIns="0" tIns="0" rIns="0" bIns="0" anchor="t">
            <a:noAutofit/>
          </a:bodyPr>
          <a:lstStyle/>
          <a:p>
            <a:pPr algn="l">
              <a:spcBef>
                <a:spcPts val="0"/>
              </a:spcBef>
              <a:spcAft>
                <a:spcPts val="300"/>
              </a:spcAft>
            </a:pPr>
            <a:r>
              <a:rPr sz="1000" b="0" i="0">
                <a:solidFill>
                  <a:srgbClr val="202124"/>
                </a:solidFill>
                <a:latin typeface="Arial"/>
              </a:rPr>
              <a:t>↳ </a:t>
            </a:r>
            <a:r>
              <a:rPr sz="1000" b="1" i="0">
                <a:solidFill>
                  <a:srgbClr val="202124"/>
                </a:solidFill>
                <a:latin typeface="Arial"/>
              </a:rPr>
              <a:t>Assess the customer on the Account Aggregator data and ask them to explain every difference.</a:t>
            </a:r>
          </a:p>
        </p:txBody>
      </p:sp>
      <p:sp>
        <p:nvSpPr>
          <p:cNvPr id="111" name="TextBox 110"/>
          <p:cNvSpPr txBox="1"/>
          <p:nvPr/>
        </p:nvSpPr>
        <p:spPr>
          <a:xfrm>
            <a:off x="548640" y="3291839"/>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2 · row 28 — bank recorded ₹1,09,500</a:t>
            </a:r>
          </a:p>
        </p:txBody>
      </p:sp>
      <p:sp>
        <p:nvSpPr>
          <p:cNvPr id="112" name="TextBox 111"/>
          <p:cNvSpPr txBox="1"/>
          <p:nvPr/>
        </p:nvSpPr>
        <p:spPr>
          <a:xfrm>
            <a:off x="548640" y="3602735"/>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3 · row 54 — bank recorded ₹73,400</a:t>
            </a:r>
          </a:p>
        </p:txBody>
      </p:sp>
      <p:sp>
        <p:nvSpPr>
          <p:cNvPr id="113" name="TextBox 112"/>
          <p:cNvSpPr txBox="1"/>
          <p:nvPr/>
        </p:nvSpPr>
        <p:spPr>
          <a:xfrm>
            <a:off x="548640" y="3913631"/>
            <a:ext cx="4846320" cy="256032"/>
          </a:xfrm>
          <a:prstGeom prst="rect">
            <a:avLst/>
          </a:prstGeom>
          <a:noFill/>
        </p:spPr>
        <p:txBody>
          <a:bodyPr wrap="square" lIns="0" tIns="0" rIns="0" bIns="0" anchor="t">
            <a:noAutofit/>
          </a:bodyPr>
          <a:lstStyle/>
          <a:p>
            <a:pPr algn="l">
              <a:spcBef>
                <a:spcPts val="0"/>
              </a:spcBef>
              <a:spcAft>
                <a:spcPts val="300"/>
              </a:spcAft>
            </a:pPr>
            <a:r>
              <a:rPr sz="950" b="1" i="0">
                <a:solidFill>
                  <a:srgbClr val="7A1230"/>
                </a:solidFill>
                <a:latin typeface="Arial"/>
              </a:rPr>
              <a:t>↗ </a:t>
            </a:r>
            <a:r>
              <a:rPr sz="950" b="0" i="0">
                <a:solidFill>
                  <a:srgbClr val="5F6368"/>
                </a:solidFill>
                <a:latin typeface="Arial"/>
              </a:rPr>
              <a:t>statement.pdf, p. 1 · 05 Jun NACH EMI ₹32,500 — not on the statement</a:t>
            </a:r>
          </a:p>
        </p:txBody>
      </p:sp>
      <p:sp>
        <p:nvSpPr>
          <p:cNvPr id="114" name="mock_note"/>
          <p:cNvSpPr/>
          <p:nvPr/>
        </p:nvSpPr>
        <p:spPr>
          <a:xfrm>
            <a:off x="548640" y="4343400"/>
            <a:ext cx="329184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640080" y="4343400"/>
            <a:ext cx="3108960" cy="329184"/>
          </a:xfrm>
          <a:prstGeom prst="rect">
            <a:avLst/>
          </a:prstGeom>
          <a:noFill/>
        </p:spPr>
        <p:txBody>
          <a:bodyPr wrap="square" lIns="0" tIns="0" rIns="0" bIns="0" anchor="ctr">
            <a:noAutofit/>
          </a:bodyPr>
          <a:lstStyle/>
          <a:p>
            <a:pPr algn="l">
              <a:spcBef>
                <a:spcPts val="0"/>
              </a:spcBef>
              <a:spcAft>
                <a:spcPts val="300"/>
              </a:spcAft>
            </a:pPr>
            <a:r>
              <a:rPr sz="900" b="0" i="0">
                <a:solidFill>
                  <a:srgbClr val="5F6368"/>
                </a:solidFill>
                <a:latin typeface="Arial"/>
              </a:rPr>
              <a:t>Note for the review (optional)</a:t>
            </a:r>
          </a:p>
        </p:txBody>
      </p:sp>
      <p:sp>
        <p:nvSpPr>
          <p:cNvPr id="116" name="mock_confirm"/>
          <p:cNvSpPr/>
          <p:nvPr/>
        </p:nvSpPr>
        <p:spPr>
          <a:xfrm>
            <a:off x="3931920" y="4343400"/>
            <a:ext cx="731520" cy="329184"/>
          </a:xfrm>
          <a:prstGeom prst="roundRect">
            <a:avLst>
              <a:gd name="adj" fmla="val 6000"/>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3931920" y="4343400"/>
            <a:ext cx="731520" cy="329184"/>
          </a:xfrm>
          <a:prstGeom prst="rect">
            <a:avLst/>
          </a:prstGeom>
          <a:noFill/>
        </p:spPr>
        <p:txBody>
          <a:bodyPr wrap="square" lIns="0" tIns="0" rIns="0" bIns="0" anchor="ctr">
            <a:noAutofit/>
          </a:bodyPr>
          <a:lstStyle/>
          <a:p>
            <a:pPr algn="ctr">
              <a:spcBef>
                <a:spcPts val="0"/>
              </a:spcBef>
              <a:spcAft>
                <a:spcPts val="300"/>
              </a:spcAft>
            </a:pPr>
            <a:r>
              <a:rPr sz="950" b="1" i="0">
                <a:solidFill>
                  <a:srgbClr val="FFFFFF"/>
                </a:solidFill>
                <a:latin typeface="Arial"/>
              </a:rPr>
              <a:t>Confirm</a:t>
            </a:r>
          </a:p>
        </p:txBody>
      </p:sp>
      <p:sp>
        <p:nvSpPr>
          <p:cNvPr id="118" name="mock_dismiss"/>
          <p:cNvSpPr/>
          <p:nvPr/>
        </p:nvSpPr>
        <p:spPr>
          <a:xfrm>
            <a:off x="4736592" y="4343400"/>
            <a:ext cx="685800" cy="329184"/>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Box 118"/>
          <p:cNvSpPr txBox="1"/>
          <p:nvPr/>
        </p:nvSpPr>
        <p:spPr>
          <a:xfrm>
            <a:off x="4736592" y="4343400"/>
            <a:ext cx="685800" cy="329184"/>
          </a:xfrm>
          <a:prstGeom prst="rect">
            <a:avLst/>
          </a:prstGeom>
          <a:noFill/>
        </p:spPr>
        <p:txBody>
          <a:bodyPr wrap="square" lIns="0" tIns="0" rIns="0" bIns="0" anchor="ctr">
            <a:noAutofit/>
          </a:bodyPr>
          <a:lstStyle/>
          <a:p>
            <a:pPr algn="ctr">
              <a:spcBef>
                <a:spcPts val="0"/>
              </a:spcBef>
              <a:spcAft>
                <a:spcPts val="300"/>
              </a:spcAft>
            </a:pPr>
            <a:r>
              <a:rPr sz="950" b="0" i="0">
                <a:solidFill>
                  <a:srgbClr val="202124"/>
                </a:solidFill>
                <a:latin typeface="Arial"/>
              </a:rPr>
              <a:t>Dismiss</a:t>
            </a:r>
          </a:p>
        </p:txBody>
      </p:sp>
      <p:sp>
        <p:nvSpPr>
          <p:cNvPr id="120" name="callout_0"/>
          <p:cNvSpPr/>
          <p:nvPr/>
        </p:nvSpPr>
        <p:spPr>
          <a:xfrm>
            <a:off x="5806440" y="144475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5806440" y="144475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1</a:t>
            </a:r>
          </a:p>
        </p:txBody>
      </p:sp>
      <p:sp>
        <p:nvSpPr>
          <p:cNvPr id="122" name="TextBox 121"/>
          <p:cNvSpPr txBox="1"/>
          <p:nvPr/>
        </p:nvSpPr>
        <p:spPr>
          <a:xfrm>
            <a:off x="6199632" y="140817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Severity, category, type and source</a:t>
            </a:r>
          </a:p>
        </p:txBody>
      </p:sp>
      <p:sp>
        <p:nvSpPr>
          <p:cNvPr id="123" name="TextBox 122"/>
          <p:cNvSpPr txBox="1"/>
          <p:nvPr/>
        </p:nvSpPr>
        <p:spPr>
          <a:xfrm>
            <a:off x="6199632" y="161848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Deterministic or AI · verified</a:t>
            </a:r>
          </a:p>
        </p:txBody>
      </p:sp>
      <p:cxnSp>
        <p:nvCxnSpPr>
          <p:cNvPr id="124" name="Connector 123"/>
          <p:cNvCxnSpPr/>
          <p:nvPr/>
        </p:nvCxnSpPr>
        <p:spPr>
          <a:xfrm flipH="1">
            <a:off x="5614416" y="158191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callout_1"/>
          <p:cNvSpPr/>
          <p:nvPr/>
        </p:nvSpPr>
        <p:spPr>
          <a:xfrm>
            <a:off x="5806440" y="203911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Box 125"/>
          <p:cNvSpPr txBox="1"/>
          <p:nvPr/>
        </p:nvSpPr>
        <p:spPr>
          <a:xfrm>
            <a:off x="5806440" y="203911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2</a:t>
            </a:r>
          </a:p>
        </p:txBody>
      </p:sp>
      <p:sp>
        <p:nvSpPr>
          <p:cNvPr id="127" name="TextBox 126"/>
          <p:cNvSpPr txBox="1"/>
          <p:nvPr/>
        </p:nvSpPr>
        <p:spPr>
          <a:xfrm>
            <a:off x="6199632" y="200253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What is wrong, in rupees</a:t>
            </a:r>
          </a:p>
        </p:txBody>
      </p:sp>
      <p:sp>
        <p:nvSpPr>
          <p:cNvPr id="128" name="TextBox 127"/>
          <p:cNvSpPr txBox="1"/>
          <p:nvPr/>
        </p:nvSpPr>
        <p:spPr>
          <a:xfrm>
            <a:off x="6199632" y="221284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Plain language a credit officer can act on</a:t>
            </a:r>
          </a:p>
        </p:txBody>
      </p:sp>
      <p:cxnSp>
        <p:nvCxnSpPr>
          <p:cNvPr id="129" name="Connector 128"/>
          <p:cNvCxnSpPr/>
          <p:nvPr/>
        </p:nvCxnSpPr>
        <p:spPr>
          <a:xfrm flipH="1">
            <a:off x="5614416" y="217627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callout_2"/>
          <p:cNvSpPr/>
          <p:nvPr/>
        </p:nvSpPr>
        <p:spPr>
          <a:xfrm>
            <a:off x="5806440" y="2688336"/>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Box 130"/>
          <p:cNvSpPr txBox="1"/>
          <p:nvPr/>
        </p:nvSpPr>
        <p:spPr>
          <a:xfrm>
            <a:off x="5806440" y="2688336"/>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3</a:t>
            </a:r>
          </a:p>
        </p:txBody>
      </p:sp>
      <p:sp>
        <p:nvSpPr>
          <p:cNvPr id="132" name="TextBox 131"/>
          <p:cNvSpPr txBox="1"/>
          <p:nvPr/>
        </p:nvSpPr>
        <p:spPr>
          <a:xfrm>
            <a:off x="6199632" y="2651760"/>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What to do next</a:t>
            </a:r>
          </a:p>
        </p:txBody>
      </p:sp>
      <p:sp>
        <p:nvSpPr>
          <p:cNvPr id="133" name="TextBox 132"/>
          <p:cNvSpPr txBox="1"/>
          <p:nvPr/>
        </p:nvSpPr>
        <p:spPr>
          <a:xfrm>
            <a:off x="6199632" y="2862072"/>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Names the policy clause when one applies</a:t>
            </a:r>
          </a:p>
        </p:txBody>
      </p:sp>
      <p:cxnSp>
        <p:nvCxnSpPr>
          <p:cNvPr id="134" name="Connector 133"/>
          <p:cNvCxnSpPr/>
          <p:nvPr/>
        </p:nvCxnSpPr>
        <p:spPr>
          <a:xfrm flipH="1">
            <a:off x="5614416" y="2825496"/>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callout_3"/>
          <p:cNvSpPr/>
          <p:nvPr/>
        </p:nvSpPr>
        <p:spPr>
          <a:xfrm>
            <a:off x="5806440" y="3429000"/>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5806440" y="3429000"/>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4</a:t>
            </a:r>
          </a:p>
        </p:txBody>
      </p:sp>
      <p:sp>
        <p:nvSpPr>
          <p:cNvPr id="137" name="TextBox 136"/>
          <p:cNvSpPr txBox="1"/>
          <p:nvPr/>
        </p:nvSpPr>
        <p:spPr>
          <a:xfrm>
            <a:off x="6199632" y="3392424"/>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Evidence links</a:t>
            </a:r>
          </a:p>
        </p:txBody>
      </p:sp>
      <p:sp>
        <p:nvSpPr>
          <p:cNvPr id="138" name="TextBox 137"/>
          <p:cNvSpPr txBox="1"/>
          <p:nvPr/>
        </p:nvSpPr>
        <p:spPr>
          <a:xfrm>
            <a:off x="6199632" y="3602736"/>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Open the document at that page; rows, fields or policy</a:t>
            </a:r>
          </a:p>
        </p:txBody>
      </p:sp>
      <p:cxnSp>
        <p:nvCxnSpPr>
          <p:cNvPr id="139" name="Connector 138"/>
          <p:cNvCxnSpPr/>
          <p:nvPr/>
        </p:nvCxnSpPr>
        <p:spPr>
          <a:xfrm flipH="1">
            <a:off x="5614416" y="3566160"/>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callout_4"/>
          <p:cNvSpPr/>
          <p:nvPr/>
        </p:nvSpPr>
        <p:spPr>
          <a:xfrm>
            <a:off x="5806440" y="4462272"/>
            <a:ext cx="274320" cy="274320"/>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Box 140"/>
          <p:cNvSpPr txBox="1"/>
          <p:nvPr/>
        </p:nvSpPr>
        <p:spPr>
          <a:xfrm>
            <a:off x="5806440" y="4462272"/>
            <a:ext cx="274320" cy="274320"/>
          </a:xfrm>
          <a:prstGeom prst="rect">
            <a:avLst/>
          </a:prstGeom>
          <a:noFill/>
        </p:spPr>
        <p:txBody>
          <a:bodyPr wrap="square" lIns="0" tIns="0" rIns="0" bIns="0" anchor="ctr">
            <a:noAutofit/>
          </a:bodyPr>
          <a:lstStyle/>
          <a:p>
            <a:pPr algn="ctr">
              <a:spcBef>
                <a:spcPts val="0"/>
              </a:spcBef>
              <a:spcAft>
                <a:spcPts val="300"/>
              </a:spcAft>
            </a:pPr>
            <a:r>
              <a:rPr sz="1000" b="1" i="0">
                <a:solidFill>
                  <a:srgbClr val="FFFFFF"/>
                </a:solidFill>
                <a:latin typeface="Arial"/>
              </a:rPr>
              <a:t>5</a:t>
            </a:r>
          </a:p>
        </p:txBody>
      </p:sp>
      <p:sp>
        <p:nvSpPr>
          <p:cNvPr id="142" name="TextBox 141"/>
          <p:cNvSpPr txBox="1"/>
          <p:nvPr/>
        </p:nvSpPr>
        <p:spPr>
          <a:xfrm>
            <a:off x="6199632" y="4425696"/>
            <a:ext cx="2651760" cy="228600"/>
          </a:xfrm>
          <a:prstGeom prst="rect">
            <a:avLst/>
          </a:prstGeom>
          <a:noFill/>
        </p:spPr>
        <p:txBody>
          <a:bodyPr wrap="square" lIns="0" tIns="0" rIns="0" bIns="0" anchor="t">
            <a:noAutofit/>
          </a:bodyPr>
          <a:lstStyle/>
          <a:p>
            <a:pPr algn="l">
              <a:spcBef>
                <a:spcPts val="0"/>
              </a:spcBef>
              <a:spcAft>
                <a:spcPts val="300"/>
              </a:spcAft>
            </a:pPr>
            <a:r>
              <a:rPr sz="1050" b="1" i="0">
                <a:solidFill>
                  <a:srgbClr val="202124"/>
                </a:solidFill>
                <a:latin typeface="Arial"/>
              </a:rPr>
              <a:t>Review in one click</a:t>
            </a:r>
          </a:p>
        </p:txBody>
      </p:sp>
      <p:sp>
        <p:nvSpPr>
          <p:cNvPr id="143" name="TextBox 142"/>
          <p:cNvSpPr txBox="1"/>
          <p:nvPr/>
        </p:nvSpPr>
        <p:spPr>
          <a:xfrm>
            <a:off x="6199632" y="4636008"/>
            <a:ext cx="2651760" cy="365760"/>
          </a:xfrm>
          <a:prstGeom prst="rect">
            <a:avLst/>
          </a:prstGeom>
          <a:noFill/>
        </p:spPr>
        <p:txBody>
          <a:bodyPr wrap="square" lIns="0" tIns="0" rIns="0" bIns="0" anchor="t">
            <a:noAutofit/>
          </a:bodyPr>
          <a:lstStyle/>
          <a:p>
            <a:pPr algn="l">
              <a:spcBef>
                <a:spcPts val="0"/>
              </a:spcBef>
              <a:spcAft>
                <a:spcPts val="300"/>
              </a:spcAft>
            </a:pPr>
            <a:r>
              <a:rPr sz="950" b="0" i="0">
                <a:solidFill>
                  <a:srgbClr val="5F6368"/>
                </a:solidFill>
                <a:latin typeface="Arial"/>
              </a:rPr>
              <a:t>A confirmed finding blocks the loan case; a dismissed one does not</a:t>
            </a:r>
          </a:p>
        </p:txBody>
      </p:sp>
      <p:cxnSp>
        <p:nvCxnSpPr>
          <p:cNvPr id="144" name="Connector 143"/>
          <p:cNvCxnSpPr/>
          <p:nvPr/>
        </p:nvCxnSpPr>
        <p:spPr>
          <a:xfrm flipH="1">
            <a:off x="5614416" y="4599432"/>
            <a:ext cx="173736" cy="0"/>
          </a:xfrm>
          <a:prstGeom prst="line">
            <a:avLst/>
          </a:prstGeom>
          <a:ln w="12700">
            <a:solidFill>
              <a:srgbClr val="DADCE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arch_user_0"/>
          <p:cNvSpPr/>
          <p:nvPr/>
        </p:nvSpPr>
        <p:spPr>
          <a:xfrm>
            <a:off x="32004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411479"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Customer (MSME)</a:t>
            </a:r>
          </a:p>
        </p:txBody>
      </p:sp>
      <p:sp>
        <p:nvSpPr>
          <p:cNvPr id="114" name="TextBox 113"/>
          <p:cNvSpPr txBox="1"/>
          <p:nvPr/>
        </p:nvSpPr>
        <p:spPr>
          <a:xfrm>
            <a:off x="411479"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Registration · AA consent · fetch and upload</a:t>
            </a:r>
          </a:p>
        </p:txBody>
      </p:sp>
      <p:cxnSp>
        <p:nvCxnSpPr>
          <p:cNvPr id="115" name="Connector 114"/>
          <p:cNvCxnSpPr/>
          <p:nvPr/>
        </p:nvCxnSpPr>
        <p:spPr>
          <a:xfrm>
            <a:off x="169164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arch_user_1"/>
          <p:cNvSpPr/>
          <p:nvPr/>
        </p:nvSpPr>
        <p:spPr>
          <a:xfrm>
            <a:off x="3200400"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116"/>
          <p:cNvSpPr txBox="1"/>
          <p:nvPr/>
        </p:nvSpPr>
        <p:spPr>
          <a:xfrm>
            <a:off x="3291840"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Credit officer</a:t>
            </a:r>
          </a:p>
        </p:txBody>
      </p:sp>
      <p:sp>
        <p:nvSpPr>
          <p:cNvPr id="118" name="TextBox 117"/>
          <p:cNvSpPr txBox="1"/>
          <p:nvPr/>
        </p:nvSpPr>
        <p:spPr>
          <a:xfrm>
            <a:off x="3291840"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Bank portal: Customers · Risk Lens · loan case</a:t>
            </a:r>
          </a:p>
        </p:txBody>
      </p:sp>
      <p:cxnSp>
        <p:nvCxnSpPr>
          <p:cNvPr id="119" name="Connector 118"/>
          <p:cNvCxnSpPr/>
          <p:nvPr/>
        </p:nvCxnSpPr>
        <p:spPr>
          <a:xfrm>
            <a:off x="4572000"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0" name="arch_user_2"/>
          <p:cNvSpPr/>
          <p:nvPr/>
        </p:nvSpPr>
        <p:spPr>
          <a:xfrm>
            <a:off x="6080759" y="1188720"/>
            <a:ext cx="2743200" cy="502920"/>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172199" y="1225296"/>
            <a:ext cx="2560320" cy="228600"/>
          </a:xfrm>
          <a:prstGeom prst="rect">
            <a:avLst/>
          </a:prstGeom>
          <a:noFill/>
        </p:spPr>
        <p:txBody>
          <a:bodyPr wrap="square" lIns="0" tIns="0" rIns="0" bIns="0" anchor="t">
            <a:noAutofit/>
          </a:bodyPr>
          <a:lstStyle/>
          <a:p>
            <a:pPr algn="ctr">
              <a:spcBef>
                <a:spcPts val="0"/>
              </a:spcBef>
              <a:spcAft>
                <a:spcPts val="300"/>
              </a:spcAft>
            </a:pPr>
            <a:r>
              <a:rPr sz="1050" b="1" i="0">
                <a:solidFill>
                  <a:srgbClr val="202124"/>
                </a:solidFill>
                <a:latin typeface="Arial"/>
              </a:rPr>
              <a:t>Source and lending systems</a:t>
            </a:r>
          </a:p>
        </p:txBody>
      </p:sp>
      <p:sp>
        <p:nvSpPr>
          <p:cNvPr id="122" name="TextBox 121"/>
          <p:cNvSpPr txBox="1"/>
          <p:nvPr/>
        </p:nvSpPr>
        <p:spPr>
          <a:xfrm>
            <a:off x="6172199" y="1444752"/>
            <a:ext cx="2560320" cy="228600"/>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AA, GST, ITR, MCA in · LOS, ULI, ONDC out</a:t>
            </a:r>
          </a:p>
        </p:txBody>
      </p:sp>
      <p:cxnSp>
        <p:nvCxnSpPr>
          <p:cNvPr id="123" name="Connector 122"/>
          <p:cNvCxnSpPr/>
          <p:nvPr/>
        </p:nvCxnSpPr>
        <p:spPr>
          <a:xfrm>
            <a:off x="7452359" y="1709928"/>
            <a:ext cx="0" cy="192024"/>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arch_run"/>
          <p:cNvSpPr/>
          <p:nvPr/>
        </p:nvSpPr>
        <p:spPr>
          <a:xfrm>
            <a:off x="320040" y="1920240"/>
            <a:ext cx="8503920" cy="16002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Box 124"/>
          <p:cNvSpPr txBox="1"/>
          <p:nvPr/>
        </p:nvSpPr>
        <p:spPr>
          <a:xfrm>
            <a:off x="457200" y="1975104"/>
            <a:ext cx="8229600" cy="228600"/>
          </a:xfrm>
          <a:prstGeom prst="rect">
            <a:avLst/>
          </a:prstGeom>
          <a:noFill/>
        </p:spPr>
        <p:txBody>
          <a:bodyPr wrap="square" lIns="0" tIns="0" rIns="0" bIns="0" anchor="t">
            <a:noAutofit/>
          </a:bodyPr>
          <a:lstStyle/>
          <a:p>
            <a:pPr algn="l">
              <a:spcBef>
                <a:spcPts val="0"/>
              </a:spcBef>
              <a:spcAft>
                <a:spcPts val="300"/>
              </a:spcAft>
            </a:pPr>
            <a:r>
              <a:rPr sz="1000" b="1" i="0">
                <a:solidFill>
                  <a:srgbClr val="202124"/>
                </a:solidFill>
                <a:latin typeface="Arial"/>
              </a:rPr>
              <a:t>Cloud Run · asia-south1 (Mumbai) — </a:t>
            </a:r>
            <a:r>
              <a:rPr sz="1000" b="0" i="0">
                <a:solidFill>
                  <a:srgbClr val="202124"/>
                </a:solidFill>
                <a:latin typeface="Arial"/>
              </a:rPr>
              <a:t>ASP.NET Core 8, one warm instance, built from source by buildpacks</a:t>
            </a:r>
          </a:p>
        </p:txBody>
      </p:sp>
      <p:sp>
        <p:nvSpPr>
          <p:cNvPr id="126" name="arch_mod_0"/>
          <p:cNvSpPr/>
          <p:nvPr/>
        </p:nvSpPr>
        <p:spPr>
          <a:xfrm>
            <a:off x="4572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51206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Web</a:t>
            </a:r>
          </a:p>
        </p:txBody>
      </p:sp>
      <p:sp>
        <p:nvSpPr>
          <p:cNvPr id="128" name="TextBox 127"/>
          <p:cNvSpPr txBox="1"/>
          <p:nvPr/>
        </p:nvSpPr>
        <p:spPr>
          <a:xfrm>
            <a:off x="51206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Customers, Risk Lens, uploads; loan-case push</a:t>
            </a:r>
          </a:p>
        </p:txBody>
      </p:sp>
      <p:sp>
        <p:nvSpPr>
          <p:cNvPr id="129" name="arch_mod_1"/>
          <p:cNvSpPr/>
          <p:nvPr/>
        </p:nvSpPr>
        <p:spPr>
          <a:xfrm>
            <a:off x="184404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189890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Extractor</a:t>
            </a:r>
          </a:p>
        </p:txBody>
      </p:sp>
      <p:sp>
        <p:nvSpPr>
          <p:cNvPr id="131" name="TextBox 130"/>
          <p:cNvSpPr txBox="1"/>
          <p:nvPr/>
        </p:nvSpPr>
        <p:spPr>
          <a:xfrm>
            <a:off x="189890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Page-parallel reading, re-read on failure</a:t>
            </a:r>
          </a:p>
        </p:txBody>
      </p:sp>
      <p:sp>
        <p:nvSpPr>
          <p:cNvPr id="132" name="arch_mod_2"/>
          <p:cNvSpPr/>
          <p:nvPr/>
        </p:nvSpPr>
        <p:spPr>
          <a:xfrm>
            <a:off x="323088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328574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Checks + network lens</a:t>
            </a:r>
          </a:p>
        </p:txBody>
      </p:sp>
      <p:sp>
        <p:nvSpPr>
          <p:cNvPr id="134" name="TextBox 133"/>
          <p:cNvSpPr txBox="1"/>
          <p:nvPr/>
        </p:nvSpPr>
        <p:spPr>
          <a:xfrm>
            <a:off x="328574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Nine checks, bank flags; links between customers</a:t>
            </a:r>
          </a:p>
        </p:txBody>
      </p:sp>
      <p:sp>
        <p:nvSpPr>
          <p:cNvPr id="135" name="arch_mod_3"/>
          <p:cNvSpPr/>
          <p:nvPr/>
        </p:nvSpPr>
        <p:spPr>
          <a:xfrm>
            <a:off x="461772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467258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Investigator</a:t>
            </a:r>
          </a:p>
        </p:txBody>
      </p:sp>
      <p:sp>
        <p:nvSpPr>
          <p:cNvPr id="137" name="TextBox 136"/>
          <p:cNvSpPr txBox="1"/>
          <p:nvPr/>
        </p:nvSpPr>
        <p:spPr>
          <a:xfrm>
            <a:off x="467258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Function calling, customer-scoped; claims verified</a:t>
            </a:r>
          </a:p>
        </p:txBody>
      </p:sp>
      <p:sp>
        <p:nvSpPr>
          <p:cNvPr id="138" name="arch_mod_4"/>
          <p:cNvSpPr/>
          <p:nvPr/>
        </p:nvSpPr>
        <p:spPr>
          <a:xfrm>
            <a:off x="600456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605942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Credit decision</a:t>
            </a:r>
          </a:p>
        </p:txBody>
      </p:sp>
      <p:sp>
        <p:nvSpPr>
          <p:cNvPr id="140" name="TextBox 139"/>
          <p:cNvSpPr txBox="1"/>
          <p:nvPr/>
        </p:nvSpPr>
        <p:spPr>
          <a:xfrm>
            <a:off x="605942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Capacity in code; Pro decides; figures verified</a:t>
            </a:r>
          </a:p>
        </p:txBody>
      </p:sp>
      <p:sp>
        <p:nvSpPr>
          <p:cNvPr id="141" name="arch_mod_5"/>
          <p:cNvSpPr/>
          <p:nvPr/>
        </p:nvSpPr>
        <p:spPr>
          <a:xfrm>
            <a:off x="7391400" y="2267712"/>
            <a:ext cx="1295400" cy="1115568"/>
          </a:xfrm>
          <a:prstGeom prst="roundRect">
            <a:avLst>
              <a:gd name="adj" fmla="val 6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7446264" y="2322576"/>
            <a:ext cx="1185672" cy="384048"/>
          </a:xfrm>
          <a:prstGeom prst="rect">
            <a:avLst/>
          </a:prstGeom>
          <a:noFill/>
        </p:spPr>
        <p:txBody>
          <a:bodyPr wrap="square" lIns="0" tIns="0" rIns="0" bIns="0" anchor="ctr">
            <a:noAutofit/>
          </a:bodyPr>
          <a:lstStyle/>
          <a:p>
            <a:pPr algn="ctr">
              <a:spcBef>
                <a:spcPts val="0"/>
              </a:spcBef>
              <a:spcAft>
                <a:spcPts val="300"/>
              </a:spcAft>
            </a:pPr>
            <a:r>
              <a:rPr sz="1000" b="1" i="0">
                <a:solidFill>
                  <a:srgbClr val="202124"/>
                </a:solidFill>
                <a:latin typeface="Arial"/>
              </a:rPr>
              <a:t>Knowledge (RAG)</a:t>
            </a:r>
          </a:p>
        </p:txBody>
      </p:sp>
      <p:sp>
        <p:nvSpPr>
          <p:cNvPr id="143" name="TextBox 142"/>
          <p:cNvSpPr txBox="1"/>
          <p:nvPr/>
        </p:nvSpPr>
        <p:spPr>
          <a:xfrm>
            <a:off x="7446264" y="2724912"/>
            <a:ext cx="1185672" cy="621792"/>
          </a:xfrm>
          <a:prstGeom prst="rect">
            <a:avLst/>
          </a:prstGeom>
          <a:noFill/>
        </p:spPr>
        <p:txBody>
          <a:bodyPr wrap="square" lIns="0" tIns="0" rIns="0" bIns="0" anchor="t">
            <a:noAutofit/>
          </a:bodyPr>
          <a:lstStyle/>
          <a:p>
            <a:pPr algn="ctr">
              <a:spcBef>
                <a:spcPts val="0"/>
              </a:spcBef>
              <a:spcAft>
                <a:spcPts val="300"/>
              </a:spcAft>
            </a:pPr>
            <a:r>
              <a:rPr sz="900" b="0" i="0">
                <a:solidFill>
                  <a:srgbClr val="5F6368"/>
                </a:solidFill>
                <a:latin typeface="Arial"/>
              </a:rPr>
              <a:t>tsvector + HNSW, RRF, rerank</a:t>
            </a:r>
          </a:p>
        </p:txBody>
      </p:sp>
      <p:cxnSp>
        <p:nvCxnSpPr>
          <p:cNvPr id="144" name="Connector 143"/>
          <p:cNvCxnSpPr/>
          <p:nvPr/>
        </p:nvCxnSpPr>
        <p:spPr>
          <a:xfrm>
            <a:off x="169164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5" name="arch_svc_0"/>
          <p:cNvSpPr/>
          <p:nvPr/>
        </p:nvSpPr>
        <p:spPr>
          <a:xfrm>
            <a:off x="32004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arch_svc_0_circle"/>
          <p:cNvSpPr/>
          <p:nvPr/>
        </p:nvSpPr>
        <p:spPr>
          <a:xfrm>
            <a:off x="42976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7" name="arch_svc_0_icon" descr="spark_w.png"/>
          <p:cNvPicPr>
            <a:picLocks noChangeAspect="1"/>
          </p:cNvPicPr>
          <p:nvPr/>
        </p:nvPicPr>
        <p:blipFill>
          <a:blip r:embed="rId5"/>
          <a:stretch>
            <a:fillRect/>
          </a:stretch>
        </p:blipFill>
        <p:spPr>
          <a:xfrm>
            <a:off x="510235" y="3966667"/>
            <a:ext cx="204825" cy="204825"/>
          </a:xfrm>
          <a:prstGeom prst="rect">
            <a:avLst/>
          </a:prstGeom>
        </p:spPr>
      </p:pic>
      <p:sp>
        <p:nvSpPr>
          <p:cNvPr id="148" name="TextBox 147"/>
          <p:cNvSpPr txBox="1"/>
          <p:nvPr/>
        </p:nvSpPr>
        <p:spPr>
          <a:xfrm>
            <a:off x="88696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Vertex AI · Gemini</a:t>
            </a:r>
          </a:p>
        </p:txBody>
      </p:sp>
      <p:sp>
        <p:nvSpPr>
          <p:cNvPr id="149" name="TextBox 148"/>
          <p:cNvSpPr txBox="1"/>
          <p:nvPr/>
        </p:nvSpPr>
        <p:spPr>
          <a:xfrm>
            <a:off x="45720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Mumbai: </a:t>
            </a:r>
            <a:r>
              <a:rPr sz="950" b="0" i="0">
                <a:solidFill>
                  <a:srgbClr val="202124"/>
                </a:solidFill>
                <a:latin typeface="Arial"/>
              </a:rPr>
              <a:t>Flash extraction, embeddings</a:t>
            </a:r>
          </a:p>
          <a:p>
            <a:pPr algn="l">
              <a:spcBef>
                <a:spcPts val="0"/>
              </a:spcBef>
              <a:spcAft>
                <a:spcPts val="100"/>
              </a:spcAft>
            </a:pPr>
            <a:r>
              <a:rPr sz="950" b="1" i="0">
                <a:solidFill>
                  <a:srgbClr val="202124"/>
                </a:solidFill>
                <a:latin typeface="Arial"/>
              </a:rPr>
              <a:t>global: </a:t>
            </a:r>
            <a:r>
              <a:rPr sz="950" b="0" i="0">
                <a:solidFill>
                  <a:srgbClr val="202124"/>
                </a:solidFill>
                <a:latin typeface="Arial"/>
              </a:rPr>
              <a:t>Pro investigator and credit decision</a:t>
            </a:r>
          </a:p>
        </p:txBody>
      </p:sp>
      <p:cxnSp>
        <p:nvCxnSpPr>
          <p:cNvPr id="150" name="Connector 149"/>
          <p:cNvCxnSpPr/>
          <p:nvPr/>
        </p:nvCxnSpPr>
        <p:spPr>
          <a:xfrm>
            <a:off x="4572000"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arch_svc_1"/>
          <p:cNvSpPr/>
          <p:nvPr/>
        </p:nvSpPr>
        <p:spPr>
          <a:xfrm>
            <a:off x="3200400"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arch_svc_1_circle"/>
          <p:cNvSpPr/>
          <p:nvPr/>
        </p:nvSpPr>
        <p:spPr>
          <a:xfrm>
            <a:off x="331012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3" name="arch_svc_1_icon" descr="db_w.png"/>
          <p:cNvPicPr>
            <a:picLocks noChangeAspect="1"/>
          </p:cNvPicPr>
          <p:nvPr/>
        </p:nvPicPr>
        <p:blipFill>
          <a:blip r:embed="rId6"/>
          <a:stretch>
            <a:fillRect/>
          </a:stretch>
        </p:blipFill>
        <p:spPr>
          <a:xfrm>
            <a:off x="3390595" y="3966667"/>
            <a:ext cx="204825" cy="204825"/>
          </a:xfrm>
          <a:prstGeom prst="rect">
            <a:avLst/>
          </a:prstGeom>
        </p:spPr>
      </p:pic>
      <p:sp>
        <p:nvSpPr>
          <p:cNvPr id="154" name="TextBox 153"/>
          <p:cNvSpPr txBox="1"/>
          <p:nvPr/>
        </p:nvSpPr>
        <p:spPr>
          <a:xfrm>
            <a:off x="376732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Cloud SQL · PostgreSQL 16</a:t>
            </a:r>
          </a:p>
        </p:txBody>
      </p:sp>
      <p:sp>
        <p:nvSpPr>
          <p:cNvPr id="155" name="TextBox 154"/>
          <p:cNvSpPr txBox="1"/>
          <p:nvPr/>
        </p:nvSpPr>
        <p:spPr>
          <a:xfrm>
            <a:off x="333756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pgvector + full-text: </a:t>
            </a:r>
            <a:r>
              <a:rPr sz="950" b="0" i="0">
                <a:solidFill>
                  <a:srgbClr val="202124"/>
                </a:solidFill>
                <a:latin typeface="Arial"/>
              </a:rPr>
              <a:t>assessments,</a:t>
            </a:r>
          </a:p>
          <a:p>
            <a:pPr algn="l">
              <a:spcBef>
                <a:spcPts val="0"/>
              </a:spcBef>
              <a:spcAft>
                <a:spcPts val="100"/>
              </a:spcAft>
            </a:pPr>
            <a:r>
              <a:rPr sz="950" b="0" i="0">
                <a:solidFill>
                  <a:srgbClr val="202124"/>
                </a:solidFill>
                <a:latin typeface="Arial"/>
              </a:rPr>
              <a:t>findings, credit decisions, knowledge</a:t>
            </a:r>
          </a:p>
        </p:txBody>
      </p:sp>
      <p:cxnSp>
        <p:nvCxnSpPr>
          <p:cNvPr id="156" name="Connector 155"/>
          <p:cNvCxnSpPr/>
          <p:nvPr/>
        </p:nvCxnSpPr>
        <p:spPr>
          <a:xfrm>
            <a:off x="7452359" y="3538728"/>
            <a:ext cx="0" cy="210311"/>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arch_svc_2"/>
          <p:cNvSpPr/>
          <p:nvPr/>
        </p:nvSpPr>
        <p:spPr>
          <a:xfrm>
            <a:off x="6080759" y="3767328"/>
            <a:ext cx="2743200" cy="1097280"/>
          </a:xfrm>
          <a:prstGeom prst="roundRect">
            <a:avLst>
              <a:gd name="adj" fmla="val 6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arch_svc_2_circle"/>
          <p:cNvSpPr/>
          <p:nvPr/>
        </p:nvSpPr>
        <p:spPr>
          <a:xfrm>
            <a:off x="6190488" y="3886200"/>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9" name="arch_svc_2_icon" descr="cloud_w.png"/>
          <p:cNvPicPr>
            <a:picLocks noChangeAspect="1"/>
          </p:cNvPicPr>
          <p:nvPr/>
        </p:nvPicPr>
        <p:blipFill>
          <a:blip r:embed="rId7"/>
          <a:stretch>
            <a:fillRect/>
          </a:stretch>
        </p:blipFill>
        <p:spPr>
          <a:xfrm>
            <a:off x="6270955" y="3966667"/>
            <a:ext cx="204825" cy="204825"/>
          </a:xfrm>
          <a:prstGeom prst="rect">
            <a:avLst/>
          </a:prstGeom>
        </p:spPr>
      </p:pic>
      <p:sp>
        <p:nvSpPr>
          <p:cNvPr id="160" name="TextBox 159"/>
          <p:cNvSpPr txBox="1"/>
          <p:nvPr/>
        </p:nvSpPr>
        <p:spPr>
          <a:xfrm>
            <a:off x="6647688" y="3886200"/>
            <a:ext cx="2103120" cy="365760"/>
          </a:xfrm>
          <a:prstGeom prst="rect">
            <a:avLst/>
          </a:prstGeom>
          <a:noFill/>
        </p:spPr>
        <p:txBody>
          <a:bodyPr wrap="square" lIns="0" tIns="0" rIns="0" bIns="0" anchor="ctr">
            <a:noAutofit/>
          </a:bodyPr>
          <a:lstStyle/>
          <a:p>
            <a:pPr algn="l">
              <a:spcBef>
                <a:spcPts val="0"/>
              </a:spcBef>
              <a:spcAft>
                <a:spcPts val="300"/>
              </a:spcAft>
            </a:pPr>
            <a:r>
              <a:rPr sz="1050" b="1" i="0">
                <a:solidFill>
                  <a:srgbClr val="202124"/>
                </a:solidFill>
                <a:latin typeface="Arial"/>
              </a:rPr>
              <a:t>Cloud Storage · Mumbai</a:t>
            </a:r>
          </a:p>
        </p:txBody>
      </p:sp>
      <p:sp>
        <p:nvSpPr>
          <p:cNvPr id="161" name="TextBox 160"/>
          <p:cNvSpPr txBox="1"/>
          <p:nvPr/>
        </p:nvSpPr>
        <p:spPr>
          <a:xfrm>
            <a:off x="6217920" y="4315968"/>
            <a:ext cx="2514600" cy="502920"/>
          </a:xfrm>
          <a:prstGeom prst="rect">
            <a:avLst/>
          </a:prstGeom>
          <a:noFill/>
        </p:spPr>
        <p:txBody>
          <a:bodyPr wrap="square" lIns="0" tIns="0" rIns="0" bIns="0" anchor="t">
            <a:noAutofit/>
          </a:bodyPr>
          <a:lstStyle/>
          <a:p>
            <a:pPr algn="l">
              <a:spcBef>
                <a:spcPts val="0"/>
              </a:spcBef>
              <a:spcAft>
                <a:spcPts val="100"/>
              </a:spcAft>
            </a:pPr>
            <a:r>
              <a:rPr sz="950" b="1" i="0">
                <a:solidFill>
                  <a:srgbClr val="202124"/>
                </a:solidFill>
                <a:latin typeface="Arial"/>
              </a:rPr>
              <a:t>uploads</a:t>
            </a:r>
            <a:r>
              <a:rPr sz="950" b="0" i="0">
                <a:solidFill>
                  <a:srgbClr val="202124"/>
                </a:solidFill>
                <a:latin typeface="Arial"/>
              </a:rPr>
              <a:t> · </a:t>
            </a:r>
            <a:r>
              <a:rPr sz="950" b="1" i="0">
                <a:solidFill>
                  <a:srgbClr val="202124"/>
                </a:solidFill>
                <a:latin typeface="Arial"/>
              </a:rPr>
              <a:t>sources: </a:t>
            </a:r>
            <a:r>
              <a:rPr sz="950" b="0" i="0">
                <a:solidFill>
                  <a:srgbClr val="202124"/>
                </a:solidFill>
                <a:latin typeface="Arial"/>
              </a:rPr>
              <a:t>AA, GST, ITR</a:t>
            </a:r>
          </a:p>
          <a:p>
            <a:pPr algn="l">
              <a:spcBef>
                <a:spcPts val="0"/>
              </a:spcBef>
              <a:spcAft>
                <a:spcPts val="100"/>
              </a:spcAft>
            </a:pPr>
            <a:r>
              <a:rPr sz="950" b="1" i="0">
                <a:solidFill>
                  <a:srgbClr val="202124"/>
                </a:solidFill>
                <a:latin typeface="Arial"/>
              </a:rPr>
              <a:t>keys: </a:t>
            </a:r>
            <a:r>
              <a:rPr sz="950" b="0" i="0">
                <a:solidFill>
                  <a:srgbClr val="202124"/>
                </a:solidFill>
                <a:latin typeface="Arial"/>
              </a:rPr>
              <a:t>sign-in keys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ch_0_circle"/>
          <p:cNvSpPr/>
          <p:nvPr/>
        </p:nvSpPr>
        <p:spPr>
          <a:xfrm>
            <a:off x="45720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tech_0_icon" descr="cloud_w.png"/>
          <p:cNvPicPr>
            <a:picLocks noChangeAspect="1"/>
          </p:cNvPicPr>
          <p:nvPr/>
        </p:nvPicPr>
        <p:blipFill>
          <a:blip r:embed="rId5"/>
          <a:stretch>
            <a:fillRect/>
          </a:stretch>
        </p:blipFill>
        <p:spPr>
          <a:xfrm>
            <a:off x="541690" y="1410370"/>
            <a:ext cx="215066" cy="215066"/>
          </a:xfrm>
          <a:prstGeom prst="rect">
            <a:avLst/>
          </a:prstGeom>
        </p:spPr>
      </p:pic>
      <p:sp>
        <p:nvSpPr>
          <p:cNvPr id="123" name="TextBox 122"/>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Google Cloud</a:t>
            </a:r>
          </a:p>
        </p:txBody>
      </p:sp>
      <p:sp>
        <p:nvSpPr>
          <p:cNvPr id="124" name="TextBox 123"/>
          <p:cNvSpPr txBox="1"/>
          <p:nvPr/>
        </p:nvSpPr>
        <p:spPr>
          <a:xfrm>
            <a:off x="45720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Vertex AI — Gemini 3.5 Flash (extraction), Gemini 3.1 Pro (investigator, credit decision), Gemini 3.8 Flash (rerank), gemini-embedding-001</a:t>
            </a:r>
          </a:p>
          <a:p>
            <a:pPr marL="146304" indent="-146304" algn="l">
              <a:spcBef>
                <a:spcPts val="0"/>
              </a:spcBef>
              <a:spcAft>
                <a:spcPts val="300"/>
              </a:spcAft>
              <a:buFont typeface="Arial"/>
              <a:buChar char="•"/>
            </a:pPr>
            <a:r>
              <a:rPr sz="1000" b="0" i="0">
                <a:solidFill>
                  <a:srgbClr val="202124"/>
                </a:solidFill>
                <a:latin typeface="Arial"/>
              </a:rPr>
              <a:t>Cloud Run (buildpacks, no Dockerfile) · Cloud Build</a:t>
            </a:r>
          </a:p>
          <a:p>
            <a:pPr marL="146304" indent="-146304" algn="l">
              <a:spcBef>
                <a:spcPts val="0"/>
              </a:spcBef>
              <a:spcAft>
                <a:spcPts val="300"/>
              </a:spcAft>
              <a:buFont typeface="Arial"/>
              <a:buChar char="•"/>
            </a:pPr>
            <a:r>
              <a:rPr sz="1000" b="0" i="0">
                <a:solidFill>
                  <a:srgbClr val="202124"/>
                </a:solidFill>
                <a:latin typeface="Arial"/>
              </a:rPr>
              <a:t>Cloud SQL for PostgreSQL 16 + pgvector · Cloud Storage</a:t>
            </a:r>
          </a:p>
        </p:txBody>
      </p:sp>
      <p:sp>
        <p:nvSpPr>
          <p:cNvPr id="125" name="tech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ch_1_circle"/>
          <p:cNvSpPr/>
          <p:nvPr/>
        </p:nvSpPr>
        <p:spPr>
          <a:xfrm>
            <a:off x="4754880" y="1325880"/>
            <a:ext cx="384048" cy="38404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7" name="tech_1_icon" descr="brain_w.png"/>
          <p:cNvPicPr>
            <a:picLocks noChangeAspect="1"/>
          </p:cNvPicPr>
          <p:nvPr/>
        </p:nvPicPr>
        <p:blipFill>
          <a:blip r:embed="rId6"/>
          <a:stretch>
            <a:fillRect/>
          </a:stretch>
        </p:blipFill>
        <p:spPr>
          <a:xfrm>
            <a:off x="4839370" y="1410370"/>
            <a:ext cx="215066" cy="215066"/>
          </a:xfrm>
          <a:prstGeom prst="rect">
            <a:avLst/>
          </a:prstGeom>
        </p:spPr>
      </p:pic>
      <p:sp>
        <p:nvSpPr>
          <p:cNvPr id="128" name="TextBox 127"/>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AI techniques</a:t>
            </a:r>
          </a:p>
        </p:txBody>
      </p:sp>
      <p:sp>
        <p:nvSpPr>
          <p:cNvPr id="129" name="TextBox 128"/>
          <p:cNvSpPr txBox="1"/>
          <p:nvPr/>
        </p:nvSpPr>
        <p:spPr>
          <a:xfrm>
            <a:off x="475488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Multimodal structured output: PDF and image to a fixed schema</a:t>
            </a:r>
          </a:p>
          <a:p>
            <a:pPr marL="146304" indent="-146304" algn="l">
              <a:spcBef>
                <a:spcPts val="0"/>
              </a:spcBef>
              <a:spcAft>
                <a:spcPts val="300"/>
              </a:spcAft>
              <a:buFont typeface="Arial"/>
              <a:buChar char="•"/>
            </a:pPr>
            <a:r>
              <a:rPr sz="1000" b="0" i="0">
                <a:solidFill>
                  <a:srgbClr val="202124"/>
                </a:solidFill>
                <a:latin typeface="Arial"/>
              </a:rPr>
              <a:t>Function-calling agent with tools bound server-side to one customer</a:t>
            </a:r>
          </a:p>
          <a:p>
            <a:pPr marL="146304" indent="-146304" algn="l">
              <a:spcBef>
                <a:spcPts val="0"/>
              </a:spcBef>
              <a:spcAft>
                <a:spcPts val="300"/>
              </a:spcAft>
              <a:buFont typeface="Arial"/>
              <a:buChar char="•"/>
            </a:pPr>
            <a:r>
              <a:rPr sz="1000" b="0" i="0">
                <a:solidFill>
                  <a:srgbClr val="202124"/>
                </a:solidFill>
                <a:latin typeface="Arial"/>
              </a:rPr>
              <a:t>Grounding verifier · hybrid RAG: full-text + HNSW vectors, reciprocal rank fusion, LLM rerank</a:t>
            </a:r>
          </a:p>
        </p:txBody>
      </p:sp>
      <p:sp>
        <p:nvSpPr>
          <p:cNvPr id="130" name="tech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ch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2" name="tech_2_icon" descr="server_w.png"/>
          <p:cNvPicPr>
            <a:picLocks noChangeAspect="1"/>
          </p:cNvPicPr>
          <p:nvPr/>
        </p:nvPicPr>
        <p:blipFill>
          <a:blip r:embed="rId7"/>
          <a:stretch>
            <a:fillRect/>
          </a:stretch>
        </p:blipFill>
        <p:spPr>
          <a:xfrm>
            <a:off x="541690" y="3303178"/>
            <a:ext cx="215066" cy="215066"/>
          </a:xfrm>
          <a:prstGeom prst="rect">
            <a:avLst/>
          </a:prstGeom>
        </p:spPr>
      </p:pic>
      <p:sp>
        <p:nvSpPr>
          <p:cNvPr id="133" name="TextBox 132"/>
          <p:cNvSpPr txBox="1"/>
          <p:nvPr/>
        </p:nvSpPr>
        <p:spPr>
          <a:xfrm>
            <a:off x="94183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Application</a:t>
            </a:r>
          </a:p>
        </p:txBody>
      </p:sp>
      <p:sp>
        <p:nvSpPr>
          <p:cNvPr id="134" name="TextBox 133"/>
          <p:cNvSpPr txBox="1"/>
          <p:nvPr/>
        </p:nvSpPr>
        <p:spPr>
          <a:xfrm>
            <a:off x="45720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.NET 8 · ASP.NET Core MVC · Razor + Bootstrap 5</a:t>
            </a:r>
          </a:p>
          <a:p>
            <a:pPr marL="146304" indent="-146304" algn="l">
              <a:spcBef>
                <a:spcPts val="0"/>
              </a:spcBef>
              <a:spcAft>
                <a:spcPts val="300"/>
              </a:spcAft>
              <a:buFont typeface="Arial"/>
              <a:buChar char="•"/>
            </a:pPr>
            <a:r>
              <a:rPr sz="1000" b="0" i="0">
                <a:solidFill>
                  <a:srgbClr val="202124"/>
                </a:solidFill>
                <a:latin typeface="Arial"/>
              </a:rPr>
              <a:t>EF Core 8 + Npgsql · Autofac · Serilog</a:t>
            </a:r>
          </a:p>
          <a:p>
            <a:pPr marL="146304" indent="-146304" algn="l">
              <a:spcBef>
                <a:spcPts val="0"/>
              </a:spcBef>
              <a:spcAft>
                <a:spcPts val="300"/>
              </a:spcAft>
              <a:buFont typeface="Arial"/>
              <a:buChar char="•"/>
            </a:pPr>
            <a:r>
              <a:rPr sz="1000" b="0" i="0">
                <a:solidFill>
                  <a:srgbClr val="202124"/>
                </a:solidFill>
                <a:latin typeface="Arial"/>
              </a:rPr>
              <a:t>PdfPig (PDF metadata) · background worker · LOS, ULI (OCEN) and ONDC (beckn) payloads</a:t>
            </a:r>
          </a:p>
        </p:txBody>
      </p:sp>
      <p:sp>
        <p:nvSpPr>
          <p:cNvPr id="135" name="tech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ch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7" name="tech_3_icon" descr="shield_w.png"/>
          <p:cNvPicPr>
            <a:picLocks noChangeAspect="1"/>
          </p:cNvPicPr>
          <p:nvPr/>
        </p:nvPicPr>
        <p:blipFill>
          <a:blip r:embed="rId8"/>
          <a:stretch>
            <a:fillRect/>
          </a:stretch>
        </p:blipFill>
        <p:spPr>
          <a:xfrm>
            <a:off x="4839370" y="3303178"/>
            <a:ext cx="215066" cy="215066"/>
          </a:xfrm>
          <a:prstGeom prst="rect">
            <a:avLst/>
          </a:prstGeom>
        </p:spPr>
      </p:pic>
      <p:sp>
        <p:nvSpPr>
          <p:cNvPr id="138" name="TextBox 137"/>
          <p:cNvSpPr txBox="1"/>
          <p:nvPr/>
        </p:nvSpPr>
        <p:spPr>
          <a:xfrm>
            <a:off x="523951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Data, quality and trust</a:t>
            </a:r>
          </a:p>
        </p:txBody>
      </p:sp>
      <p:sp>
        <p:nvSpPr>
          <p:cNvPr id="139" name="TextBox 138"/>
          <p:cNvSpPr txBox="1"/>
          <p:nvPr/>
        </p:nvSpPr>
        <p:spPr>
          <a:xfrm>
            <a:off x="475488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000" b="0" i="0">
                <a:solidFill>
                  <a:srgbClr val="202124"/>
                </a:solidFill>
                <a:latin typeface="Arial"/>
              </a:rPr>
              <a:t>Account Aggregator on the Finvu sandbox; Udyam, GST, ITR and MCA as sample data in the demo</a:t>
            </a:r>
          </a:p>
          <a:p>
            <a:pPr marL="146304" indent="-146304" algn="l">
              <a:spcBef>
                <a:spcPts val="0"/>
              </a:spcBef>
              <a:spcAft>
                <a:spcPts val="300"/>
              </a:spcAft>
              <a:buFont typeface="Arial"/>
              <a:buChar char="•"/>
            </a:pPr>
            <a:r>
              <a:rPr sz="1000" b="0" i="0">
                <a:solidFill>
                  <a:srgbClr val="202124"/>
                </a:solidFill>
                <a:latin typeface="Arial"/>
              </a:rPr>
              <a:t>QuestPDF synthetic documents with ground truth · 70 xUnit tests</a:t>
            </a:r>
          </a:p>
          <a:p>
            <a:pPr marL="146304" indent="-146304" algn="l">
              <a:spcBef>
                <a:spcPts val="0"/>
              </a:spcBef>
              <a:spcAft>
                <a:spcPts val="300"/>
              </a:spcAft>
              <a:buFont typeface="Arial"/>
              <a:buChar char="•"/>
            </a:pPr>
            <a:r>
              <a:rPr sz="1000" b="0" i="0">
                <a:solidFill>
                  <a:srgbClr val="202124"/>
                </a:solidFill>
                <a:latin typeface="Arial"/>
              </a:rPr>
              <a:t>Secrets outside the public repo · encrypted DB connections 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cost_once"/>
          <p:cNvSpPr/>
          <p:nvPr/>
        </p:nvSpPr>
        <p:spPr>
          <a:xfrm>
            <a:off x="320040"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429768"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18 L</a:t>
            </a:r>
          </a:p>
        </p:txBody>
      </p:sp>
      <p:sp>
        <p:nvSpPr>
          <p:cNvPr id="130" name="TextBox 129"/>
          <p:cNvSpPr txBox="1"/>
          <p:nvPr/>
        </p:nvSpPr>
        <p:spPr>
          <a:xfrm>
            <a:off x="429768"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One-time — production hardening, security and compliance audit</a:t>
            </a:r>
          </a:p>
        </p:txBody>
      </p:sp>
      <p:sp>
        <p:nvSpPr>
          <p:cNvPr id="131" name="cost_year"/>
          <p:cNvSpPr/>
          <p:nvPr/>
        </p:nvSpPr>
        <p:spPr>
          <a:xfrm>
            <a:off x="3218688"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3328416"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32 L / yr</a:t>
            </a:r>
          </a:p>
        </p:txBody>
      </p:sp>
      <p:sp>
        <p:nvSpPr>
          <p:cNvPr id="133" name="TextBox 132"/>
          <p:cNvSpPr txBox="1"/>
          <p:nvPr/>
        </p:nvSpPr>
        <p:spPr>
          <a:xfrm>
            <a:off x="3328416"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Recurring — Google Cloud, Gemini usage, data access, support</a:t>
            </a:r>
          </a:p>
        </p:txBody>
      </p:sp>
      <p:sp>
        <p:nvSpPr>
          <p:cNvPr id="134" name="cost_tco"/>
          <p:cNvSpPr/>
          <p:nvPr/>
        </p:nvSpPr>
        <p:spPr>
          <a:xfrm>
            <a:off x="6126479" y="1188720"/>
            <a:ext cx="2697480" cy="91440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6236207" y="1280160"/>
            <a:ext cx="2478024" cy="457200"/>
          </a:xfrm>
          <a:prstGeom prst="rect">
            <a:avLst/>
          </a:prstGeom>
          <a:noFill/>
        </p:spPr>
        <p:txBody>
          <a:bodyPr wrap="square" lIns="0" tIns="0" rIns="0" bIns="0" anchor="ctr">
            <a:noAutofit/>
          </a:bodyPr>
          <a:lstStyle/>
          <a:p>
            <a:pPr algn="l">
              <a:spcBef>
                <a:spcPts val="0"/>
              </a:spcBef>
              <a:spcAft>
                <a:spcPts val="300"/>
              </a:spcAft>
            </a:pPr>
            <a:r>
              <a:rPr sz="2400" b="1" i="0">
                <a:solidFill>
                  <a:srgbClr val="7A1230"/>
                </a:solidFill>
                <a:latin typeface="Arial"/>
              </a:rPr>
              <a:t>~ ₹ 1.14 Cr</a:t>
            </a:r>
          </a:p>
        </p:txBody>
      </p:sp>
      <p:sp>
        <p:nvSpPr>
          <p:cNvPr id="136" name="TextBox 135"/>
          <p:cNvSpPr txBox="1"/>
          <p:nvPr/>
        </p:nvSpPr>
        <p:spPr>
          <a:xfrm>
            <a:off x="6236207" y="1755648"/>
            <a:ext cx="2478024" cy="292607"/>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3-year total cost of ownership</a:t>
            </a:r>
          </a:p>
        </p:txBody>
      </p:sp>
      <p:sp>
        <p:nvSpPr>
          <p:cNvPr id="137" name="TextBox 136"/>
          <p:cNvSpPr txBox="1"/>
          <p:nvPr/>
        </p:nvSpPr>
        <p:spPr>
          <a:xfrm>
            <a:off x="320040" y="2221991"/>
            <a:ext cx="8503920" cy="228600"/>
          </a:xfrm>
          <a:prstGeom prst="rect">
            <a:avLst/>
          </a:prstGeom>
          <a:noFill/>
        </p:spPr>
        <p:txBody>
          <a:bodyPr wrap="square" lIns="0" tIns="0" rIns="0" bIns="0" anchor="t">
            <a:noAutofit/>
          </a:bodyPr>
          <a:lstStyle/>
          <a:p>
            <a:pPr algn="l">
              <a:spcBef>
                <a:spcPts val="0"/>
              </a:spcBef>
              <a:spcAft>
                <a:spcPts val="300"/>
              </a:spcAft>
            </a:pPr>
            <a:r>
              <a:rPr sz="1000" b="1" i="0">
                <a:solidFill>
                  <a:srgbClr val="7A1230"/>
                </a:solidFill>
                <a:latin typeface="Arial"/>
              </a:rPr>
              <a:t>Estimate</a:t>
            </a:r>
            <a:r>
              <a:rPr sz="1000" b="0" i="0">
                <a:solidFill>
                  <a:srgbClr val="5F6368"/>
                </a:solidFill>
                <a:latin typeface="Arial"/>
              </a:rPr>
              <a:t> for one lender, about 1 lakh customers assessed a year, on Google Cloud in Mumbai</a:t>
            </a:r>
          </a:p>
        </p:txBody>
      </p:sp>
      <p:graphicFrame>
        <p:nvGraphicFramePr>
          <p:cNvPr id="138" name="cost_table"/>
          <p:cNvGraphicFramePr>
            <a:graphicFrameLocks noGrp="1"/>
          </p:cNvGraphicFramePr>
          <p:nvPr/>
        </p:nvGraphicFramePr>
        <p:xfrm>
          <a:off x="320040" y="2514600"/>
          <a:ext cx="8503920" cy="2304288"/>
        </p:xfrm>
        <a:graphic>
          <a:graphicData uri="http://schemas.openxmlformats.org/drawingml/2006/table">
            <a:tbl>
              <a:tblPr firstRow="1"/>
              <a:tblGrid>
                <a:gridCol w="51206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29184">
                <a:tc>
                  <a:txBody>
                    <a:bodyPr/>
                    <a:lstStyle/>
                    <a:p>
                      <a:r>
                        <a:rPr sz="1000" b="1">
                          <a:solidFill>
                            <a:srgbClr val="FFFFFF"/>
                          </a:solidFill>
                          <a:latin typeface="Arial"/>
                        </a:rPr>
                        <a:t>Cost head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1000" b="1">
                          <a:solidFill>
                            <a:srgbClr val="FFFFFF"/>
                          </a:solidFill>
                          <a:latin typeface="Arial"/>
                        </a:rPr>
                        <a:t>Type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1000" b="1">
                          <a:solidFill>
                            <a:srgbClr val="FFFFFF"/>
                          </a:solidFill>
                          <a:latin typeface="Arial"/>
                        </a:rPr>
                        <a:t>Estimate (INR)</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extLst>
                  <a:ext uri="{0D108BD9-81ED-4DB2-BD59-A6C34878D82A}">
                    <a16:rowId xmlns:a16="http://schemas.microsoft.com/office/drawing/2014/main" val="10000"/>
                  </a:ext>
                </a:extLst>
              </a:tr>
              <a:tr h="329184">
                <a:tc>
                  <a:txBody>
                    <a:bodyPr/>
                    <a:lstStyle/>
                    <a:p>
                      <a:r>
                        <a:rPr sz="1000" b="0">
                          <a:solidFill>
                            <a:srgbClr val="202124"/>
                          </a:solidFill>
                          <a:latin typeface="Arial"/>
                        </a:rPr>
                        <a:t>Production hardening — 3-member team, about 4 months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14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1"/>
                  </a:ext>
                </a:extLst>
              </a:tr>
              <a:tr h="329184">
                <a:tc>
                  <a:txBody>
                    <a:bodyPr/>
                    <a:lstStyle/>
                    <a:p>
                      <a:r>
                        <a:rPr sz="1000" b="0">
                          <a:solidFill>
                            <a:srgbClr val="202124"/>
                          </a:solidFill>
                          <a:latin typeface="Arial"/>
                        </a:rPr>
                        <a:t>Security testing and RBI / DPDP compliance audit</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One-time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4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2"/>
                  </a:ext>
                </a:extLst>
              </a:tr>
              <a:tr h="329184">
                <a:tc>
                  <a:txBody>
                    <a:bodyPr/>
                    <a:lstStyle/>
                    <a:p>
                      <a:r>
                        <a:rPr sz="1000" b="0">
                          <a:solidFill>
                            <a:srgbClr val="202124"/>
                          </a:solidFill>
                          <a:latin typeface="Arial"/>
                        </a:rPr>
                        <a:t>Google Cloud — Cloud Run (HA), Cloud SQL (HA), Cloud Storage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3"/>
                  </a:ext>
                </a:extLst>
              </a:tr>
              <a:tr h="329184">
                <a:tc>
                  <a:txBody>
                    <a:bodyPr/>
                    <a:lstStyle/>
                    <a:p>
                      <a:r>
                        <a:rPr sz="1000" b="0">
                          <a:solidFill>
                            <a:srgbClr val="202124"/>
                          </a:solidFill>
                          <a:latin typeface="Arial"/>
                        </a:rPr>
                        <a:t>Vertex AI — Gemini extraction, investigation, credit decisions, embeddings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6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4"/>
                  </a:ext>
                </a:extLst>
              </a:tr>
              <a:tr h="329184">
                <a:tc>
                  <a:txBody>
                    <a:bodyPr/>
                    <a:lstStyle/>
                    <a:p>
                      <a:r>
                        <a:rPr sz="1000" b="0">
                          <a:solidFill>
                            <a:srgbClr val="202124"/>
                          </a:solidFill>
                          <a:latin typeface="Arial"/>
                        </a:rPr>
                        <a:t>Data access — Account Aggregator and registry APIs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1000" b="0">
                          <a:solidFill>
                            <a:srgbClr val="202124"/>
                          </a:solidFill>
                          <a:latin typeface="Arial"/>
                        </a:rPr>
                        <a:t>₹ 10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5"/>
                  </a:ext>
                </a:extLst>
              </a:tr>
              <a:tr h="329184">
                <a:tc>
                  <a:txBody>
                    <a:bodyPr/>
                    <a:lstStyle/>
                    <a:p>
                      <a:r>
                        <a:rPr sz="1000" b="0">
                          <a:solidFill>
                            <a:srgbClr val="202124"/>
                          </a:solidFill>
                          <a:latin typeface="Arial"/>
                        </a:rPr>
                        <a:t>Maintenance, support and model re-evaluation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Annual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1000" b="0">
                          <a:solidFill>
                            <a:srgbClr val="202124"/>
                          </a:solidFill>
                          <a:latin typeface="Arial"/>
                        </a:rPr>
                        <a:t>₹ 8 L</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the customer</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Home page</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Customers start here with their Udyam number</a:t>
            </a:r>
          </a:p>
        </p:txBody>
      </p:sp>
      <p:pic>
        <p:nvPicPr>
          <p:cNvPr id="138" name="snap_home_v2" descr="home_v2.png"/>
          <p:cNvPicPr>
            <a:picLocks noChangeAspect="1"/>
          </p:cNvPicPr>
          <p:nvPr/>
        </p:nvPicPr>
        <p:blipFill>
          <a:blip r:embed="rId5"/>
          <a:stretch>
            <a:fillRect/>
          </a:stretch>
        </p:blipFill>
        <p:spPr>
          <a:xfrm>
            <a:off x="320040" y="1920240"/>
            <a:ext cx="4160520" cy="2626328"/>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Customer dashboard</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After sign-in: connect each data source, upload documents</a:t>
            </a:r>
          </a:p>
        </p:txBody>
      </p:sp>
      <p:pic>
        <p:nvPicPr>
          <p:cNvPr id="141" name="snap_c_dashboard" descr="c_dashboard.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Business Registration (Udyam)</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registration profile, from the Udyam record</a:t>
            </a:r>
          </a:p>
        </p:txBody>
      </p:sp>
      <p:pic>
        <p:nvPicPr>
          <p:cNvPr id="138" name="snap_c_udyam" descr="c_udyam.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Banking Data (AA)</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bank's own record, shared by consent</a:t>
            </a:r>
          </a:p>
        </p:txBody>
      </p:sp>
      <p:pic>
        <p:nvPicPr>
          <p:cNvPr id="141" name="snap_c_aa" descr="c_aa.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2977999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 statement risk indicators</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A flag only where the statement data supports it</a:t>
            </a:r>
          </a:p>
        </p:txBody>
      </p:sp>
      <p:pic>
        <p:nvPicPr>
          <p:cNvPr id="138" name="snap_c_aa_risk" descr="c_aa_risk.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Tax &amp; Sales Compliance (GST)</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Filing and turnover analysis — sample data in the demo</a:t>
            </a:r>
          </a:p>
        </p:txBody>
      </p:sp>
      <p:pic>
        <p:nvPicPr>
          <p:cNvPr id="141" name="snap_c_gst" descr="c_gst.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1732659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each source analysed</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Income Tax Filing (ITR)</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Income, tax and filing — sample data in the demo</a:t>
            </a:r>
          </a:p>
        </p:txBody>
      </p:sp>
      <p:pic>
        <p:nvPicPr>
          <p:cNvPr id="138" name="snap_c_itr" descr="c_itr.png"/>
          <p:cNvPicPr>
            <a:picLocks noChangeAspect="1"/>
          </p:cNvPicPr>
          <p:nvPr/>
        </p:nvPicPr>
        <p:blipFill>
          <a:blip r:embed="rId5"/>
          <a:stretch>
            <a:fillRect/>
          </a:stretch>
        </p:blipFill>
        <p:spPr>
          <a:xfrm>
            <a:off x="320040" y="1920240"/>
            <a:ext cx="4160520" cy="2703282"/>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Corporate Registry (MCA)</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Company, directors and charges — sample data in the demo</a:t>
            </a:r>
          </a:p>
        </p:txBody>
      </p:sp>
      <p:pic>
        <p:nvPicPr>
          <p:cNvPr id="141" name="snap_c_mca" descr="c_mca.png"/>
          <p:cNvPicPr>
            <a:picLocks noChangeAspect="1"/>
          </p:cNvPicPr>
          <p:nvPr/>
        </p:nvPicPr>
        <p:blipFill>
          <a:blip r:embed="rId6"/>
          <a:stretch>
            <a:fillRect/>
          </a:stretch>
        </p:blipFill>
        <p:spPr>
          <a:xfrm>
            <a:off x="4663440" y="1920240"/>
            <a:ext cx="4160520" cy="2703282"/>
          </a:xfrm>
          <a:prstGeom prst="rect">
            <a:avLst/>
          </a:prstGeom>
          <a:ln w="9525">
            <a:solidFill>
              <a:srgbClr val="DADCE0"/>
            </a:solidFill>
          </a:ln>
        </p:spPr>
      </p:pic>
    </p:spTree>
    <p:extLst>
      <p:ext uri="{BB962C8B-B14F-4D97-AF65-F5344CB8AC3E}">
        <p14:creationId xmlns:p14="http://schemas.microsoft.com/office/powerpoint/2010/main" val="42270072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the bank</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200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Bank dashboard</a:t>
            </a:r>
          </a:p>
        </p:txBody>
      </p:sp>
      <p:sp>
        <p:nvSpPr>
          <p:cNvPr id="137" name="TextBox 136"/>
          <p:cNvSpPr txBox="1"/>
          <p:nvPr/>
        </p:nvSpPr>
        <p:spPr>
          <a:xfrm>
            <a:off x="3200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The onboarded portfolio at a glance</a:t>
            </a:r>
          </a:p>
        </p:txBody>
      </p:sp>
      <p:pic>
        <p:nvPicPr>
          <p:cNvPr id="138" name="snap_b_dashboard" descr="b_dashboard.png"/>
          <p:cNvPicPr>
            <a:picLocks noChangeAspect="1"/>
          </p:cNvPicPr>
          <p:nvPr/>
        </p:nvPicPr>
        <p:blipFill>
          <a:blip r:embed="rId4"/>
          <a:stretch>
            <a:fillRect/>
          </a:stretch>
        </p:blipFill>
        <p:spPr>
          <a:xfrm>
            <a:off x="320040" y="1920240"/>
            <a:ext cx="4160520" cy="2428730"/>
          </a:xfrm>
          <a:prstGeom prst="rect">
            <a:avLst/>
          </a:prstGeom>
          <a:ln w="9525">
            <a:solidFill>
              <a:srgbClr val="DADCE0"/>
            </a:solidFill>
          </a:ln>
        </p:spPr>
      </p:pic>
      <p:sp>
        <p:nvSpPr>
          <p:cNvPr id="139" name="TextBox 138"/>
          <p:cNvSpPr txBox="1"/>
          <p:nvPr/>
        </p:nvSpPr>
        <p:spPr>
          <a:xfrm>
            <a:off x="4663440" y="1371600"/>
            <a:ext cx="4160520" cy="246888"/>
          </a:xfrm>
          <a:prstGeom prst="rect">
            <a:avLst/>
          </a:prstGeom>
          <a:noFill/>
        </p:spPr>
        <p:txBody>
          <a:bodyPr wrap="square" lIns="0" tIns="0" rIns="0" bIns="0" anchor="t">
            <a:noAutofit/>
          </a:bodyPr>
          <a:lstStyle/>
          <a:p>
            <a:pPr algn="l">
              <a:spcBef>
                <a:spcPts val="0"/>
              </a:spcBef>
              <a:spcAft>
                <a:spcPts val="300"/>
              </a:spcAft>
            </a:pPr>
            <a:r>
              <a:rPr sz="1150" b="1" i="0">
                <a:solidFill>
                  <a:srgbClr val="202124"/>
                </a:solidFill>
                <a:latin typeface="Arial"/>
              </a:rPr>
              <a:t>One page per customer</a:t>
            </a:r>
          </a:p>
        </p:txBody>
      </p:sp>
      <p:sp>
        <p:nvSpPr>
          <p:cNvPr id="140" name="TextBox 139"/>
          <p:cNvSpPr txBox="1"/>
          <p:nvPr/>
        </p:nvSpPr>
        <p:spPr>
          <a:xfrm>
            <a:off x="4663440" y="1609344"/>
            <a:ext cx="4160520" cy="228600"/>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Opens on the Risk Lens; every source in its own tab</a:t>
            </a:r>
          </a:p>
        </p:txBody>
      </p:sp>
      <p:pic>
        <p:nvPicPr>
          <p:cNvPr id="141" name="snap_b_customer" descr="b_customer.png"/>
          <p:cNvPicPr>
            <a:picLocks noChangeAspect="1"/>
          </p:cNvPicPr>
          <p:nvPr/>
        </p:nvPicPr>
        <p:blipFill>
          <a:blip r:embed="rId5"/>
          <a:stretch>
            <a:fillRect/>
          </a:stretch>
        </p:blipFill>
        <p:spPr>
          <a:xfrm>
            <a:off x="4663440" y="1920240"/>
            <a:ext cx="4160520" cy="2423450"/>
          </a:xfrm>
          <a:prstGeom prst="rect">
            <a:avLst/>
          </a:prstGeom>
          <a:ln w="9525">
            <a:solidFill>
              <a:srgbClr val="DADCE0"/>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fraud detection per customer</a:t>
            </a:r>
            <a:endParaRPr sz="1600">
              <a:latin typeface="Google Sans Flex Medium"/>
              <a:ea typeface="Google Sans Flex Medium"/>
              <a:cs typeface="Google Sans Flex Medium"/>
              <a:sym typeface="Google Sans Flex Medium"/>
            </a:endParaRPr>
          </a:p>
        </p:txBody>
      </p:sp>
      <p:pic>
        <p:nvPicPr>
          <p:cNvPr id="136" name="snap_b_customers" descr="b_customers.png"/>
          <p:cNvPicPr>
            <a:picLocks noChangeAspect="1"/>
          </p:cNvPicPr>
          <p:nvPr/>
        </p:nvPicPr>
        <p:blipFill>
          <a:blip r:embed="rId4"/>
          <a:stretch>
            <a:fillRect/>
          </a:stretch>
        </p:blipFill>
        <p:spPr>
          <a:xfrm>
            <a:off x="320040" y="1188720"/>
            <a:ext cx="4480560" cy="1904807"/>
          </a:xfrm>
          <a:prstGeom prst="rect">
            <a:avLst/>
          </a:prstGeom>
          <a:ln w="9525">
            <a:solidFill>
              <a:srgbClr val="DADCE0"/>
            </a:solidFill>
          </a:ln>
        </p:spPr>
      </p:pic>
      <p:sp>
        <p:nvSpPr>
          <p:cNvPr id="137" name="TextBox 136"/>
          <p:cNvSpPr txBox="1"/>
          <p:nvPr/>
        </p:nvSpPr>
        <p:spPr>
          <a:xfrm>
            <a:off x="5029200" y="1691640"/>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Customers</a:t>
            </a:r>
          </a:p>
        </p:txBody>
      </p:sp>
      <p:sp>
        <p:nvSpPr>
          <p:cNvPr id="138" name="TextBox 137"/>
          <p:cNvSpPr txBox="1"/>
          <p:nvPr/>
        </p:nvSpPr>
        <p:spPr>
          <a:xfrm>
            <a:off x="5029200" y="1993392"/>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A risk status for every customer — Reddy Industries reads High risk</a:t>
            </a:r>
          </a:p>
        </p:txBody>
      </p:sp>
      <p:pic>
        <p:nvPicPr>
          <p:cNvPr id="139" name="snap_b_risklens" descr="b_risklens.png"/>
          <p:cNvPicPr>
            <a:picLocks noChangeAspect="1"/>
          </p:cNvPicPr>
          <p:nvPr/>
        </p:nvPicPr>
        <p:blipFill>
          <a:blip r:embed="rId5"/>
          <a:stretch>
            <a:fillRect/>
          </a:stretch>
        </p:blipFill>
        <p:spPr>
          <a:xfrm>
            <a:off x="320040" y="3127248"/>
            <a:ext cx="4480560" cy="1904807"/>
          </a:xfrm>
          <a:prstGeom prst="rect">
            <a:avLst/>
          </a:prstGeom>
          <a:ln w="9525">
            <a:solidFill>
              <a:srgbClr val="DADCE0"/>
            </a:solidFill>
          </a:ln>
        </p:spPr>
      </p:pic>
      <p:sp>
        <p:nvSpPr>
          <p:cNvPr id="140" name="TextBox 139"/>
          <p:cNvSpPr txBox="1"/>
          <p:nvPr/>
        </p:nvSpPr>
        <p:spPr>
          <a:xfrm>
            <a:off x="5029200" y="3630168"/>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Risk Lens</a:t>
            </a:r>
          </a:p>
        </p:txBody>
      </p:sp>
      <p:sp>
        <p:nvSpPr>
          <p:cNvPr id="141" name="TextBox 140"/>
          <p:cNvSpPr txBox="1"/>
          <p:nvPr/>
        </p:nvSpPr>
        <p:spPr>
          <a:xfrm>
            <a:off x="5029200" y="3931920"/>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The verdict, then one section per source — Bank conduct is flagged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2">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 — fraud detection per customer</a:t>
            </a:r>
            <a:endParaRPr sz="1600">
              <a:latin typeface="Google Sans Flex Medium"/>
              <a:ea typeface="Google Sans Flex Medium"/>
              <a:cs typeface="Google Sans Flex Medium"/>
              <a:sym typeface="Google Sans Flex Medium"/>
            </a:endParaRPr>
          </a:p>
        </p:txBody>
      </p:sp>
      <p:pic>
        <p:nvPicPr>
          <p:cNvPr id="136" name="snap_b_finding" descr="b_finding.png"/>
          <p:cNvPicPr>
            <a:picLocks noChangeAspect="1"/>
          </p:cNvPicPr>
          <p:nvPr/>
        </p:nvPicPr>
        <p:blipFill>
          <a:blip r:embed="rId4"/>
          <a:stretch>
            <a:fillRect/>
          </a:stretch>
        </p:blipFill>
        <p:spPr>
          <a:xfrm>
            <a:off x="320040" y="1188720"/>
            <a:ext cx="4480560" cy="1904807"/>
          </a:xfrm>
          <a:prstGeom prst="rect">
            <a:avLst/>
          </a:prstGeom>
          <a:ln w="9525">
            <a:solidFill>
              <a:srgbClr val="DADCE0"/>
            </a:solidFill>
          </a:ln>
        </p:spPr>
      </p:pic>
      <p:sp>
        <p:nvSpPr>
          <p:cNvPr id="137" name="TextBox 136"/>
          <p:cNvSpPr txBox="1"/>
          <p:nvPr/>
        </p:nvSpPr>
        <p:spPr>
          <a:xfrm>
            <a:off x="5029200" y="1691640"/>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A finding with its evidence</a:t>
            </a:r>
          </a:p>
        </p:txBody>
      </p:sp>
      <p:sp>
        <p:nvSpPr>
          <p:cNvPr id="138" name="TextBox 137"/>
          <p:cNvSpPr txBox="1"/>
          <p:nvPr/>
        </p:nvSpPr>
        <p:spPr>
          <a:xfrm>
            <a:off x="5029200" y="1993392"/>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Read from the bank's own Account Aggregator record; the officer confirms or dismisses it</a:t>
            </a:r>
          </a:p>
        </p:txBody>
      </p:sp>
      <p:pic>
        <p:nvPicPr>
          <p:cNvPr id="139" name="snap_b_loancase" descr="b_loancase.png"/>
          <p:cNvPicPr>
            <a:picLocks noChangeAspect="1"/>
          </p:cNvPicPr>
          <p:nvPr/>
        </p:nvPicPr>
        <p:blipFill>
          <a:blip r:embed="rId5"/>
          <a:stretch>
            <a:fillRect/>
          </a:stretch>
        </p:blipFill>
        <p:spPr>
          <a:xfrm>
            <a:off x="320040" y="3127248"/>
            <a:ext cx="4480560" cy="1904807"/>
          </a:xfrm>
          <a:prstGeom prst="rect">
            <a:avLst/>
          </a:prstGeom>
          <a:ln w="9525">
            <a:solidFill>
              <a:srgbClr val="DADCE0"/>
            </a:solidFill>
          </a:ln>
        </p:spPr>
      </p:pic>
      <p:sp>
        <p:nvSpPr>
          <p:cNvPr id="140" name="TextBox 139"/>
          <p:cNvSpPr txBox="1"/>
          <p:nvPr/>
        </p:nvSpPr>
        <p:spPr>
          <a:xfrm>
            <a:off x="5029200" y="3630168"/>
            <a:ext cx="3749039" cy="27432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Clear → loan case</a:t>
            </a:r>
          </a:p>
        </p:txBody>
      </p:sp>
      <p:sp>
        <p:nvSpPr>
          <p:cNvPr id="141" name="TextBox 140"/>
          <p:cNvSpPr txBox="1"/>
          <p:nvPr/>
        </p:nvSpPr>
        <p:spPr>
          <a:xfrm>
            <a:off x="5029200" y="3931920"/>
            <a:ext cx="3749039" cy="822960"/>
          </a:xfrm>
          <a:prstGeom prst="rect">
            <a:avLst/>
          </a:prstGeom>
          <a:noFill/>
        </p:spPr>
        <p:txBody>
          <a:bodyPr wrap="square" lIns="0" tIns="0" rIns="0" bIns="0" anchor="t">
            <a:noAutofit/>
          </a:bodyPr>
          <a:lstStyle/>
          <a:p>
            <a:pPr algn="l">
              <a:spcBef>
                <a:spcPts val="0"/>
              </a:spcBef>
              <a:spcAft>
                <a:spcPts val="300"/>
              </a:spcAft>
            </a:pPr>
            <a:r>
              <a:rPr sz="1050" b="0" i="0">
                <a:solidFill>
                  <a:srgbClr val="5F6368"/>
                </a:solidFill>
                <a:latin typeface="Arial"/>
              </a:rPr>
              <a:t>A customer with nothing open goes on to the AI credit decision and the LOS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perf_0"/>
          <p:cNvSpPr/>
          <p:nvPr/>
        </p:nvSpPr>
        <p:spPr>
          <a:xfrm>
            <a:off x="320040"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429768"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99.8–100%</a:t>
            </a:r>
          </a:p>
        </p:txBody>
      </p:sp>
      <p:sp>
        <p:nvSpPr>
          <p:cNvPr id="146" name="TextBox 145"/>
          <p:cNvSpPr txBox="1"/>
          <p:nvPr/>
        </p:nvSpPr>
        <p:spPr>
          <a:xfrm>
            <a:off x="429768"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of 1,298 statement rows read exactly — two live runs</a:t>
            </a:r>
          </a:p>
        </p:txBody>
      </p:sp>
      <p:sp>
        <p:nvSpPr>
          <p:cNvPr id="147" name="perf_1"/>
          <p:cNvSpPr/>
          <p:nvPr/>
        </p:nvSpPr>
        <p:spPr>
          <a:xfrm>
            <a:off x="2487168"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2596896"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20 / 20</a:t>
            </a:r>
          </a:p>
        </p:txBody>
      </p:sp>
      <p:sp>
        <p:nvSpPr>
          <p:cNvPr id="149" name="TextBox 148"/>
          <p:cNvSpPr txBox="1"/>
          <p:nvPr/>
        </p:nvSpPr>
        <p:spPr>
          <a:xfrm>
            <a:off x="2596896"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demo assessments raise exactly their expected findings</a:t>
            </a:r>
          </a:p>
        </p:txBody>
      </p:sp>
      <p:sp>
        <p:nvSpPr>
          <p:cNvPr id="150" name="perf_2"/>
          <p:cNvSpPr/>
          <p:nvPr/>
        </p:nvSpPr>
        <p:spPr>
          <a:xfrm>
            <a:off x="4654296"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4764024"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1E8E3E"/>
                </a:solidFill>
                <a:latin typeface="Arial"/>
              </a:rPr>
              <a:t>0</a:t>
            </a:r>
          </a:p>
        </p:txBody>
      </p:sp>
      <p:sp>
        <p:nvSpPr>
          <p:cNvPr id="152" name="TextBox 151"/>
          <p:cNvSpPr txBox="1"/>
          <p:nvPr/>
        </p:nvSpPr>
        <p:spPr>
          <a:xfrm>
            <a:off x="4764024"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false alarms on genuine applicants — checks and AI</a:t>
            </a:r>
          </a:p>
        </p:txBody>
      </p:sp>
      <p:sp>
        <p:nvSpPr>
          <p:cNvPr id="153" name="perf_3"/>
          <p:cNvSpPr/>
          <p:nvPr/>
        </p:nvSpPr>
        <p:spPr>
          <a:xfrm>
            <a:off x="6821424" y="1188720"/>
            <a:ext cx="2011680" cy="1024128"/>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6931152" y="1280160"/>
            <a:ext cx="1792224" cy="457200"/>
          </a:xfrm>
          <a:prstGeom prst="rect">
            <a:avLst/>
          </a:prstGeom>
          <a:noFill/>
        </p:spPr>
        <p:txBody>
          <a:bodyPr wrap="square" lIns="0" tIns="0" rIns="0" bIns="0" anchor="ctr">
            <a:noAutofit/>
          </a:bodyPr>
          <a:lstStyle/>
          <a:p>
            <a:pPr algn="l">
              <a:spcBef>
                <a:spcPts val="0"/>
              </a:spcBef>
              <a:spcAft>
                <a:spcPts val="300"/>
              </a:spcAft>
            </a:pPr>
            <a:r>
              <a:rPr sz="2200" b="1" i="0">
                <a:solidFill>
                  <a:srgbClr val="7A1230"/>
                </a:solidFill>
                <a:latin typeface="Arial"/>
              </a:rPr>
              <a:t>5 / 5</a:t>
            </a:r>
          </a:p>
        </p:txBody>
      </p:sp>
      <p:sp>
        <p:nvSpPr>
          <p:cNvPr id="155" name="TextBox 154"/>
          <p:cNvSpPr txBox="1"/>
          <p:nvPr/>
        </p:nvSpPr>
        <p:spPr>
          <a:xfrm>
            <a:off x="6931152" y="1755648"/>
            <a:ext cx="1792224" cy="402336"/>
          </a:xfrm>
          <a:prstGeom prst="rect">
            <a:avLst/>
          </a:prstGeom>
          <a:noFill/>
        </p:spPr>
        <p:txBody>
          <a:bodyPr wrap="square" lIns="0" tIns="0" rIns="0" bIns="0" anchor="t">
            <a:noAutofit/>
          </a:bodyPr>
          <a:lstStyle/>
          <a:p>
            <a:pPr algn="l">
              <a:spcBef>
                <a:spcPts val="0"/>
              </a:spcBef>
              <a:spcAft>
                <a:spcPts val="300"/>
              </a:spcAft>
            </a:pPr>
            <a:r>
              <a:rPr sz="1000" b="0" i="0">
                <a:solidFill>
                  <a:srgbClr val="5F6368"/>
                </a:solidFill>
                <a:latin typeface="Arial"/>
              </a:rPr>
              <a:t>expected AI findings found by the investigator</a:t>
            </a:r>
          </a:p>
        </p:txBody>
      </p:sp>
      <p:sp>
        <p:nvSpPr>
          <p:cNvPr id="156" name="TextBox 155"/>
          <p:cNvSpPr txBox="1"/>
          <p:nvPr/>
        </p:nvSpPr>
        <p:spPr>
          <a:xfrm>
            <a:off x="320040" y="2331720"/>
            <a:ext cx="8503920" cy="228600"/>
          </a:xfrm>
          <a:prstGeom prst="rect">
            <a:avLst/>
          </a:prstGeom>
          <a:noFill/>
        </p:spPr>
        <p:txBody>
          <a:bodyPr wrap="square" lIns="0" tIns="0" rIns="0" bIns="0" anchor="t">
            <a:noAutofit/>
          </a:bodyPr>
          <a:lstStyle/>
          <a:p>
            <a:pPr algn="l">
              <a:spcBef>
                <a:spcPts val="0"/>
              </a:spcBef>
              <a:spcAft>
                <a:spcPts val="300"/>
              </a:spcAft>
            </a:pPr>
            <a:r>
              <a:rPr sz="1000" b="1" i="0">
                <a:solidFill>
                  <a:srgbClr val="7A1230"/>
                </a:solidFill>
                <a:latin typeface="Arial"/>
              </a:rPr>
              <a:t>How it is measured: </a:t>
            </a:r>
            <a:r>
              <a:rPr sz="1000" b="0" i="0">
                <a:solidFill>
                  <a:srgbClr val="5F6368"/>
                </a:solidFill>
                <a:latin typeface="Arial"/>
              </a:rPr>
              <a:t>synthetic documents with known ground truth, read by live Gemini, scored row by row, checks run on Gemini's own reading</a:t>
            </a:r>
          </a:p>
        </p:txBody>
      </p:sp>
      <p:graphicFrame>
        <p:nvGraphicFramePr>
          <p:cNvPr id="157" name="bench_table"/>
          <p:cNvGraphicFramePr>
            <a:graphicFrameLocks noGrp="1"/>
          </p:cNvGraphicFramePr>
          <p:nvPr/>
        </p:nvGraphicFramePr>
        <p:xfrm>
          <a:off x="320040" y="2633472"/>
          <a:ext cx="8503920" cy="2112264"/>
        </p:xfrm>
        <a:graphic>
          <a:graphicData uri="http://schemas.openxmlformats.org/drawingml/2006/table">
            <a:tbl>
              <a:tblPr firstRow="1"/>
              <a:tblGrid>
                <a:gridCol w="21488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tblGrid>
              <a:tr h="301752">
                <a:tc>
                  <a:txBody>
                    <a:bodyPr/>
                    <a:lstStyle/>
                    <a:p>
                      <a:r>
                        <a:rPr sz="950" b="1">
                          <a:solidFill>
                            <a:srgbClr val="FFFFFF"/>
                          </a:solidFill>
                          <a:latin typeface="Arial"/>
                        </a:rPr>
                        <a:t>Check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950" b="1">
                          <a:solidFill>
                            <a:srgbClr val="FFFFFF"/>
                          </a:solidFill>
                          <a:latin typeface="Arial"/>
                        </a:rPr>
                        <a:t>Manual review</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tc>
                  <a:txBody>
                    <a:bodyPr/>
                    <a:lstStyle/>
                    <a:p>
                      <a:r>
                        <a:rPr sz="950" b="1">
                          <a:solidFill>
                            <a:srgbClr val="FFFFFF"/>
                          </a:solidFill>
                          <a:latin typeface="Arial"/>
                        </a:rPr>
                        <a:t>FinRiskLens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202124"/>
                    </a:solidFill>
                  </a:tcPr>
                </a:tc>
                <a:extLst>
                  <a:ext uri="{0D108BD9-81ED-4DB2-BD59-A6C34878D82A}">
                    <a16:rowId xmlns:a16="http://schemas.microsoft.com/office/drawing/2014/main" val="10000"/>
                  </a:ext>
                </a:extLst>
              </a:tr>
              <a:tr h="301752">
                <a:tc>
                  <a:txBody>
                    <a:bodyPr/>
                    <a:lstStyle/>
                    <a:p>
                      <a:r>
                        <a:rPr sz="950" b="1">
                          <a:solidFill>
                            <a:srgbClr val="202124"/>
                          </a:solidFill>
                          <a:latin typeface="Arial"/>
                        </a:rPr>
                        <a:t>Statement arithmetic</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Spot-checked by eye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Every row and page: balance, carry-over, totals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1"/>
                  </a:ext>
                </a:extLst>
              </a:tr>
              <a:tr h="301752">
                <a:tc>
                  <a:txBody>
                    <a:bodyPr/>
                    <a:lstStyle/>
                    <a:p>
                      <a:r>
                        <a:rPr sz="950" b="1">
                          <a:solidFill>
                            <a:srgbClr val="202124"/>
                          </a:solidFill>
                          <a:latin typeface="Arial"/>
                        </a:rPr>
                        <a:t>Statement vs bank</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Ask for a bank-certified copy</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Automatic when Account Aggregator is linked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2"/>
                  </a:ext>
                </a:extLst>
              </a:tr>
              <a:tr h="301752">
                <a:tc>
                  <a:txBody>
                    <a:bodyPr/>
                    <a:lstStyle/>
                    <a:p>
                      <a:r>
                        <a:rPr sz="950" b="1">
                          <a:solidFill>
                            <a:srgbClr val="202124"/>
                          </a:solidFill>
                          <a:latin typeface="Arial"/>
                        </a:rPr>
                        <a:t>Edited files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Rarely examined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Producer, creator and edit dates read on upload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3"/>
                  </a:ext>
                </a:extLst>
              </a:tr>
              <a:tr h="301752">
                <a:tc>
                  <a:txBody>
                    <a:bodyPr/>
                    <a:lstStyle/>
                    <a:p>
                      <a:r>
                        <a:rPr sz="950" b="1">
                          <a:solidFill>
                            <a:srgbClr val="202124"/>
                          </a:solidFill>
                          <a:latin typeface="Arial"/>
                        </a:rPr>
                        <a:t>Links across customers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One customer at a time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Shared file, account, director or contacts; GST loops</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4"/>
                  </a:ext>
                </a:extLst>
              </a:tr>
              <a:tr h="301752">
                <a:tc>
                  <a:txBody>
                    <a:bodyPr/>
                    <a:lstStyle/>
                    <a:p>
                      <a:r>
                        <a:rPr sz="950" b="1">
                          <a:solidFill>
                            <a:srgbClr val="202124"/>
                          </a:solidFill>
                          <a:latin typeface="Arial"/>
                        </a:rPr>
                        <a:t>Credit decision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FOIR worked out by hand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tc>
                  <a:txBody>
                    <a:bodyPr/>
                    <a:lstStyle/>
                    <a:p>
                      <a:r>
                        <a:rPr sz="950" b="0">
                          <a:solidFill>
                            <a:srgbClr val="202124"/>
                          </a:solidFill>
                          <a:latin typeface="Arial"/>
                        </a:rPr>
                        <a:t>Capacity computed in code; every AI figure traced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FFFFF"/>
                    </a:solidFill>
                  </a:tcPr>
                </a:tc>
                <a:extLst>
                  <a:ext uri="{0D108BD9-81ED-4DB2-BD59-A6C34878D82A}">
                    <a16:rowId xmlns:a16="http://schemas.microsoft.com/office/drawing/2014/main" val="10005"/>
                  </a:ext>
                </a:extLst>
              </a:tr>
              <a:tr h="301752">
                <a:tc>
                  <a:txBody>
                    <a:bodyPr/>
                    <a:lstStyle/>
                    <a:p>
                      <a:r>
                        <a:rPr sz="950" b="1">
                          <a:solidFill>
                            <a:srgbClr val="202124"/>
                          </a:solidFill>
                          <a:latin typeface="Arial"/>
                        </a:rPr>
                        <a:t>Speed</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Analyst time per file</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tc>
                  <a:txBody>
                    <a:bodyPr/>
                    <a:lstStyle/>
                    <a:p>
                      <a:r>
                        <a:rPr sz="950" b="0">
                          <a:solidFill>
                            <a:srgbClr val="202124"/>
                          </a:solidFill>
                          <a:latin typeface="Arial"/>
                        </a:rPr>
                        <a:t>10–60 s per statement · 12–43 s per investigation</a:t>
                      </a:r>
                    </a:p>
                  </a:txBody>
                  <a:tcPr marL="64008" marR="64008" marT="27432" marB="27432" anchor="ctr">
                    <a:lnL w="6350" cap="flat" cmpd="sng" algn="ctr">
                      <a:solidFill>
                        <a:srgbClr val="DADCE0"/>
                      </a:solidFill>
                      <a:prstDash val="solid"/>
                    </a:lnL>
                    <a:lnR w="6350" cap="flat" cmpd="sng" algn="ctr">
                      <a:solidFill>
                        <a:srgbClr val="DADCE0"/>
                      </a:solidFill>
                      <a:prstDash val="solid"/>
                    </a:lnR>
                    <a:lnT w="6350" cap="flat" cmpd="sng" algn="ctr">
                      <a:solidFill>
                        <a:srgbClr val="DADCE0"/>
                      </a:solidFill>
                      <a:prstDash val="solid"/>
                    </a:lnT>
                    <a:lnB w="6350" cap="flat" cmpd="sng" algn="ctr">
                      <a:solidFill>
                        <a:srgbClr val="DADCE0"/>
                      </a:solidFill>
                      <a:prstDash val="solid"/>
                    </a:lnB>
                    <a:solidFill>
                      <a:srgbClr val="F8F9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fut_0"/>
          <p:cNvSpPr/>
          <p:nvPr/>
        </p:nvSpPr>
        <p:spPr>
          <a:xfrm>
            <a:off x="32004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3" name="fut_0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4" name="fut_0_icon" descr="finger_w.png"/>
          <p:cNvPicPr>
            <a:picLocks noChangeAspect="1"/>
          </p:cNvPicPr>
          <p:nvPr/>
        </p:nvPicPr>
        <p:blipFill>
          <a:blip r:embed="rId5"/>
          <a:stretch>
            <a:fillRect/>
          </a:stretch>
        </p:blipFill>
        <p:spPr>
          <a:xfrm>
            <a:off x="541690" y="1410370"/>
            <a:ext cx="215066" cy="215066"/>
          </a:xfrm>
          <a:prstGeom prst="rect">
            <a:avLst/>
          </a:prstGeom>
        </p:spPr>
      </p:pic>
      <p:sp>
        <p:nvSpPr>
          <p:cNvPr id="155" name="TextBox 154"/>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Registry cross-checks</a:t>
            </a:r>
          </a:p>
        </p:txBody>
      </p:sp>
      <p:sp>
        <p:nvSpPr>
          <p:cNvPr id="156" name="TextBox 155"/>
          <p:cNvSpPr txBox="1"/>
          <p:nvPr/>
        </p:nvSpPr>
        <p:spPr>
          <a:xfrm>
            <a:off x="45720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GST, ITR and bank turnover reconciled</a:t>
            </a:r>
          </a:p>
          <a:p>
            <a:pPr marL="146304" indent="-146304" algn="l">
              <a:spcBef>
                <a:spcPts val="0"/>
              </a:spcBef>
              <a:spcAft>
                <a:spcPts val="300"/>
              </a:spcAft>
              <a:buFont typeface="Arial"/>
              <a:buChar char="•"/>
            </a:pPr>
            <a:r>
              <a:rPr sz="1150" b="0" i="0">
                <a:solidFill>
                  <a:srgbClr val="202124"/>
                </a:solidFill>
                <a:latin typeface="Arial"/>
              </a:rPr>
              <a:t>Name, PAN and address across every source</a:t>
            </a:r>
          </a:p>
          <a:p>
            <a:pPr marL="146304" indent="-146304" algn="l">
              <a:spcBef>
                <a:spcPts val="0"/>
              </a:spcBef>
              <a:spcAft>
                <a:spcPts val="300"/>
              </a:spcAft>
              <a:buFont typeface="Arial"/>
              <a:buChar char="•"/>
            </a:pPr>
            <a:r>
              <a:rPr sz="1150" b="0" i="0">
                <a:solidFill>
                  <a:srgbClr val="202124"/>
                </a:solidFill>
                <a:latin typeface="Arial"/>
              </a:rPr>
              <a:t>Password-protected and scanned statements</a:t>
            </a:r>
          </a:p>
        </p:txBody>
      </p:sp>
      <p:sp>
        <p:nvSpPr>
          <p:cNvPr id="157" name="fut_1"/>
          <p:cNvSpPr/>
          <p:nvPr/>
        </p:nvSpPr>
        <p:spPr>
          <a:xfrm>
            <a:off x="4617720" y="1188720"/>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fut_1_circle"/>
          <p:cNvSpPr/>
          <p:nvPr/>
        </p:nvSpPr>
        <p:spPr>
          <a:xfrm>
            <a:off x="475488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9" name="fut_1_icon" descr="search_w.png"/>
          <p:cNvPicPr>
            <a:picLocks noChangeAspect="1"/>
          </p:cNvPicPr>
          <p:nvPr/>
        </p:nvPicPr>
        <p:blipFill>
          <a:blip r:embed="rId6"/>
          <a:stretch>
            <a:fillRect/>
          </a:stretch>
        </p:blipFill>
        <p:spPr>
          <a:xfrm>
            <a:off x="4839370" y="1410370"/>
            <a:ext cx="215066" cy="215066"/>
          </a:xfrm>
          <a:prstGeom prst="rect">
            <a:avLst/>
          </a:prstGeom>
        </p:spPr>
      </p:pic>
      <p:sp>
        <p:nvSpPr>
          <p:cNvPr id="160" name="TextBox 159"/>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Evidence highlighting</a:t>
            </a:r>
          </a:p>
        </p:txBody>
      </p:sp>
      <p:sp>
        <p:nvSpPr>
          <p:cNvPr id="161" name="TextBox 160"/>
          <p:cNvSpPr txBox="1"/>
          <p:nvPr/>
        </p:nvSpPr>
        <p:spPr>
          <a:xfrm>
            <a:off x="4754880" y="1792224"/>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Highlight the exact row on the PDF page</a:t>
            </a:r>
          </a:p>
          <a:p>
            <a:pPr marL="146304" indent="-146304" algn="l">
              <a:spcBef>
                <a:spcPts val="0"/>
              </a:spcBef>
              <a:spcAft>
                <a:spcPts val="300"/>
              </a:spcAft>
              <a:buFont typeface="Arial"/>
              <a:buChar char="•"/>
            </a:pPr>
            <a:r>
              <a:rPr sz="1150" b="0" i="0">
                <a:solidFill>
                  <a:srgbClr val="202124"/>
                </a:solidFill>
                <a:latin typeface="Arial"/>
              </a:rPr>
              <a:t>Bounding boxes already in the extraction contract</a:t>
            </a:r>
          </a:p>
          <a:p>
            <a:pPr marL="146304" indent="-146304" algn="l">
              <a:spcBef>
                <a:spcPts val="0"/>
              </a:spcBef>
              <a:spcAft>
                <a:spcPts val="300"/>
              </a:spcAft>
              <a:buFont typeface="Arial"/>
              <a:buChar char="•"/>
            </a:pPr>
            <a:r>
              <a:rPr sz="1150" b="0" i="0">
                <a:solidFill>
                  <a:srgbClr val="202124"/>
                </a:solidFill>
                <a:latin typeface="Arial"/>
              </a:rPr>
              <a:t>Side-by-side PDF and bank record view</a:t>
            </a:r>
          </a:p>
        </p:txBody>
      </p:sp>
      <p:sp>
        <p:nvSpPr>
          <p:cNvPr id="162" name="fut_2"/>
          <p:cNvSpPr/>
          <p:nvPr/>
        </p:nvSpPr>
        <p:spPr>
          <a:xfrm>
            <a:off x="32004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fut_2_circle"/>
          <p:cNvSpPr/>
          <p:nvPr/>
        </p:nvSpPr>
        <p:spPr>
          <a:xfrm>
            <a:off x="45720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4" name="fut_2_icon" descr="book_w.png"/>
          <p:cNvPicPr>
            <a:picLocks noChangeAspect="1"/>
          </p:cNvPicPr>
          <p:nvPr/>
        </p:nvPicPr>
        <p:blipFill>
          <a:blip r:embed="rId7"/>
          <a:stretch>
            <a:fillRect/>
          </a:stretch>
        </p:blipFill>
        <p:spPr>
          <a:xfrm>
            <a:off x="541690" y="3303178"/>
            <a:ext cx="215066" cy="215066"/>
          </a:xfrm>
          <a:prstGeom prst="rect">
            <a:avLst/>
          </a:prstGeom>
        </p:spPr>
      </p:pic>
      <p:sp>
        <p:nvSpPr>
          <p:cNvPr id="165" name="TextBox 164"/>
          <p:cNvSpPr txBox="1"/>
          <p:nvPr/>
        </p:nvSpPr>
        <p:spPr>
          <a:xfrm>
            <a:off x="94183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Case memory and policy Q&amp;A</a:t>
            </a:r>
          </a:p>
        </p:txBody>
      </p:sp>
      <p:sp>
        <p:nvSpPr>
          <p:cNvPr id="166" name="TextBox 165"/>
          <p:cNvSpPr txBox="1"/>
          <p:nvPr/>
        </p:nvSpPr>
        <p:spPr>
          <a:xfrm>
            <a:off x="45720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Confirmed findings feed the knowledge base</a:t>
            </a:r>
          </a:p>
          <a:p>
            <a:pPr marL="146304" indent="-146304" algn="l">
              <a:spcBef>
                <a:spcPts val="0"/>
              </a:spcBef>
              <a:spcAft>
                <a:spcPts val="300"/>
              </a:spcAft>
              <a:buFont typeface="Arial"/>
              <a:buChar char="•"/>
            </a:pPr>
            <a:r>
              <a:rPr sz="1150" b="0" i="0">
                <a:solidFill>
                  <a:srgbClr val="202124"/>
                </a:solidFill>
                <a:latin typeface="Arial"/>
              </a:rPr>
              <a:t>Policy questions answered with citations</a:t>
            </a:r>
          </a:p>
          <a:p>
            <a:pPr marL="146304" indent="-146304" algn="l">
              <a:spcBef>
                <a:spcPts val="0"/>
              </a:spcBef>
              <a:spcAft>
                <a:spcPts val="300"/>
              </a:spcAft>
              <a:buFont typeface="Arial"/>
              <a:buChar char="•"/>
            </a:pPr>
            <a:r>
              <a:rPr sz="1150" b="0" i="0">
                <a:solidFill>
                  <a:srgbClr val="202124"/>
                </a:solidFill>
                <a:latin typeface="Arial"/>
              </a:rPr>
              <a:t>Refusal when the policy is silent</a:t>
            </a:r>
          </a:p>
        </p:txBody>
      </p:sp>
      <p:sp>
        <p:nvSpPr>
          <p:cNvPr id="167" name="fut_3"/>
          <p:cNvSpPr/>
          <p:nvPr/>
        </p:nvSpPr>
        <p:spPr>
          <a:xfrm>
            <a:off x="4617720" y="3081528"/>
            <a:ext cx="4206240" cy="17830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fut_3_circle"/>
          <p:cNvSpPr/>
          <p:nvPr/>
        </p:nvSpPr>
        <p:spPr>
          <a:xfrm>
            <a:off x="4754880" y="3218688"/>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9" name="fut_3_icon" descr="layers_w.png"/>
          <p:cNvPicPr>
            <a:picLocks noChangeAspect="1"/>
          </p:cNvPicPr>
          <p:nvPr/>
        </p:nvPicPr>
        <p:blipFill>
          <a:blip r:embed="rId8"/>
          <a:stretch>
            <a:fillRect/>
          </a:stretch>
        </p:blipFill>
        <p:spPr>
          <a:xfrm>
            <a:off x="4839370" y="3303178"/>
            <a:ext cx="215066" cy="215066"/>
          </a:xfrm>
          <a:prstGeom prst="rect">
            <a:avLst/>
          </a:prstGeom>
        </p:spPr>
      </p:pic>
      <p:sp>
        <p:nvSpPr>
          <p:cNvPr id="170" name="TextBox 169"/>
          <p:cNvSpPr txBox="1"/>
          <p:nvPr/>
        </p:nvSpPr>
        <p:spPr>
          <a:xfrm>
            <a:off x="5239512" y="3218688"/>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Scale and integration</a:t>
            </a:r>
          </a:p>
        </p:txBody>
      </p:sp>
      <p:sp>
        <p:nvSpPr>
          <p:cNvPr id="171" name="TextBox 170"/>
          <p:cNvSpPr txBox="1"/>
          <p:nvPr/>
        </p:nvSpPr>
        <p:spPr>
          <a:xfrm>
            <a:off x="4754880" y="3685032"/>
            <a:ext cx="3931920" cy="1088136"/>
          </a:xfrm>
          <a:prstGeom prst="rect">
            <a:avLst/>
          </a:prstGeom>
          <a:noFill/>
        </p:spPr>
        <p:txBody>
          <a:bodyPr wrap="square" lIns="0" tIns="0" rIns="0" bIns="0" anchor="t">
            <a:noAutofit/>
          </a:bodyPr>
          <a:lstStyle/>
          <a:p>
            <a:pPr marL="146304" indent="-146304" algn="l">
              <a:spcBef>
                <a:spcPts val="0"/>
              </a:spcBef>
              <a:spcAft>
                <a:spcPts val="300"/>
              </a:spcAft>
              <a:buFont typeface="Arial"/>
              <a:buChar char="•"/>
            </a:pPr>
            <a:r>
              <a:rPr sz="1150" b="0" i="0">
                <a:solidFill>
                  <a:srgbClr val="202124"/>
                </a:solidFill>
                <a:latin typeface="Arial"/>
              </a:rPr>
              <a:t>Entity link tables for portfolio-scale customer links</a:t>
            </a:r>
          </a:p>
          <a:p>
            <a:pPr marL="146304" indent="-146304" algn="l">
              <a:spcBef>
                <a:spcPts val="0"/>
              </a:spcBef>
              <a:spcAft>
                <a:spcPts val="300"/>
              </a:spcAft>
              <a:buFont typeface="Arial"/>
              <a:buChar char="•"/>
            </a:pPr>
            <a:r>
              <a:rPr sz="1150" b="0" i="0">
                <a:solidFill>
                  <a:srgbClr val="202124"/>
                </a:solidFill>
                <a:latin typeface="Arial"/>
              </a:rPr>
              <a:t>Live GST, ITR, MCA and OFAC/AML screening via licensed providers</a:t>
            </a:r>
          </a:p>
          <a:p>
            <a:pPr marL="146304" indent="-146304" algn="l">
              <a:spcBef>
                <a:spcPts val="0"/>
              </a:spcBef>
              <a:spcAft>
                <a:spcPts val="300"/>
              </a:spcAft>
              <a:buFont typeface="Arial"/>
              <a:buChar char="•"/>
            </a:pPr>
            <a:r>
              <a:rPr sz="1150" b="0" i="0">
                <a:solidFill>
                  <a:srgbClr val="202124"/>
                </a:solidFill>
                <a:latin typeface="Arial"/>
              </a:rPr>
              <a:t>Per-lender policies and thresholds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63825"/>
            <a:ext cx="8943000" cy="146304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dirty="0">
                <a:latin typeface="Google Sans Flex Medium"/>
                <a:ea typeface="Google Sans Flex Medium"/>
                <a:cs typeface="Google Sans Flex Medium"/>
                <a:sym typeface="Google Sans Flex Medium"/>
              </a:rPr>
              <a:t>Provide links to your:</a:t>
            </a:r>
            <a:endParaRPr sz="1600"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GitHub Public Repository: </a:t>
            </a:r>
            <a:r>
              <a:rPr dirty="0">
                <a:hlinkClick r:id="rId5"/>
              </a:rPr>
              <a:t>https://github.com/abhinavmukwane/FinRiskLensAI-RAG-V2</a:t>
            </a:r>
            <a:endParaRPr dirty="0">
              <a:latin typeface="Google Sans Flex Medium"/>
              <a:ea typeface="Google Sans Flex Medium"/>
              <a:cs typeface="Google Sans Flex Medium"/>
              <a:sym typeface="Google Sans Flex Medium"/>
            </a:endParaRPr>
          </a:p>
          <a:p>
            <a:pPr marL="457200" indent="-317500">
              <a:buSzPts val="1400"/>
              <a:buFont typeface="Google Sans Flex Medium"/>
              <a:buChar char="●"/>
            </a:pPr>
            <a:r>
              <a:rPr lang="en-GB" dirty="0">
                <a:latin typeface="Google Sans Flex Medium"/>
                <a:ea typeface="Google Sans Flex Medium"/>
                <a:cs typeface="Google Sans Flex Medium"/>
                <a:sym typeface="Google Sans Flex Medium"/>
              </a:rPr>
              <a:t>Demo Video Link (3 Minutes): </a:t>
            </a:r>
            <a:r>
              <a:rPr lang="en-IN" dirty="0">
                <a:hlinkClick r:id="rId6"/>
              </a:rPr>
              <a:t>https://video-ai-builder-cup.finrisklensai.com</a:t>
            </a:r>
            <a:endParaRPr dirty="0">
              <a:sym typeface="Google Sans Flex Medium"/>
            </a:endParaRPr>
          </a:p>
          <a:p>
            <a:pPr marL="457200" lvl="0" indent="-317500" algn="l" rtl="0">
              <a:spcBef>
                <a:spcPts val="0"/>
              </a:spcBef>
              <a:spcAft>
                <a:spcPts val="0"/>
              </a:spcAft>
              <a:buSzPts val="1400"/>
              <a:buFont typeface="Google Sans Flex Medium"/>
              <a:buChar char="●"/>
            </a:pPr>
            <a:r>
              <a:rPr lang="en-GB" dirty="0">
                <a:latin typeface="Google Sans Flex Medium"/>
                <a:ea typeface="Google Sans Flex Medium"/>
                <a:cs typeface="Google Sans Flex Medium"/>
                <a:sym typeface="Google Sans Flex Medium"/>
              </a:rPr>
              <a:t>Final Product Link: </a:t>
            </a:r>
            <a:r>
              <a:rPr dirty="0">
                <a:hlinkClick r:id="rId7"/>
              </a:rPr>
              <a:t>https://finrisklensai.cloud.run</a:t>
            </a:r>
            <a:endParaRPr dirty="0">
              <a:latin typeface="Google Sans Flex Medium"/>
              <a:ea typeface="Google Sans Flex Medium"/>
              <a:cs typeface="Google Sans Flex Medium"/>
              <a:sym typeface="Google Sans Flex Medium"/>
            </a:endParaRPr>
          </a:p>
          <a:p>
            <a:pPr marL="0" lvl="0" indent="0" algn="l" rtl="0">
              <a:spcBef>
                <a:spcPts val="0"/>
              </a:spcBef>
              <a:spcAft>
                <a:spcPts val="0"/>
              </a:spcAft>
              <a:buNone/>
            </a:pPr>
            <a:endParaRPr sz="1600" dirty="0">
              <a:latin typeface="Google Sans Flex Medium"/>
              <a:ea typeface="Google Sans Flex Medium"/>
              <a:cs typeface="Google Sans Flex Medium"/>
              <a:sym typeface="Google Sans Flex Medium"/>
            </a:endParaRPr>
          </a:p>
        </p:txBody>
      </p:sp>
      <p:sp>
        <p:nvSpPr>
          <p:cNvPr id="160" name="access_box"/>
          <p:cNvSpPr/>
          <p:nvPr/>
        </p:nvSpPr>
        <p:spPr>
          <a:xfrm>
            <a:off x="320040" y="2423160"/>
            <a:ext cx="8503920" cy="86868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access_circle"/>
          <p:cNvSpPr/>
          <p:nvPr/>
        </p:nvSpPr>
        <p:spPr>
          <a:xfrm>
            <a:off x="457200" y="256032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2" name="access_icon" descr="lock_w.png"/>
          <p:cNvPicPr>
            <a:picLocks noChangeAspect="1"/>
          </p:cNvPicPr>
          <p:nvPr/>
        </p:nvPicPr>
        <p:blipFill>
          <a:blip r:embed="rId8"/>
          <a:stretch>
            <a:fillRect/>
          </a:stretch>
        </p:blipFill>
        <p:spPr>
          <a:xfrm>
            <a:off x="541690" y="2644810"/>
            <a:ext cx="215066" cy="215066"/>
          </a:xfrm>
          <a:prstGeom prst="rect">
            <a:avLst/>
          </a:prstGeom>
        </p:spPr>
      </p:pic>
      <p:sp>
        <p:nvSpPr>
          <p:cNvPr id="163" name="TextBox 162"/>
          <p:cNvSpPr txBox="1"/>
          <p:nvPr/>
        </p:nvSpPr>
        <p:spPr>
          <a:xfrm>
            <a:off x="960119" y="2514600"/>
            <a:ext cx="7726680" cy="914400"/>
          </a:xfrm>
          <a:prstGeom prst="rect">
            <a:avLst/>
          </a:prstGeom>
          <a:noFill/>
        </p:spPr>
        <p:txBody>
          <a:bodyPr wrap="square" lIns="0" tIns="0" rIns="0" bIns="0" anchor="t">
            <a:noAutofit/>
          </a:bodyPr>
          <a:lstStyle/>
          <a:p>
            <a:pPr algn="l">
              <a:spcBef>
                <a:spcPts val="0"/>
              </a:spcBef>
              <a:spcAft>
                <a:spcPts val="300"/>
              </a:spcAft>
            </a:pPr>
            <a:r>
              <a:rPr sz="1200" b="1" i="0" dirty="0">
                <a:solidFill>
                  <a:srgbClr val="202124"/>
                </a:solidFill>
                <a:latin typeface="Arial"/>
              </a:rPr>
              <a:t>For the evaluation panel</a:t>
            </a:r>
          </a:p>
          <a:p>
            <a:pPr algn="l">
              <a:spcBef>
                <a:spcPts val="0"/>
              </a:spcBef>
              <a:spcAft>
                <a:spcPts val="300"/>
              </a:spcAft>
            </a:pPr>
            <a:r>
              <a:rPr sz="1050" b="0" i="0" dirty="0">
                <a:solidFill>
                  <a:srgbClr val="202124"/>
                </a:solidFill>
                <a:latin typeface="Arial"/>
              </a:rPr>
              <a:t>Bank portal: </a:t>
            </a:r>
            <a:r>
              <a:rPr sz="1050" b="1" i="0" dirty="0">
                <a:solidFill>
                  <a:srgbClr val="202124"/>
                </a:solidFill>
                <a:latin typeface="Arial"/>
                <a:hlinkClick r:id="rId9"/>
              </a:rPr>
              <a:t>https://finrisklensai.cloud.run/Auth/BankLogin</a:t>
            </a:r>
            <a:r>
              <a:rPr sz="1050" b="0" i="0" dirty="0">
                <a:solidFill>
                  <a:srgbClr val="202124"/>
                </a:solidFill>
                <a:latin typeface="Arial"/>
              </a:rPr>
              <a:t> — credentials are</a:t>
            </a:r>
            <a:r>
              <a:rPr lang="en-US" sz="1050" b="0" i="0" dirty="0">
                <a:solidFill>
                  <a:srgbClr val="202124"/>
                </a:solidFill>
                <a:latin typeface="Arial"/>
              </a:rPr>
              <a:t> User ID: </a:t>
            </a:r>
            <a:r>
              <a:rPr lang="en-US" sz="1050" b="0" i="0" dirty="0" err="1">
                <a:solidFill>
                  <a:srgbClr val="202124"/>
                </a:solidFill>
                <a:latin typeface="Arial"/>
              </a:rPr>
              <a:t>bankadmin</a:t>
            </a:r>
            <a:r>
              <a:rPr lang="en-US" sz="1050" dirty="0">
                <a:solidFill>
                  <a:srgbClr val="202124"/>
                </a:solidFill>
              </a:rPr>
              <a:t>, Password: Bank@123</a:t>
            </a:r>
            <a:r>
              <a:rPr sz="1050" b="0" i="0" dirty="0">
                <a:solidFill>
                  <a:srgbClr val="202124"/>
                </a:solidFill>
                <a:latin typeface="Arial"/>
              </a:rPr>
              <a:t>.</a:t>
            </a:r>
          </a:p>
          <a:p>
            <a:pPr algn="l">
              <a:spcBef>
                <a:spcPts val="0"/>
              </a:spcBef>
              <a:spcAft>
                <a:spcPts val="300"/>
              </a:spcAft>
            </a:pPr>
            <a:r>
              <a:rPr sz="1050" b="0" i="0" dirty="0">
                <a:solidFill>
                  <a:srgbClr val="5F6368"/>
                </a:solidFill>
                <a:latin typeface="Arial"/>
              </a:rPr>
              <a:t>All demo data is synthetic. GST, ITR and MCA are generated samples; OFAC/AML screening is a demo.</a:t>
            </a:r>
          </a:p>
        </p:txBody>
      </p:sp>
      <p:sp>
        <p:nvSpPr>
          <p:cNvPr id="164" name="repo_box"/>
          <p:cNvSpPr/>
          <p:nvPr/>
        </p:nvSpPr>
        <p:spPr>
          <a:xfrm>
            <a:off x="320040" y="3429000"/>
            <a:ext cx="8503920" cy="10515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5" name="repo_circle"/>
          <p:cNvSpPr/>
          <p:nvPr/>
        </p:nvSpPr>
        <p:spPr>
          <a:xfrm>
            <a:off x="457200" y="3566160"/>
            <a:ext cx="384048" cy="384048"/>
          </a:xfrm>
          <a:prstGeom prst="ellipse">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6" name="repo_icon" descr="github_w.png"/>
          <p:cNvPicPr>
            <a:picLocks noChangeAspect="1"/>
          </p:cNvPicPr>
          <p:nvPr/>
        </p:nvPicPr>
        <p:blipFill>
          <a:blip r:embed="rId10"/>
          <a:stretch>
            <a:fillRect/>
          </a:stretch>
        </p:blipFill>
        <p:spPr>
          <a:xfrm>
            <a:off x="541690" y="3650650"/>
            <a:ext cx="215066" cy="215066"/>
          </a:xfrm>
          <a:prstGeom prst="rect">
            <a:avLst/>
          </a:prstGeom>
        </p:spPr>
      </p:pic>
      <p:sp>
        <p:nvSpPr>
          <p:cNvPr id="167" name="TextBox 166"/>
          <p:cNvSpPr txBox="1"/>
          <p:nvPr/>
        </p:nvSpPr>
        <p:spPr>
          <a:xfrm>
            <a:off x="960119" y="3520440"/>
            <a:ext cx="7726680" cy="914400"/>
          </a:xfrm>
          <a:prstGeom prst="rect">
            <a:avLst/>
          </a:prstGeom>
          <a:noFill/>
        </p:spPr>
        <p:txBody>
          <a:bodyPr wrap="square" lIns="0" tIns="0" rIns="0" bIns="0" anchor="t">
            <a:noAutofit/>
          </a:bodyPr>
          <a:lstStyle/>
          <a:p>
            <a:pPr algn="l">
              <a:spcBef>
                <a:spcPts val="0"/>
              </a:spcBef>
              <a:spcAft>
                <a:spcPts val="300"/>
              </a:spcAft>
            </a:pPr>
            <a:r>
              <a:rPr sz="1200" b="1" i="0">
                <a:solidFill>
                  <a:srgbClr val="202124"/>
                </a:solidFill>
                <a:latin typeface="Arial"/>
              </a:rPr>
              <a:t>In the repository</a:t>
            </a:r>
          </a:p>
          <a:p>
            <a:pPr algn="l">
              <a:spcBef>
                <a:spcPts val="0"/>
              </a:spcBef>
              <a:spcAft>
                <a:spcPts val="300"/>
              </a:spcAft>
            </a:pPr>
            <a:r>
              <a:rPr sz="1050" b="0" i="0">
                <a:solidFill>
                  <a:srgbClr val="202124"/>
                </a:solidFill>
                <a:latin typeface="Arial"/>
              </a:rPr>
              <a:t>README — how it works and every measurement · Doc/12_CUSTOMER_RISK_LENS.md — the customer flow · Doc/ARCHITECTURE.md</a:t>
            </a:r>
          </a:p>
          <a:p>
            <a:pPr algn="l">
              <a:spcBef>
                <a:spcPts val="0"/>
              </a:spcBef>
              <a:spcAft>
                <a:spcPts val="300"/>
              </a:spcAft>
            </a:pPr>
            <a:r>
              <a:rPr sz="1050" b="0" i="0">
                <a:solidFill>
                  <a:srgbClr val="5F6368"/>
                </a:solidFill>
                <a:latin typeface="Arial"/>
              </a:rPr>
              <a:t>Run it yourself: dotnet test (70 tests) · DemoData eval (live extraction scored against ground truth)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7" name="Google Shape;143;p24"/>
          <p:cNvSpPr txBox="1"/>
          <p:nvPr/>
        </p:nvSpPr>
        <p:spPr>
          <a:xfrm>
            <a:off x="265350" y="663825"/>
            <a:ext cx="8943000" cy="561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Try it on the live site</a:t>
            </a:r>
            <a:endParaRPr sz="1600">
              <a:latin typeface="Google Sans Flex Medium"/>
              <a:ea typeface="Google Sans Flex Medium"/>
              <a:cs typeface="Google Sans Flex Medium"/>
              <a:sym typeface="Google Sans Flex Medium"/>
            </a:endParaRPr>
          </a:p>
        </p:txBody>
      </p:sp>
      <p:sp>
        <p:nvSpPr>
          <p:cNvPr id="168" name="try_customer"/>
          <p:cNvSpPr/>
          <p:nvPr/>
        </p:nvSpPr>
        <p:spPr>
          <a:xfrm>
            <a:off x="320040" y="1188720"/>
            <a:ext cx="4206240" cy="24231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try_customer_circle"/>
          <p:cNvSpPr/>
          <p:nvPr/>
        </p:nvSpPr>
        <p:spPr>
          <a:xfrm>
            <a:off x="45720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0" name="try_customer_icon" descr="users_w.png"/>
          <p:cNvPicPr>
            <a:picLocks noChangeAspect="1"/>
          </p:cNvPicPr>
          <p:nvPr/>
        </p:nvPicPr>
        <p:blipFill>
          <a:blip r:embed="rId5"/>
          <a:stretch>
            <a:fillRect/>
          </a:stretch>
        </p:blipFill>
        <p:spPr>
          <a:xfrm>
            <a:off x="541690" y="1410370"/>
            <a:ext cx="215066" cy="215066"/>
          </a:xfrm>
          <a:prstGeom prst="rect">
            <a:avLst/>
          </a:prstGeom>
        </p:spPr>
      </p:pic>
      <p:sp>
        <p:nvSpPr>
          <p:cNvPr id="171" name="TextBox 170"/>
          <p:cNvSpPr txBox="1"/>
          <p:nvPr/>
        </p:nvSpPr>
        <p:spPr>
          <a:xfrm>
            <a:off x="94183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As a customer (MSME)</a:t>
            </a:r>
          </a:p>
        </p:txBody>
      </p:sp>
      <p:sp>
        <p:nvSpPr>
          <p:cNvPr id="172" name="TextBox 171"/>
          <p:cNvSpPr txBox="1"/>
          <p:nvPr/>
        </p:nvSpPr>
        <p:spPr>
          <a:xfrm>
            <a:off x="457200" y="1792224"/>
            <a:ext cx="3931920" cy="1728216"/>
          </a:xfrm>
          <a:prstGeom prst="rect">
            <a:avLst/>
          </a:prstGeom>
          <a:noFill/>
        </p:spPr>
        <p:txBody>
          <a:bodyPr wrap="square" lIns="0" tIns="0" rIns="0" bIns="0" anchor="t">
            <a:noAutofit/>
          </a:bodyPr>
          <a:lstStyle/>
          <a:p>
            <a:pPr algn="l">
              <a:spcBef>
                <a:spcPts val="0"/>
              </a:spcBef>
              <a:spcAft>
                <a:spcPts val="500"/>
              </a:spcAft>
            </a:pPr>
            <a:r>
              <a:rPr sz="1050" b="1" i="0">
                <a:solidFill>
                  <a:srgbClr val="7A1230"/>
                </a:solidFill>
                <a:latin typeface="Arial"/>
              </a:rPr>
              <a:t>1  </a:t>
            </a:r>
            <a:r>
              <a:rPr sz="1050" b="0" i="0">
                <a:solidFill>
                  <a:srgbClr val="202124"/>
                </a:solidFill>
                <a:latin typeface="Arial"/>
              </a:rPr>
              <a:t>Start MSME Assessment on the home page: register with the Udyam number, verify by email code</a:t>
            </a:r>
          </a:p>
          <a:p>
            <a:pPr algn="l">
              <a:spcBef>
                <a:spcPts val="0"/>
              </a:spcBef>
              <a:spcAft>
                <a:spcPts val="500"/>
              </a:spcAft>
            </a:pPr>
            <a:r>
              <a:rPr sz="1050" b="1" i="0">
                <a:solidFill>
                  <a:srgbClr val="7A1230"/>
                </a:solidFill>
                <a:latin typeface="Arial"/>
              </a:rPr>
              <a:t>2  </a:t>
            </a:r>
            <a:r>
              <a:rPr sz="1050" b="0" i="0">
                <a:solidFill>
                  <a:srgbClr val="202124"/>
                </a:solidFill>
                <a:latin typeface="Arial"/>
              </a:rPr>
              <a:t>Connect data sources: bank data by Account Aggregator consent; GST, ITR and MCA</a:t>
            </a:r>
          </a:p>
          <a:p>
            <a:pPr algn="l">
              <a:spcBef>
                <a:spcPts val="0"/>
              </a:spcBef>
              <a:spcAft>
                <a:spcPts val="500"/>
              </a:spcAft>
            </a:pPr>
            <a:r>
              <a:rPr sz="1050" b="1" i="0">
                <a:solidFill>
                  <a:srgbClr val="7A1230"/>
                </a:solidFill>
                <a:latin typeface="Arial"/>
              </a:rPr>
              <a:t>3  </a:t>
            </a:r>
            <a:r>
              <a:rPr sz="1050" b="0" i="0">
                <a:solidFill>
                  <a:srgbClr val="202124"/>
                </a:solidFill>
                <a:latin typeface="Arial"/>
              </a:rPr>
              <a:t>Upload bank statements or other documents</a:t>
            </a:r>
          </a:p>
          <a:p>
            <a:pPr algn="l">
              <a:spcBef>
                <a:spcPts val="0"/>
              </a:spcBef>
              <a:spcAft>
                <a:spcPts val="500"/>
              </a:spcAft>
            </a:pPr>
            <a:r>
              <a:rPr sz="1050" b="1" i="0">
                <a:solidFill>
                  <a:srgbClr val="7A1230"/>
                </a:solidFill>
                <a:latin typeface="Arial"/>
              </a:rPr>
              <a:t>4  </a:t>
            </a:r>
            <a:r>
              <a:rPr sz="1050" b="0" i="0">
                <a:solidFill>
                  <a:srgbClr val="202124"/>
                </a:solidFill>
                <a:latin typeface="Arial"/>
              </a:rPr>
              <a:t>Each source page explains the business's own data; the assistant answers questions on it</a:t>
            </a:r>
          </a:p>
        </p:txBody>
      </p:sp>
      <p:sp>
        <p:nvSpPr>
          <p:cNvPr id="173" name="try_bank"/>
          <p:cNvSpPr/>
          <p:nvPr/>
        </p:nvSpPr>
        <p:spPr>
          <a:xfrm>
            <a:off x="4617720" y="1188720"/>
            <a:ext cx="4206240" cy="2423160"/>
          </a:xfrm>
          <a:prstGeom prst="roundRect">
            <a:avLst>
              <a:gd name="adj" fmla="val 6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ry_bank_circle"/>
          <p:cNvSpPr/>
          <p:nvPr/>
        </p:nvSpPr>
        <p:spPr>
          <a:xfrm>
            <a:off x="4754880" y="1325880"/>
            <a:ext cx="384048" cy="384048"/>
          </a:xfrm>
          <a:prstGeom prst="ellipse">
            <a:avLst/>
          </a:prstGeom>
          <a:solidFill>
            <a:srgbClr val="7A1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5" name="try_bank_icon" descr="bank_w.png"/>
          <p:cNvPicPr>
            <a:picLocks noChangeAspect="1"/>
          </p:cNvPicPr>
          <p:nvPr/>
        </p:nvPicPr>
        <p:blipFill>
          <a:blip r:embed="rId6"/>
          <a:stretch>
            <a:fillRect/>
          </a:stretch>
        </p:blipFill>
        <p:spPr>
          <a:xfrm>
            <a:off x="4839370" y="1410370"/>
            <a:ext cx="215066" cy="215066"/>
          </a:xfrm>
          <a:prstGeom prst="rect">
            <a:avLst/>
          </a:prstGeom>
        </p:spPr>
      </p:pic>
      <p:sp>
        <p:nvSpPr>
          <p:cNvPr id="176" name="TextBox 175"/>
          <p:cNvSpPr txBox="1"/>
          <p:nvPr/>
        </p:nvSpPr>
        <p:spPr>
          <a:xfrm>
            <a:off x="5239512" y="1325880"/>
            <a:ext cx="3474720" cy="384048"/>
          </a:xfrm>
          <a:prstGeom prst="rect">
            <a:avLst/>
          </a:prstGeom>
          <a:noFill/>
        </p:spPr>
        <p:txBody>
          <a:bodyPr wrap="square" lIns="0" tIns="0" rIns="0" bIns="0" anchor="ctr">
            <a:noAutofit/>
          </a:bodyPr>
          <a:lstStyle/>
          <a:p>
            <a:pPr algn="l">
              <a:spcBef>
                <a:spcPts val="0"/>
              </a:spcBef>
              <a:spcAft>
                <a:spcPts val="300"/>
              </a:spcAft>
            </a:pPr>
            <a:r>
              <a:rPr sz="1200" b="1" i="0">
                <a:solidFill>
                  <a:srgbClr val="202124"/>
                </a:solidFill>
                <a:latin typeface="Arial"/>
              </a:rPr>
              <a:t>As the bank (panel sign-in)</a:t>
            </a:r>
          </a:p>
        </p:txBody>
      </p:sp>
      <p:sp>
        <p:nvSpPr>
          <p:cNvPr id="177" name="TextBox 176"/>
          <p:cNvSpPr txBox="1"/>
          <p:nvPr/>
        </p:nvSpPr>
        <p:spPr>
          <a:xfrm>
            <a:off x="4754880" y="1792224"/>
            <a:ext cx="3931920" cy="1728216"/>
          </a:xfrm>
          <a:prstGeom prst="rect">
            <a:avLst/>
          </a:prstGeom>
          <a:noFill/>
        </p:spPr>
        <p:txBody>
          <a:bodyPr wrap="square" lIns="0" tIns="0" rIns="0" bIns="0" anchor="t">
            <a:noAutofit/>
          </a:bodyPr>
          <a:lstStyle/>
          <a:p>
            <a:pPr algn="l">
              <a:spcBef>
                <a:spcPts val="0"/>
              </a:spcBef>
              <a:spcAft>
                <a:spcPts val="500"/>
              </a:spcAft>
            </a:pPr>
            <a:r>
              <a:rPr sz="1050" b="1" i="0">
                <a:solidFill>
                  <a:srgbClr val="7A1230"/>
                </a:solidFill>
                <a:latin typeface="Arial"/>
              </a:rPr>
              <a:t>1  </a:t>
            </a:r>
            <a:r>
              <a:rPr sz="1050" b="0" i="0">
                <a:solidFill>
                  <a:srgbClr val="202124"/>
                </a:solidFill>
                <a:latin typeface="Arial"/>
              </a:rPr>
              <a:t>Dashboard: the onboarded portfolio</a:t>
            </a:r>
          </a:p>
          <a:p>
            <a:pPr algn="l">
              <a:spcBef>
                <a:spcPts val="0"/>
              </a:spcBef>
              <a:spcAft>
                <a:spcPts val="500"/>
              </a:spcAft>
            </a:pPr>
            <a:r>
              <a:rPr sz="1050" b="1" i="0">
                <a:solidFill>
                  <a:srgbClr val="7A1230"/>
                </a:solidFill>
                <a:latin typeface="Arial"/>
              </a:rPr>
              <a:t>2  </a:t>
            </a:r>
            <a:r>
              <a:rPr sz="1050" b="0" i="0">
                <a:solidFill>
                  <a:srgbClr val="202124"/>
                </a:solidFill>
                <a:latin typeface="Arial"/>
              </a:rPr>
              <a:t>Customers: a risk status for each — Clear, Review, High risk or Awaiting data</a:t>
            </a:r>
          </a:p>
          <a:p>
            <a:pPr algn="l">
              <a:spcBef>
                <a:spcPts val="0"/>
              </a:spcBef>
              <a:spcAft>
                <a:spcPts val="500"/>
              </a:spcAft>
            </a:pPr>
            <a:r>
              <a:rPr sz="1050" b="1" i="0">
                <a:solidFill>
                  <a:srgbClr val="7A1230"/>
                </a:solidFill>
                <a:latin typeface="Arial"/>
              </a:rPr>
              <a:t>3  </a:t>
            </a:r>
            <a:r>
              <a:rPr sz="1050" b="0" i="0">
                <a:solidFill>
                  <a:srgbClr val="202124"/>
                </a:solidFill>
                <a:latin typeface="Arial"/>
              </a:rPr>
              <a:t>Open a customer: the Risk Lens — verdict, a section per source, each finding with its evidence; confirm or dismiss</a:t>
            </a:r>
          </a:p>
          <a:p>
            <a:pPr algn="l">
              <a:spcBef>
                <a:spcPts val="0"/>
              </a:spcBef>
              <a:spcAft>
                <a:spcPts val="500"/>
              </a:spcAft>
            </a:pPr>
            <a:r>
              <a:rPr sz="1050" b="1" i="0">
                <a:solidFill>
                  <a:srgbClr val="7A1230"/>
                </a:solidFill>
                <a:latin typeface="Arial"/>
              </a:rPr>
              <a:t>4  </a:t>
            </a:r>
            <a:r>
              <a:rPr sz="1050" b="0" i="0">
                <a:solidFill>
                  <a:srgbClr val="202124"/>
                </a:solidFill>
                <a:latin typeface="Arial"/>
              </a:rPr>
              <a:t>A Clear customer: the AI credit decision, then the loan case to LOS, ULI (OCEN) or ONDC</a:t>
            </a:r>
          </a:p>
        </p:txBody>
      </p:sp>
      <p:sp>
        <p:nvSpPr>
          <p:cNvPr id="178" name="TextBox 177"/>
          <p:cNvSpPr txBox="1"/>
          <p:nvPr/>
        </p:nvSpPr>
        <p:spPr>
          <a:xfrm>
            <a:off x="320040" y="3794760"/>
            <a:ext cx="8503920" cy="411480"/>
          </a:xfrm>
          <a:prstGeom prst="rect">
            <a:avLst/>
          </a:prstGeom>
          <a:noFill/>
        </p:spPr>
        <p:txBody>
          <a:bodyPr wrap="square" lIns="0" tIns="0" rIns="0" bIns="0" anchor="t">
            <a:noAutofit/>
          </a:bodyPr>
          <a:lstStyle/>
          <a:p>
            <a:pPr algn="l">
              <a:spcBef>
                <a:spcPts val="0"/>
              </a:spcBef>
              <a:spcAft>
                <a:spcPts val="300"/>
              </a:spcAft>
            </a:pPr>
            <a:r>
              <a:rPr sz="950" b="1" i="0">
                <a:solidFill>
                  <a:srgbClr val="5F6368"/>
                </a:solidFill>
                <a:latin typeface="Arial"/>
              </a:rPr>
              <a:t>Demo data: </a:t>
            </a:r>
            <a:r>
              <a:rPr sz="950" b="0" i="0">
                <a:solidFill>
                  <a:srgbClr val="5F6368"/>
                </a:solidFill>
                <a:latin typeface="Arial"/>
              </a:rPr>
              <a:t>every business is synthetic; GST, ITR and MCA are generated samples; Account Aggregator runs on the Finvu sandbox; OFAC/AML screening is a demo. Bank sign-in details are on the links slide.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2604</Words>
  <Application>Microsoft Office PowerPoint</Application>
  <PresentationFormat>On-screen Show (16:9)</PresentationFormat>
  <Paragraphs>305</Paragraphs>
  <Slides>21</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Google Sans Flex SemiBold</vt:lpstr>
      <vt:lpstr>Google Sans Flex Medium</vt:lpstr>
      <vt:lpstr>Google Sans Flex</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Abhinav</cp:lastModifiedBy>
  <cp:revision>7</cp:revision>
  <dcterms:modified xsi:type="dcterms:W3CDTF">2026-10-17T17:19:16Z</dcterms:modified>
</cp:coreProperties>
</file>