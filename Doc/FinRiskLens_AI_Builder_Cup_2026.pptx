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"/>
  </p:notesMasterIdLst>
  <p:sldIdLst>
    <p:sldId id="278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81" r:id="rId12"/>
    <p:sldId id="277" r:id="rId13"/>
    <p:sldId id="276" r:id="rId14"/>
    <p:sldId id="275" r:id="rId15"/>
    <p:sldId id="279" r:id="rId16"/>
    <p:sldId id="280" r:id="rId17"/>
    <p:sldId id="274" r:id="rId18"/>
    <p:sldId id="273" r:id="rId19"/>
    <p:sldId id="272" r:id="rId20"/>
    <p:sldId id="267" r:id="rId21"/>
    <p:sldId id="268" r:id="rId22"/>
    <p:sldId id="269" r:id="rId23"/>
    <p:sldId id="270" r:id="rId24"/>
    <p:sldId id="271" r:id="rId25"/>
  </p:sldIdLst>
  <p:sldSz cx="9144000" cy="5143500" type="screen16x9"/>
  <p:notesSz cx="6858000" cy="9144000"/>
  <p:embeddedFontLst>
    <p:embeddedFont>
      <p:font typeface="Google Sans Flex" panose="020B0604020202020204" charset="0"/>
      <p:regular r:id="rId27"/>
      <p:bold r:id="rId28"/>
    </p:embeddedFont>
    <p:embeddedFont>
      <p:font typeface="Google Sans Flex Medium" panose="020B0604020202020204" charset="0"/>
      <p:regular r:id="rId29"/>
      <p:bold r:id="rId30"/>
    </p:embeddedFont>
    <p:embeddedFont>
      <p:font typeface="Google Sans Flex SemiBold" panose="020B0604020202020204" charset="0"/>
      <p:regular r:id="rId31"/>
      <p:bold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FinRiskLens — evidence-based fraud detection and risk analysis for MSME lending, built on Google Cloud by team AS FinTech Developer.</a:t>
            </a:r>
          </a:p>
        </p:txBody>
      </p:sp>
    </p:spTree>
    <p:extLst>
      <p:ext uri="{BB962C8B-B14F-4D97-AF65-F5344CB8AC3E}">
        <p14:creationId xmlns:p14="http://schemas.microsoft.com/office/powerpoint/2010/main" val="37241750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RBI figures from the RBI Annual Report 2024-25 (released May 2025), date-of-reporting basis.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Steps 2–5 run in a background worker whenever a customer shares a source or uploads a document; the Risk Lens refreshes until they finish. Step 7 runs only for a Clear customer — a confirmed finding blocks it — and only an accepted Approve can be sent.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Customer documents are stored, read and embedded in Mumbai; only Gemini Pro (investigator and credit decision) and the Flash reranker run on the global endpoint, and Pro sees extracted facts, never the files.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All figures are planning estimates for budgeting. Gemini usage scales with pages read, investigations run and credit decisions made.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48223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90606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1559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Extraction accuracy: two consecutive live runs on 14 scenarios (17 documents, 1,298 rows) scored 99.8% and 100%; the 6 linked-applicant scenarios scored 428/428. The eval also caught a model drift (95.6%) that day-first date guidance and an arithmetic-triggered re-read fixed.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4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4.png"/><Relationship Id="rId5" Type="http://schemas.openxmlformats.org/officeDocument/2006/relationships/image" Target="../media/image15.png"/><Relationship Id="rId10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2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2.png"/><Relationship Id="rId7" Type="http://schemas.openxmlformats.org/officeDocument/2006/relationships/hyperlink" Target="https://finrisklensai.cloud.run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video-ai-builder-cup.finrisklensai.com/" TargetMode="External"/><Relationship Id="rId11" Type="http://schemas.openxmlformats.org/officeDocument/2006/relationships/image" Target="../media/image47.png"/><Relationship Id="rId5" Type="http://schemas.openxmlformats.org/officeDocument/2006/relationships/hyperlink" Target="https://github.com/abhinavmukwane/FinRiskLensAI-RAG-V2" TargetMode="External"/><Relationship Id="rId10" Type="http://schemas.openxmlformats.org/officeDocument/2006/relationships/hyperlink" Target="https://finrisklensai.cloud.run/Onboarding/CustOnboarding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finrisklensai.cloud.run/Auth/BankLogin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830124"/>
            <a:ext cx="8760000" cy="2240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 dirty="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dirty="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b="1" dirty="0">
                <a:latin typeface="Google Sans Flex"/>
                <a:ea typeface="Google Sans Flex"/>
                <a:cs typeface="Google Sans Flex"/>
                <a:sym typeface="Google Sans Flex"/>
              </a:rPr>
              <a:t>AS FinTech Developer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endParaRPr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dirty="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b="1" dirty="0">
                <a:latin typeface="Google Sans Flex"/>
                <a:ea typeface="Google Sans Flex"/>
                <a:cs typeface="Google Sans Flex"/>
                <a:sym typeface="Google Sans Flex"/>
              </a:rPr>
              <a:t>Abhinav Mukwane &amp; Sourabh Thakre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endParaRPr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dirty="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b="1" dirty="0">
                <a:latin typeface="Google Sans Flex"/>
                <a:ea typeface="Google Sans Flex"/>
                <a:cs typeface="Google Sans Flex"/>
                <a:sym typeface="Google Sans Flex"/>
              </a:rPr>
              <a:t>Intelligent Risk, Fraud &amp; Financial Experiences (BFSI). </a:t>
            </a:r>
          </a:p>
          <a:p>
            <a:pPr marL="571500" lvl="1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GB" b="1" dirty="0">
                <a:latin typeface="Google Sans Flex"/>
                <a:ea typeface="Google Sans Flex"/>
                <a:cs typeface="Google Sans Flex"/>
                <a:sym typeface="Google Sans Flex"/>
              </a:rPr>
              <a:t>	</a:t>
            </a:r>
          </a:p>
          <a:p>
            <a:pPr marL="571500" lvl="1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GB" b="1" dirty="0" err="1">
                <a:latin typeface="Google Sans Flex"/>
                <a:ea typeface="Google Sans Flex"/>
                <a:cs typeface="Google Sans Flex"/>
                <a:sym typeface="Google Sans Flex"/>
              </a:rPr>
              <a:t>FinRiskLens</a:t>
            </a:r>
            <a:r>
              <a:rPr lang="en-GB" b="1" dirty="0">
                <a:latin typeface="Google Sans Flex"/>
                <a:ea typeface="Google Sans Flex"/>
                <a:cs typeface="Google Sans Flex"/>
                <a:sym typeface="Google Sans Flex"/>
              </a:rPr>
              <a:t> AI</a:t>
            </a:r>
            <a:r>
              <a:rPr lang="en-GB" b="0" dirty="0">
                <a:latin typeface="Google Sans Flex"/>
                <a:ea typeface="Google Sans Flex"/>
                <a:cs typeface="Google Sans Flex"/>
                <a:sym typeface="Google Sans Flex"/>
              </a:rPr>
              <a:t> — fraud detection and risk analysis for every MSME customer, from shared data to a grounded AI credit decision</a:t>
            </a:r>
            <a:endParaRPr dirty="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90826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stat_fraud"/>
          <p:cNvSpPr/>
          <p:nvPr/>
        </p:nvSpPr>
        <p:spPr>
          <a:xfrm>
            <a:off x="320040" y="118872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29768" y="1280160"/>
            <a:ext cx="179222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C5221F"/>
                </a:solidFill>
                <a:latin typeface="Arial"/>
              </a:rPr>
              <a:t>₹36,014 cr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9768" y="1755648"/>
            <a:ext cx="1792224" cy="4297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involved in bank frauds in FY25</a:t>
            </a:r>
          </a:p>
        </p:txBody>
      </p:sp>
      <p:sp>
        <p:nvSpPr>
          <p:cNvPr id="75" name="stat_loans"/>
          <p:cNvSpPr/>
          <p:nvPr/>
        </p:nvSpPr>
        <p:spPr>
          <a:xfrm>
            <a:off x="2468880" y="118872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578608" y="1280160"/>
            <a:ext cx="179222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C5221F"/>
                </a:solidFill>
                <a:latin typeface="Arial"/>
              </a:rPr>
              <a:t>₹33,148 cr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78608" y="1755648"/>
            <a:ext cx="1792224" cy="4297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of it in loans — the largest category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0040" y="230428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5F6368"/>
                </a:solidFill>
                <a:latin typeface="Arial"/>
              </a:rPr>
              <a:t>Source: RBI Annual Report 2024-25 (date of reporting)</a:t>
            </a:r>
          </a:p>
        </p:txBody>
      </p:sp>
      <p:sp>
        <p:nvSpPr>
          <p:cNvPr id="79" name="brief_text"/>
          <p:cNvSpPr txBox="1"/>
          <p:nvPr/>
        </p:nvSpPr>
        <p:spPr>
          <a:xfrm>
            <a:off x="320040" y="2606040"/>
            <a:ext cx="4160520" cy="2331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1" i="0" dirty="0">
                <a:solidFill>
                  <a:srgbClr val="202124"/>
                </a:solidFill>
                <a:latin typeface="Arial"/>
              </a:rPr>
              <a:t>MSME loans are decided on shared data and uploaded documents. </a:t>
            </a:r>
            <a:r>
              <a:rPr sz="1150" b="0" i="0" dirty="0">
                <a:solidFill>
                  <a:srgbClr val="202124"/>
                </a:solidFill>
                <a:latin typeface="Arial"/>
              </a:rPr>
              <a:t>A statement or ITR can be edited in minutes; one fabricator can supply many applicants.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7A1230"/>
                </a:solidFill>
                <a:latin typeface="Arial"/>
              </a:rPr>
              <a:t>FinRiskLens</a:t>
            </a:r>
            <a:r>
              <a:rPr lang="en-US" sz="1150" b="1" i="0" dirty="0">
                <a:solidFill>
                  <a:srgbClr val="7A1230"/>
                </a:solidFill>
                <a:latin typeface="Arial"/>
              </a:rPr>
              <a:t> AI</a:t>
            </a:r>
            <a:r>
              <a:rPr sz="1150" b="1" i="0" dirty="0">
                <a:solidFill>
                  <a:srgbClr val="7A1230"/>
                </a:solidFill>
                <a:latin typeface="Arial"/>
              </a:rPr>
              <a:t> gives the bank one fraud and risk page per customer. </a:t>
            </a:r>
            <a:r>
              <a:rPr sz="1150" b="0" i="0" dirty="0">
                <a:solidFill>
                  <a:srgbClr val="202124"/>
                </a:solidFill>
                <a:latin typeface="Arial"/>
              </a:rPr>
              <a:t>Customers share bank data through Account Aggregator, fetch GST, ITR and MCA,</a:t>
            </a:r>
            <a:r>
              <a:rPr lang="en-US" sz="1150" b="0" i="0" dirty="0">
                <a:solidFill>
                  <a:srgbClr val="202124"/>
                </a:solidFill>
                <a:latin typeface="Arial"/>
              </a:rPr>
              <a:t> OFAC, AML</a:t>
            </a:r>
            <a:r>
              <a:rPr sz="1150" b="0" i="0" dirty="0">
                <a:solidFill>
                  <a:srgbClr val="202124"/>
                </a:solidFill>
                <a:latin typeface="Arial"/>
              </a:rPr>
              <a:t> and upload documents. Gemini reads every page, code checks the arithmetic and the bank's own record, and the network lens links related customers.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202124"/>
                </a:solidFill>
                <a:latin typeface="Arial"/>
              </a:rPr>
              <a:t>Every finding links to its evidence. A Clear customer gets </a:t>
            </a:r>
            <a:r>
              <a:rPr sz="1150" b="1" i="0" dirty="0">
                <a:solidFill>
                  <a:srgbClr val="202124"/>
                </a:solidFill>
                <a:latin typeface="Arial"/>
              </a:rPr>
              <a:t>a grounded AI credit decision, sent to the LOS, ULI (OCEN) or ONDC.</a:t>
            </a:r>
          </a:p>
        </p:txBody>
      </p:sp>
      <p:sp>
        <p:nvSpPr>
          <p:cNvPr id="80" name="lens_0"/>
          <p:cNvSpPr/>
          <p:nvPr/>
        </p:nvSpPr>
        <p:spPr>
          <a:xfrm>
            <a:off x="4709160" y="1188720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lens_0_circle"/>
          <p:cNvSpPr/>
          <p:nvPr/>
        </p:nvSpPr>
        <p:spPr>
          <a:xfrm>
            <a:off x="4846320" y="1389888"/>
            <a:ext cx="420624" cy="420624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lens_0_icon" descr="do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857" y="1482425"/>
            <a:ext cx="235549" cy="235549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13248" y="129844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Every source, one page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13248" y="1572768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IN" sz="1050" b="0" i="0" dirty="0">
                <a:solidFill>
                  <a:srgbClr val="5F6368"/>
                </a:solidFill>
                <a:latin typeface="Arial"/>
              </a:rPr>
              <a:t>Business Registry (</a:t>
            </a:r>
            <a:r>
              <a:rPr sz="1050" b="0" i="0" dirty="0">
                <a:solidFill>
                  <a:srgbClr val="5F6368"/>
                </a:solidFill>
                <a:latin typeface="Arial"/>
              </a:rPr>
              <a:t>Udyam</a:t>
            </a:r>
            <a:r>
              <a:rPr lang="en-US" sz="1050" b="0" i="0" dirty="0">
                <a:solidFill>
                  <a:srgbClr val="5F6368"/>
                </a:solidFill>
                <a:latin typeface="Arial"/>
              </a:rPr>
              <a:t>)</a:t>
            </a:r>
            <a:r>
              <a:rPr sz="1050" b="0" i="0" dirty="0">
                <a:solidFill>
                  <a:srgbClr val="5F6368"/>
                </a:solidFill>
                <a:latin typeface="Arial"/>
              </a:rPr>
              <a:t>, GST, ITR, MCA and uploads, section by section</a:t>
            </a:r>
          </a:p>
        </p:txBody>
      </p:sp>
      <p:sp>
        <p:nvSpPr>
          <p:cNvPr id="85" name="lens_1"/>
          <p:cNvSpPr/>
          <p:nvPr/>
        </p:nvSpPr>
        <p:spPr>
          <a:xfrm>
            <a:off x="4709160" y="2130552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lens_1_circle"/>
          <p:cNvSpPr/>
          <p:nvPr/>
        </p:nvSpPr>
        <p:spPr>
          <a:xfrm>
            <a:off x="4846320" y="2331720"/>
            <a:ext cx="420624" cy="420624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7" name="lens_1_icon" descr="ba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8857" y="2424257"/>
            <a:ext cx="235549" cy="235549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413248" y="22402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The bank's own record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13248" y="2514600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 dirty="0">
                <a:solidFill>
                  <a:srgbClr val="5F6368"/>
                </a:solidFill>
                <a:latin typeface="Arial"/>
              </a:rPr>
              <a:t>Uploaded statements against the Account Aggregator feed</a:t>
            </a:r>
          </a:p>
        </p:txBody>
      </p:sp>
      <p:sp>
        <p:nvSpPr>
          <p:cNvPr id="90" name="lens_2"/>
          <p:cNvSpPr/>
          <p:nvPr/>
        </p:nvSpPr>
        <p:spPr>
          <a:xfrm>
            <a:off x="4709160" y="3072384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lens_2_circle"/>
          <p:cNvSpPr/>
          <p:nvPr/>
        </p:nvSpPr>
        <p:spPr>
          <a:xfrm>
            <a:off x="4846320" y="3273552"/>
            <a:ext cx="420624" cy="420624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lens_2_icon" descr="ring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8857" y="3366089"/>
            <a:ext cx="235549" cy="235549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13248" y="318211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The network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13248" y="3456432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 dirty="0">
                <a:solidFill>
                  <a:srgbClr val="5F6368"/>
                </a:solidFill>
                <a:latin typeface="Arial"/>
              </a:rPr>
              <a:t>Shared directors, contacts and files; circular GST trading</a:t>
            </a:r>
            <a:r>
              <a:rPr lang="en-US" sz="1050" b="0" i="0" dirty="0">
                <a:solidFill>
                  <a:srgbClr val="5F6368"/>
                </a:solidFill>
                <a:latin typeface="Arial"/>
              </a:rPr>
              <a:t>, using OFAC &amp; AML</a:t>
            </a:r>
            <a:endParaRPr sz="1050" b="0" i="0" dirty="0">
              <a:solidFill>
                <a:srgbClr val="5F6368"/>
              </a:solidFill>
              <a:latin typeface="Arial"/>
            </a:endParaRPr>
          </a:p>
        </p:txBody>
      </p:sp>
      <p:sp>
        <p:nvSpPr>
          <p:cNvPr id="95" name="lens_3"/>
          <p:cNvSpPr/>
          <p:nvPr/>
        </p:nvSpPr>
        <p:spPr>
          <a:xfrm>
            <a:off x="4709160" y="4014215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6" name="lens_3_circle"/>
          <p:cNvSpPr/>
          <p:nvPr/>
        </p:nvSpPr>
        <p:spPr>
          <a:xfrm>
            <a:off x="4846320" y="4215383"/>
            <a:ext cx="420624" cy="420624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7" name="lens_3_icon" descr="bo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8857" y="4307921"/>
            <a:ext cx="235549" cy="235549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5413248" y="412394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Grounded AI decisions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413248" y="4398264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F6368"/>
                </a:solidFill>
                <a:latin typeface="Arial"/>
              </a:rPr>
              <a:t>Investigation and credit decision; every figure traced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opp_0"/>
          <p:cNvSpPr/>
          <p:nvPr/>
        </p:nvSpPr>
        <p:spPr>
          <a:xfrm>
            <a:off x="320040" y="118872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opp_0_circle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opp_0_icon" descr="sear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0" y="1410370"/>
            <a:ext cx="215066" cy="21506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941832" y="1325880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How it differs from existing tools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" y="1792224"/>
            <a:ext cx="2468880" cy="20939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 dirty="0">
                <a:solidFill>
                  <a:srgbClr val="202124"/>
                </a:solidFill>
                <a:latin typeface="Arial"/>
              </a:rPr>
              <a:t>Statement analyzers 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look at one document — </a:t>
            </a:r>
            <a:r>
              <a:rPr sz="1050" b="0" i="0" dirty="0" err="1">
                <a:solidFill>
                  <a:srgbClr val="202124"/>
                </a:solidFill>
                <a:latin typeface="Arial"/>
              </a:rPr>
              <a:t>FinRiskLens</a:t>
            </a:r>
            <a:r>
              <a:rPr lang="en-US" sz="1050" b="0" i="0" dirty="0">
                <a:solidFill>
                  <a:srgbClr val="202124"/>
                </a:solidFill>
                <a:latin typeface="Arial"/>
              </a:rPr>
              <a:t> AI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 combines every source of a customer and returns findings with evidence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 dirty="0">
                <a:solidFill>
                  <a:srgbClr val="202124"/>
                </a:solidFill>
                <a:latin typeface="Arial"/>
              </a:rPr>
              <a:t>Arithmetic checks 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pass a careful forgery — </a:t>
            </a:r>
            <a:r>
              <a:rPr sz="1050" b="0" i="0" dirty="0" err="1">
                <a:solidFill>
                  <a:srgbClr val="202124"/>
                </a:solidFill>
                <a:latin typeface="Arial"/>
              </a:rPr>
              <a:t>FinRiskLens</a:t>
            </a:r>
            <a:r>
              <a:rPr lang="en-US" sz="1050" b="0" i="0" dirty="0">
                <a:solidFill>
                  <a:srgbClr val="202124"/>
                </a:solidFill>
                <a:latin typeface="Arial"/>
              </a:rPr>
              <a:t> AI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 also </a:t>
            </a:r>
            <a:r>
              <a:rPr lang="en-US" sz="1050" b="0" i="0" dirty="0">
                <a:solidFill>
                  <a:srgbClr val="202124"/>
                </a:solidFill>
                <a:latin typeface="Arial"/>
              </a:rPr>
              <a:t>analyze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 it with the bank's own record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 dirty="0">
                <a:solidFill>
                  <a:srgbClr val="202124"/>
                </a:solidFill>
                <a:latin typeface="Arial"/>
              </a:rPr>
              <a:t>Single-customer review 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misses organized fraud — the network lens links related customers</a:t>
            </a:r>
          </a:p>
        </p:txBody>
      </p:sp>
      <p:sp>
        <p:nvSpPr>
          <p:cNvPr id="85" name="opp_1"/>
          <p:cNvSpPr/>
          <p:nvPr/>
        </p:nvSpPr>
        <p:spPr>
          <a:xfrm>
            <a:off x="3200400" y="118872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opp_1_circle"/>
          <p:cNvSpPr/>
          <p:nvPr/>
        </p:nvSpPr>
        <p:spPr>
          <a:xfrm>
            <a:off x="333756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7" name="opp_1_icon" descr="za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050" y="1410370"/>
            <a:ext cx="215066" cy="215066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3822191" y="1325880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How it solves the problem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37560" y="1792224"/>
            <a:ext cx="2468880" cy="20939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 dirty="0">
                <a:solidFill>
                  <a:srgbClr val="202124"/>
                </a:solidFill>
                <a:latin typeface="Arial"/>
              </a:rPr>
              <a:t>Fast: 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a customer is reassessed as soon as a source arrives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 dirty="0">
                <a:solidFill>
                  <a:srgbClr val="202124"/>
                </a:solidFill>
                <a:latin typeface="Arial"/>
              </a:rPr>
              <a:t>Verifiable: 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every finding opens the document at its page and row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 dirty="0">
                <a:solidFill>
                  <a:srgbClr val="202124"/>
                </a:solidFill>
                <a:latin typeface="Arial"/>
              </a:rPr>
              <a:t>Decisive: 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the officer confirms or dismisses each finding; a Clear customer goes straight to a loan case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 dirty="0">
                <a:solidFill>
                  <a:srgbClr val="202124"/>
                </a:solidFill>
                <a:latin typeface="Arial"/>
              </a:rPr>
              <a:t>Policy-aware: 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findings and credit decisions cite the lender's credit policy</a:t>
            </a:r>
          </a:p>
        </p:txBody>
      </p:sp>
      <p:sp>
        <p:nvSpPr>
          <p:cNvPr id="90" name="opp_2"/>
          <p:cNvSpPr/>
          <p:nvPr/>
        </p:nvSpPr>
        <p:spPr>
          <a:xfrm>
            <a:off x="6080759" y="118872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opp_2_circle"/>
          <p:cNvSpPr/>
          <p:nvPr/>
        </p:nvSpPr>
        <p:spPr>
          <a:xfrm>
            <a:off x="621792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opp_2_icon" descr="targ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410" y="1410370"/>
            <a:ext cx="215066" cy="21506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6702551" y="1325880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USP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17920" y="1792224"/>
            <a:ext cx="2468880" cy="20939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Grounded AI: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a claim or figure that cannot be traced is set aside — and shown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Bank-record cross-check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through Account Aggregator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Linked customers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through directors, contacts, files and GST invoices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Risk to loan: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AI credit decision, then LOS, ULI (OCEN) or ONDC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1" i="0">
                <a:solidFill>
                  <a:srgbClr val="202124"/>
                </a:solidFill>
                <a:latin typeface="Arial"/>
              </a:rPr>
              <a:t>Documents stay in India: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read and stored in Mumbai</a:t>
            </a:r>
          </a:p>
        </p:txBody>
      </p:sp>
      <p:sp>
        <p:nvSpPr>
          <p:cNvPr id="95" name="who_gains"/>
          <p:cNvSpPr/>
          <p:nvPr/>
        </p:nvSpPr>
        <p:spPr>
          <a:xfrm>
            <a:off x="320040" y="4114800"/>
            <a:ext cx="85039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457200" y="4178808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A1230"/>
                </a:solidFill>
                <a:latin typeface="Arial"/>
              </a:rPr>
              <a:t>Who gains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91640" y="420624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Credit officers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91640" y="4443984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One page per customer, findings with evidence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69080" y="420624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Fraud teams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69080" y="4443984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Linked customers across the portfolio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46520" y="420624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Honest MSMEs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46520" y="4443984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A Clear verdict — a faster loan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_0"/>
          <p:cNvSpPr/>
          <p:nvPr/>
        </p:nvSpPr>
        <p:spPr>
          <a:xfrm>
            <a:off x="320040" y="1188720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feat_0_circle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feat_0_icon" descr="user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0" y="1410370"/>
            <a:ext cx="215066" cy="215066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941832" y="1325880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Customer data, one place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200" y="1792224"/>
            <a:ext cx="246888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Business Registr</a:t>
            </a:r>
            <a:r>
              <a:rPr lang="en-US" sz="1000" b="0" i="0" dirty="0">
                <a:solidFill>
                  <a:srgbClr val="202124"/>
                </a:solidFill>
                <a:latin typeface="Arial"/>
              </a:rPr>
              <a:t>y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 (Udyam); Banking Data by Account Aggregator consent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Tax &amp; Sales (GST), Income Tax (ITR), Corporate Registry (MCA)</a:t>
            </a:r>
            <a:r>
              <a:rPr lang="en-US" sz="1000" b="0" i="0" dirty="0">
                <a:solidFill>
                  <a:srgbClr val="202124"/>
                </a:solidFill>
                <a:latin typeface="Arial"/>
              </a:rPr>
              <a:t>, Office of Foreign Assets Control (OFAC), Anti-money laundering (AML)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; uploads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Reassessed whenever a source arrives</a:t>
            </a:r>
          </a:p>
        </p:txBody>
      </p:sp>
      <p:sp>
        <p:nvSpPr>
          <p:cNvPr id="93" name="feat_1"/>
          <p:cNvSpPr/>
          <p:nvPr/>
        </p:nvSpPr>
        <p:spPr>
          <a:xfrm>
            <a:off x="3200400" y="1188720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feat_1_circle"/>
          <p:cNvSpPr/>
          <p:nvPr/>
        </p:nvSpPr>
        <p:spPr>
          <a:xfrm>
            <a:off x="333756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5" name="feat_1_icon" descr="sca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050" y="1410370"/>
            <a:ext cx="215066" cy="21506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3822191" y="1325880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Document reading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37560" y="1792224"/>
            <a:ext cx="246888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Gemini Flash reads every page in parallel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Numbers copied as printed, never corrected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A page that does not add up is read again</a:t>
            </a:r>
          </a:p>
        </p:txBody>
      </p:sp>
      <p:sp>
        <p:nvSpPr>
          <p:cNvPr id="98" name="feat_2"/>
          <p:cNvSpPr/>
          <p:nvPr/>
        </p:nvSpPr>
        <p:spPr>
          <a:xfrm>
            <a:off x="6080759" y="1188720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feat_2_circle"/>
          <p:cNvSpPr/>
          <p:nvPr/>
        </p:nvSpPr>
        <p:spPr>
          <a:xfrm>
            <a:off x="621792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0" name="feat_2_icon" descr="calc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410" y="1410370"/>
            <a:ext cx="215066" cy="215066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6702551" y="1325880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Checks on every source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1792224"/>
            <a:ext cx="246888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Nine checks: balances, totals, slips, file history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Statement vs the bank's Account Aggregator record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Bank risk flags: pass-through, cash, bounces</a:t>
            </a:r>
          </a:p>
        </p:txBody>
      </p:sp>
      <p:sp>
        <p:nvSpPr>
          <p:cNvPr id="103" name="feat_3"/>
          <p:cNvSpPr/>
          <p:nvPr/>
        </p:nvSpPr>
        <p:spPr>
          <a:xfrm>
            <a:off x="320040" y="3081528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feat_3_circle"/>
          <p:cNvSpPr/>
          <p:nvPr/>
        </p:nvSpPr>
        <p:spPr>
          <a:xfrm>
            <a:off x="45720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5" name="feat_3_icon" descr="ring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690" y="3303178"/>
            <a:ext cx="215066" cy="215066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941832" y="3218688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Linked customers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7200" y="3685032"/>
            <a:ext cx="246888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Same file, template or salary account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Same director, mobile, email or address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Circular trading in GST invoices</a:t>
            </a:r>
            <a:endParaRPr lang="en-US" sz="1000" b="0" i="0" dirty="0">
              <a:solidFill>
                <a:srgbClr val="202124"/>
              </a:solidFill>
              <a:latin typeface="Arial"/>
            </a:endParaRP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IN" sz="1000" dirty="0">
                <a:solidFill>
                  <a:srgbClr val="202124"/>
                </a:solidFill>
              </a:rPr>
              <a:t>Check the OFAC and AML records.</a:t>
            </a:r>
            <a:endParaRPr sz="1000" b="0" i="0" dirty="0">
              <a:solidFill>
                <a:srgbClr val="202124"/>
              </a:solidFill>
              <a:latin typeface="Arial"/>
            </a:endParaRPr>
          </a:p>
        </p:txBody>
      </p:sp>
      <p:sp>
        <p:nvSpPr>
          <p:cNvPr id="108" name="feat_4"/>
          <p:cNvSpPr/>
          <p:nvPr/>
        </p:nvSpPr>
        <p:spPr>
          <a:xfrm>
            <a:off x="3200400" y="3081528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feat_4_circle"/>
          <p:cNvSpPr/>
          <p:nvPr/>
        </p:nvSpPr>
        <p:spPr>
          <a:xfrm>
            <a:off x="333756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0" name="feat_4_icon" descr="bo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22050" y="3303178"/>
            <a:ext cx="215066" cy="215066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3822191" y="3218688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AI investigator, grounded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337560" y="3685032"/>
            <a:ext cx="246888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Gemini Pro with tools bound to one customer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Every claim cites rows; amounts must trace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Rejected claims shown, never hidden</a:t>
            </a:r>
          </a:p>
        </p:txBody>
      </p:sp>
      <p:sp>
        <p:nvSpPr>
          <p:cNvPr id="113" name="feat_5"/>
          <p:cNvSpPr/>
          <p:nvPr/>
        </p:nvSpPr>
        <p:spPr>
          <a:xfrm>
            <a:off x="6080759" y="3081528"/>
            <a:ext cx="274320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feat_5_circle"/>
          <p:cNvSpPr/>
          <p:nvPr/>
        </p:nvSpPr>
        <p:spPr>
          <a:xfrm>
            <a:off x="621792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5" name="feat_5_icon" descr="rupe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2410" y="3303178"/>
            <a:ext cx="215066" cy="215066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6702551" y="3218688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AI credit decision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217920" y="3685032"/>
            <a:ext cx="246888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Credit capacity (FOIR) computed in code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Gemini Pro decides within it, citing policy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Arial"/>
              </a:rPr>
              <a:t>Accepted decisions go to LOS, ULI or ONDC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step_0"/>
          <p:cNvSpPr/>
          <p:nvPr/>
        </p:nvSpPr>
        <p:spPr>
          <a:xfrm>
            <a:off x="320040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7" name="step_0_circle"/>
          <p:cNvSpPr/>
          <p:nvPr/>
        </p:nvSpPr>
        <p:spPr>
          <a:xfrm>
            <a:off x="626364" y="1371600"/>
            <a:ext cx="457200" cy="45720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step_0_icon" descr="uploa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7" y="1472184"/>
            <a:ext cx="256032" cy="256032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74904" y="1901952"/>
            <a:ext cx="96011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1. Share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93192" y="2176272"/>
            <a:ext cx="923544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AA consent; GST, ITR, MCA; uploads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408176" y="2075688"/>
            <a:ext cx="1325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step_1"/>
          <p:cNvSpPr/>
          <p:nvPr/>
        </p:nvSpPr>
        <p:spPr>
          <a:xfrm>
            <a:off x="1559052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step_1_circle"/>
          <p:cNvSpPr/>
          <p:nvPr/>
        </p:nvSpPr>
        <p:spPr>
          <a:xfrm>
            <a:off x="1865376" y="1371600"/>
            <a:ext cx="457200" cy="45720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step_1_icon" descr="sca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5960" y="1472184"/>
            <a:ext cx="256032" cy="25603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13916" y="1901952"/>
            <a:ext cx="96011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2. Extract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32204" y="2176272"/>
            <a:ext cx="923544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 dirty="0">
                <a:solidFill>
                  <a:srgbClr val="5F6368"/>
                </a:solidFill>
                <a:latin typeface="Arial"/>
              </a:rPr>
              <a:t>Gemini Flash reads every page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2647188" y="2075688"/>
            <a:ext cx="1325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step_2"/>
          <p:cNvSpPr/>
          <p:nvPr/>
        </p:nvSpPr>
        <p:spPr>
          <a:xfrm>
            <a:off x="2798064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step_2_circle"/>
          <p:cNvSpPr/>
          <p:nvPr/>
        </p:nvSpPr>
        <p:spPr>
          <a:xfrm>
            <a:off x="3104388" y="1371600"/>
            <a:ext cx="457200" cy="45720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0" name="step_2_icon" descr="calc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4972" y="1472184"/>
            <a:ext cx="256032" cy="256032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852928" y="1901952"/>
            <a:ext cx="96011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3. Check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871216" y="2176272"/>
            <a:ext cx="923544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Nine checks, bank record, bank risk flags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3886200" y="2075688"/>
            <a:ext cx="1325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step_3"/>
          <p:cNvSpPr/>
          <p:nvPr/>
        </p:nvSpPr>
        <p:spPr>
          <a:xfrm>
            <a:off x="4037075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step_3_circle"/>
          <p:cNvSpPr/>
          <p:nvPr/>
        </p:nvSpPr>
        <p:spPr>
          <a:xfrm>
            <a:off x="4343399" y="1371600"/>
            <a:ext cx="457200" cy="45720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6" name="step_3_icon" descr="ring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3983" y="1472184"/>
            <a:ext cx="256032" cy="256032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091939" y="1901952"/>
            <a:ext cx="96011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4. Link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0227" y="2176272"/>
            <a:ext cx="923544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 dirty="0">
                <a:solidFill>
                  <a:srgbClr val="5F6368"/>
                </a:solidFill>
                <a:latin typeface="Arial"/>
              </a:rPr>
              <a:t>Directors, contacts, files, GST loops</a:t>
            </a:r>
            <a:r>
              <a:rPr lang="en-US" sz="950" b="0" i="0" dirty="0">
                <a:solidFill>
                  <a:srgbClr val="5F6368"/>
                </a:solidFill>
                <a:latin typeface="Arial"/>
              </a:rPr>
              <a:t>, OFAC, AML</a:t>
            </a:r>
            <a:endParaRPr sz="950" b="0" i="0" dirty="0">
              <a:solidFill>
                <a:srgbClr val="5F6368"/>
              </a:solidFill>
              <a:latin typeface="Arial"/>
            </a:endParaRPr>
          </a:p>
        </p:txBody>
      </p:sp>
      <p:cxnSp>
        <p:nvCxnSpPr>
          <p:cNvPr id="119" name="Connector 118"/>
          <p:cNvCxnSpPr/>
          <p:nvPr/>
        </p:nvCxnSpPr>
        <p:spPr>
          <a:xfrm>
            <a:off x="5125211" y="2075688"/>
            <a:ext cx="1325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step_4"/>
          <p:cNvSpPr/>
          <p:nvPr/>
        </p:nvSpPr>
        <p:spPr>
          <a:xfrm>
            <a:off x="5276088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step_4_circle"/>
          <p:cNvSpPr/>
          <p:nvPr/>
        </p:nvSpPr>
        <p:spPr>
          <a:xfrm>
            <a:off x="5582412" y="1371600"/>
            <a:ext cx="457200" cy="45720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2" name="step_4_icon" descr="bo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82996" y="1472184"/>
            <a:ext cx="256032" cy="256032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5330951" y="1901952"/>
            <a:ext cx="96011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5. Investigate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349240" y="2176272"/>
            <a:ext cx="923544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Gemini Pro agent; every claim verified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364223" y="2075688"/>
            <a:ext cx="132589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step_5"/>
          <p:cNvSpPr/>
          <p:nvPr/>
        </p:nvSpPr>
        <p:spPr>
          <a:xfrm>
            <a:off x="6515100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step_5_circle"/>
          <p:cNvSpPr/>
          <p:nvPr/>
        </p:nvSpPr>
        <p:spPr>
          <a:xfrm>
            <a:off x="6821424" y="1371600"/>
            <a:ext cx="457200" cy="45720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8" name="step_5_icon" descr="review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22008" y="1472184"/>
            <a:ext cx="256032" cy="256032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6569964" y="1901952"/>
            <a:ext cx="96011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6. Risk Lens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88252" y="2176272"/>
            <a:ext cx="923544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Verdict per customer; officer reviews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7603236" y="2075688"/>
            <a:ext cx="1325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step_6"/>
          <p:cNvSpPr/>
          <p:nvPr/>
        </p:nvSpPr>
        <p:spPr>
          <a:xfrm>
            <a:off x="7754111" y="1234440"/>
            <a:ext cx="1069848" cy="1691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step_6_circle"/>
          <p:cNvSpPr/>
          <p:nvPr/>
        </p:nvSpPr>
        <p:spPr>
          <a:xfrm>
            <a:off x="8060435" y="1371600"/>
            <a:ext cx="457200" cy="45720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4" name="step_6_icon" descr="rupee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61019" y="1472184"/>
            <a:ext cx="256032" cy="25603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808975" y="1901952"/>
            <a:ext cx="96011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02124"/>
                </a:solidFill>
                <a:latin typeface="Arial"/>
              </a:rPr>
              <a:t>7. Decide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27263" y="2176272"/>
            <a:ext cx="923544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AI credit decision → LOS · ULI · ONDC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3063239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73E8"/>
                </a:solidFill>
                <a:latin typeface="Arial"/>
              </a:rPr>
              <a:t>■ </a:t>
            </a:r>
            <a:r>
              <a:rPr sz="950" b="0" i="0">
                <a:solidFill>
                  <a:srgbClr val="5F6368"/>
                </a:solidFill>
                <a:latin typeface="Arial"/>
              </a:rPr>
              <a:t>Gemini on Vertex AI   </a:t>
            </a:r>
            <a:r>
              <a:rPr sz="950" b="0" i="0">
                <a:solidFill>
                  <a:srgbClr val="7A1230"/>
                </a:solidFill>
                <a:latin typeface="Arial"/>
              </a:rPr>
              <a:t>■ </a:t>
            </a:r>
            <a:r>
              <a:rPr sz="950" b="0" i="0">
                <a:solidFill>
                  <a:srgbClr val="5F6368"/>
                </a:solidFill>
                <a:latin typeface="Arial"/>
              </a:rPr>
              <a:t>Deterministic code</a:t>
            </a:r>
          </a:p>
        </p:txBody>
      </p:sp>
      <p:sp>
        <p:nvSpPr>
          <p:cNvPr id="138" name="actor_0"/>
          <p:cNvSpPr/>
          <p:nvPr/>
        </p:nvSpPr>
        <p:spPr>
          <a:xfrm>
            <a:off x="320040" y="342900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9" name="actor_0_circle"/>
          <p:cNvSpPr/>
          <p:nvPr/>
        </p:nvSpPr>
        <p:spPr>
          <a:xfrm>
            <a:off x="457200" y="356616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0" name="actor_0_icon" descr="bank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1690" y="3650650"/>
            <a:ext cx="215066" cy="21506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941832" y="3566160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Customer (MSME)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57200" y="4023360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Registers with the </a:t>
            </a:r>
            <a:r>
              <a:rPr lang="en-IN" sz="1000" b="0" i="0" dirty="0">
                <a:solidFill>
                  <a:srgbClr val="202124"/>
                </a:solidFill>
                <a:latin typeface="Arial"/>
              </a:rPr>
              <a:t>Business Registry  (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Udyam</a:t>
            </a:r>
            <a:r>
              <a:rPr lang="en-US" sz="1000" b="0" i="0" dirty="0">
                <a:solidFill>
                  <a:srgbClr val="202124"/>
                </a:solidFill>
                <a:latin typeface="Arial"/>
              </a:rPr>
              <a:t>)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 number, shares bank data through Account Aggregator, fetches GST, ITR and MCA, </a:t>
            </a:r>
            <a:r>
              <a:rPr lang="en-US" sz="1000" b="0" i="0" dirty="0">
                <a:solidFill>
                  <a:srgbClr val="202124"/>
                </a:solidFill>
                <a:latin typeface="Arial"/>
              </a:rPr>
              <a:t>OFAC, AML; 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uploads documents</a:t>
            </a:r>
          </a:p>
        </p:txBody>
      </p:sp>
      <p:sp>
        <p:nvSpPr>
          <p:cNvPr id="143" name="actor_1"/>
          <p:cNvSpPr/>
          <p:nvPr/>
        </p:nvSpPr>
        <p:spPr>
          <a:xfrm>
            <a:off x="3200400" y="342900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4" name="actor_1_circle"/>
          <p:cNvSpPr/>
          <p:nvPr/>
        </p:nvSpPr>
        <p:spPr>
          <a:xfrm>
            <a:off x="3337560" y="356616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5" name="actor_1_icon" descr="users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22050" y="3650650"/>
            <a:ext cx="215066" cy="215066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3822191" y="3566160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Credit officer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337560" y="4023360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One Risk Lens per customer: reviews each finding, generates and accepts the credit decision, sends the loan case</a:t>
            </a:r>
          </a:p>
        </p:txBody>
      </p:sp>
      <p:sp>
        <p:nvSpPr>
          <p:cNvPr id="148" name="actor_2"/>
          <p:cNvSpPr/>
          <p:nvPr/>
        </p:nvSpPr>
        <p:spPr>
          <a:xfrm>
            <a:off x="6080759" y="342900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9" name="actor_2_circle"/>
          <p:cNvSpPr/>
          <p:nvPr/>
        </p:nvSpPr>
        <p:spPr>
          <a:xfrm>
            <a:off x="6217920" y="356616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0" name="actor_2_icon" descr="globe_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02410" y="3650650"/>
            <a:ext cx="215066" cy="215066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6702551" y="3566160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LOS · ULI · ONDC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217920" y="4023360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Receive the accepted loan case with its risk assessment and the AI credit decision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 — a finding on the Risk Lens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mock_card"/>
          <p:cNvSpPr/>
          <p:nvPr/>
        </p:nvSpPr>
        <p:spPr>
          <a:xfrm>
            <a:off x="320040" y="1188720"/>
            <a:ext cx="525780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mock_sev"/>
          <p:cNvSpPr/>
          <p:nvPr/>
        </p:nvSpPr>
        <p:spPr>
          <a:xfrm>
            <a:off x="548640" y="1353312"/>
            <a:ext cx="502920" cy="219456"/>
          </a:xfrm>
          <a:prstGeom prst="roundRect">
            <a:avLst>
              <a:gd name="adj" fmla="val 30000"/>
            </a:avLst>
          </a:prstGeom>
          <a:solidFill>
            <a:srgbClr val="C52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548640" y="1353312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HIGH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43000" y="1353312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Tampering   STATEMENT_VS_AA_MISMATCH   Deterministic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8640" y="169164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02124"/>
                </a:solidFill>
                <a:latin typeface="Arial"/>
              </a:rPr>
              <a:t>Statement disagrees with the bank's own record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" y="2011680"/>
            <a:ext cx="484632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91 of 93 rows agree with the bank's Account Aggregator record, with 2 amounts changed and 4 transactions left out. Net effect: ₹3,65,800 more in credits and ₹1,30,000 less in debits than the bank recorded.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8640" y="2670048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↳ </a:t>
            </a:r>
            <a:r>
              <a:rPr sz="1000" b="1" i="0">
                <a:solidFill>
                  <a:srgbClr val="202124"/>
                </a:solidFill>
                <a:latin typeface="Arial"/>
              </a:rPr>
              <a:t>Assess the customer on the Account Aggregator data and ask them to explain every difference.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8640" y="3291839"/>
            <a:ext cx="48463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7A1230"/>
                </a:solidFill>
                <a:latin typeface="Arial"/>
              </a:rPr>
              <a:t>↗ </a:t>
            </a:r>
            <a:r>
              <a:rPr sz="950" b="0" i="0">
                <a:solidFill>
                  <a:srgbClr val="5F6368"/>
                </a:solidFill>
                <a:latin typeface="Arial"/>
              </a:rPr>
              <a:t>statement.pdf, p. 2 · row 28 — bank recorded ₹1,09,500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48640" y="3602735"/>
            <a:ext cx="48463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7A1230"/>
                </a:solidFill>
                <a:latin typeface="Arial"/>
              </a:rPr>
              <a:t>↗ </a:t>
            </a:r>
            <a:r>
              <a:rPr sz="950" b="0" i="0">
                <a:solidFill>
                  <a:srgbClr val="5F6368"/>
                </a:solidFill>
                <a:latin typeface="Arial"/>
              </a:rPr>
              <a:t>statement.pdf, p. 3 · row 54 — bank recorded ₹73,400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3913631"/>
            <a:ext cx="48463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7A1230"/>
                </a:solidFill>
                <a:latin typeface="Arial"/>
              </a:rPr>
              <a:t>↗ </a:t>
            </a:r>
            <a:r>
              <a:rPr sz="950" b="0" i="0">
                <a:solidFill>
                  <a:srgbClr val="5F6368"/>
                </a:solidFill>
                <a:latin typeface="Arial"/>
              </a:rPr>
              <a:t>statement.pdf, p. 1 · 05 Jun NACH EMI ₹32,500 — not on the statement</a:t>
            </a:r>
          </a:p>
        </p:txBody>
      </p:sp>
      <p:sp>
        <p:nvSpPr>
          <p:cNvPr id="114" name="mock_note"/>
          <p:cNvSpPr/>
          <p:nvPr/>
        </p:nvSpPr>
        <p:spPr>
          <a:xfrm>
            <a:off x="548640" y="4343400"/>
            <a:ext cx="3291840" cy="329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640080" y="434340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Note for the review (optional)</a:t>
            </a:r>
          </a:p>
        </p:txBody>
      </p:sp>
      <p:sp>
        <p:nvSpPr>
          <p:cNvPr id="116" name="mock_confirm"/>
          <p:cNvSpPr/>
          <p:nvPr/>
        </p:nvSpPr>
        <p:spPr>
          <a:xfrm>
            <a:off x="3931920" y="4343400"/>
            <a:ext cx="731520" cy="329184"/>
          </a:xfrm>
          <a:prstGeom prst="roundRect">
            <a:avLst>
              <a:gd name="adj" fmla="val 6000"/>
            </a:avLst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3931920" y="4343400"/>
            <a:ext cx="73152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Confirm</a:t>
            </a:r>
          </a:p>
        </p:txBody>
      </p:sp>
      <p:sp>
        <p:nvSpPr>
          <p:cNvPr id="118" name="mock_dismiss"/>
          <p:cNvSpPr/>
          <p:nvPr/>
        </p:nvSpPr>
        <p:spPr>
          <a:xfrm>
            <a:off x="4736592" y="4343400"/>
            <a:ext cx="685800" cy="329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736592" y="4343400"/>
            <a:ext cx="6858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02124"/>
                </a:solidFill>
                <a:latin typeface="Arial"/>
              </a:rPr>
              <a:t>Dismiss</a:t>
            </a:r>
          </a:p>
        </p:txBody>
      </p:sp>
      <p:sp>
        <p:nvSpPr>
          <p:cNvPr id="120" name="callout_0"/>
          <p:cNvSpPr/>
          <p:nvPr/>
        </p:nvSpPr>
        <p:spPr>
          <a:xfrm>
            <a:off x="5806440" y="1444752"/>
            <a:ext cx="274320" cy="27432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5806440" y="1444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199632" y="1408176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Severity, category, type and source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99632" y="161848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Deterministic or AI · verified</a:t>
            </a:r>
          </a:p>
        </p:txBody>
      </p:sp>
      <p:cxnSp>
        <p:nvCxnSpPr>
          <p:cNvPr id="124" name="Connector 123"/>
          <p:cNvCxnSpPr/>
          <p:nvPr/>
        </p:nvCxnSpPr>
        <p:spPr>
          <a:xfrm flipH="1">
            <a:off x="5614416" y="1581912"/>
            <a:ext cx="173736" cy="0"/>
          </a:xfrm>
          <a:prstGeom prst="line">
            <a:avLst/>
          </a:prstGeom>
          <a:ln w="12700">
            <a:solidFill>
              <a:srgbClr val="DADC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callout_1"/>
          <p:cNvSpPr/>
          <p:nvPr/>
        </p:nvSpPr>
        <p:spPr>
          <a:xfrm>
            <a:off x="5806440" y="2039112"/>
            <a:ext cx="274320" cy="27432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5806440" y="203911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199632" y="2002536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What is wrong, in rupees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9632" y="221284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Plain language a credit officer can act on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5614416" y="2176272"/>
            <a:ext cx="173736" cy="0"/>
          </a:xfrm>
          <a:prstGeom prst="line">
            <a:avLst/>
          </a:prstGeom>
          <a:ln w="12700">
            <a:solidFill>
              <a:srgbClr val="DADC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callout_2"/>
          <p:cNvSpPr/>
          <p:nvPr/>
        </p:nvSpPr>
        <p:spPr>
          <a:xfrm>
            <a:off x="5806440" y="2688336"/>
            <a:ext cx="274320" cy="27432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806440" y="268833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199632" y="2651760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What to do next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99632" y="2862072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Names the policy clause when one applies</a:t>
            </a:r>
          </a:p>
        </p:txBody>
      </p:sp>
      <p:cxnSp>
        <p:nvCxnSpPr>
          <p:cNvPr id="134" name="Connector 133"/>
          <p:cNvCxnSpPr/>
          <p:nvPr/>
        </p:nvCxnSpPr>
        <p:spPr>
          <a:xfrm flipH="1">
            <a:off x="5614416" y="2825496"/>
            <a:ext cx="173736" cy="0"/>
          </a:xfrm>
          <a:prstGeom prst="line">
            <a:avLst/>
          </a:prstGeom>
          <a:ln w="12700">
            <a:solidFill>
              <a:srgbClr val="DADC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callout_3"/>
          <p:cNvSpPr/>
          <p:nvPr/>
        </p:nvSpPr>
        <p:spPr>
          <a:xfrm>
            <a:off x="5806440" y="3429000"/>
            <a:ext cx="274320" cy="27432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580644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199632" y="3392424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Evidence links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199632" y="3602736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Open the document at that page; rows, fields or policy</a:t>
            </a:r>
          </a:p>
        </p:txBody>
      </p:sp>
      <p:cxnSp>
        <p:nvCxnSpPr>
          <p:cNvPr id="139" name="Connector 138"/>
          <p:cNvCxnSpPr/>
          <p:nvPr/>
        </p:nvCxnSpPr>
        <p:spPr>
          <a:xfrm flipH="1">
            <a:off x="5614416" y="3566160"/>
            <a:ext cx="173736" cy="0"/>
          </a:xfrm>
          <a:prstGeom prst="line">
            <a:avLst/>
          </a:prstGeom>
          <a:ln w="12700">
            <a:solidFill>
              <a:srgbClr val="DADC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callout_4"/>
          <p:cNvSpPr/>
          <p:nvPr/>
        </p:nvSpPr>
        <p:spPr>
          <a:xfrm>
            <a:off x="5806440" y="4462272"/>
            <a:ext cx="274320" cy="274320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5806440" y="44622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199632" y="4425696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Review in one click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199632" y="463600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F6368"/>
                </a:solidFill>
                <a:latin typeface="Arial"/>
              </a:rPr>
              <a:t>A confirmed finding blocks the loan case; a dismissed one does not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5614416" y="4599432"/>
            <a:ext cx="173736" cy="0"/>
          </a:xfrm>
          <a:prstGeom prst="line">
            <a:avLst/>
          </a:prstGeom>
          <a:ln w="12700">
            <a:solidFill>
              <a:srgbClr val="DADC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arch_user_0"/>
          <p:cNvSpPr/>
          <p:nvPr/>
        </p:nvSpPr>
        <p:spPr>
          <a:xfrm>
            <a:off x="320040" y="1188720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411479" y="1225296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Customer (MSME)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1479" y="1444752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 dirty="0">
                <a:solidFill>
                  <a:srgbClr val="5F6368"/>
                </a:solidFill>
                <a:latin typeface="Arial"/>
              </a:rPr>
              <a:t>Registration · AA consent · fetch </a:t>
            </a:r>
            <a:r>
              <a:rPr lang="en-US" sz="900" b="0" i="0" dirty="0">
                <a:solidFill>
                  <a:srgbClr val="5F6368"/>
                </a:solidFill>
                <a:latin typeface="Arial"/>
              </a:rPr>
              <a:t>or</a:t>
            </a:r>
            <a:r>
              <a:rPr sz="900" b="0" i="0" dirty="0">
                <a:solidFill>
                  <a:srgbClr val="5F6368"/>
                </a:solidFill>
                <a:latin typeface="Arial"/>
              </a:rPr>
              <a:t> upload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1691640" y="1709928"/>
            <a:ext cx="0" cy="192024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arch_user_1"/>
          <p:cNvSpPr/>
          <p:nvPr/>
        </p:nvSpPr>
        <p:spPr>
          <a:xfrm>
            <a:off x="3200400" y="1188720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3291840" y="1225296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Credit officer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291840" y="1444752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Bank portal: Customers · Risk Lens · loan case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4572000" y="1709928"/>
            <a:ext cx="0" cy="192024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arch_user_2"/>
          <p:cNvSpPr/>
          <p:nvPr/>
        </p:nvSpPr>
        <p:spPr>
          <a:xfrm>
            <a:off x="6080759" y="1188720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172199" y="1225296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 i="0" dirty="0">
                <a:solidFill>
                  <a:srgbClr val="202124"/>
                </a:solidFill>
                <a:latin typeface="Arial"/>
              </a:rPr>
              <a:t>Source and lending systems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172199" y="1422981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 dirty="0">
                <a:solidFill>
                  <a:srgbClr val="5F6368"/>
                </a:solidFill>
                <a:latin typeface="Arial"/>
              </a:rPr>
              <a:t>AA, GST, ITR, MCA</a:t>
            </a:r>
            <a:r>
              <a:rPr lang="en-US" sz="900" dirty="0">
                <a:solidFill>
                  <a:srgbClr val="5F6368"/>
                </a:solidFill>
              </a:rPr>
              <a:t>, OFAC, AML</a:t>
            </a:r>
            <a:r>
              <a:rPr sz="900" b="0" i="0" dirty="0">
                <a:solidFill>
                  <a:srgbClr val="5F6368"/>
                </a:solidFill>
                <a:latin typeface="Arial"/>
              </a:rPr>
              <a:t> in · LOS, ULI,</a:t>
            </a:r>
            <a:r>
              <a:rPr lang="en-IN" sz="900" b="0" i="0" dirty="0">
                <a:solidFill>
                  <a:srgbClr val="5F6368"/>
                </a:solidFill>
                <a:latin typeface="Arial"/>
              </a:rPr>
              <a:t> ONDC </a:t>
            </a:r>
            <a:r>
              <a:rPr sz="900" b="0" i="0" dirty="0">
                <a:solidFill>
                  <a:srgbClr val="5F6368"/>
                </a:solidFill>
                <a:latin typeface="Arial"/>
              </a:rPr>
              <a:t>out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7452359" y="1709928"/>
            <a:ext cx="0" cy="192024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arch_run"/>
          <p:cNvSpPr/>
          <p:nvPr/>
        </p:nvSpPr>
        <p:spPr>
          <a:xfrm>
            <a:off x="320040" y="1920240"/>
            <a:ext cx="8503920" cy="16002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57200" y="1975104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 dirty="0">
                <a:solidFill>
                  <a:srgbClr val="202124"/>
                </a:solidFill>
                <a:latin typeface="Arial"/>
              </a:rPr>
              <a:t>Cloud Run —</a:t>
            </a:r>
            <a:r>
              <a:rPr lang="en-US" sz="1000" b="1" i="0" dirty="0">
                <a:solidFill>
                  <a:srgbClr val="202124"/>
                </a:solidFill>
                <a:latin typeface="Arial"/>
              </a:rPr>
              <a:t> 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.NET Core 8</a:t>
            </a:r>
            <a:r>
              <a:rPr lang="en-US" sz="1000" b="0" i="0" dirty="0">
                <a:solidFill>
                  <a:srgbClr val="202124"/>
                </a:solidFill>
                <a:latin typeface="Arial"/>
              </a:rPr>
              <a:t>, </a:t>
            </a:r>
            <a:r>
              <a:rPr lang="en-US" sz="1000" b="0" i="0" dirty="0" err="1">
                <a:solidFill>
                  <a:srgbClr val="202124"/>
                </a:solidFill>
                <a:latin typeface="Arial"/>
              </a:rPr>
              <a:t>ML.Net</a:t>
            </a:r>
            <a:r>
              <a:rPr lang="en-US" sz="1000" b="0" i="0" dirty="0">
                <a:solidFill>
                  <a:srgbClr val="202124"/>
                </a:solidFill>
                <a:latin typeface="Arial"/>
              </a:rPr>
              <a:t> 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, one warm instance, built from source by </a:t>
            </a:r>
            <a:r>
              <a:rPr sz="1000" b="0" i="0" dirty="0" err="1">
                <a:solidFill>
                  <a:srgbClr val="202124"/>
                </a:solidFill>
                <a:latin typeface="Arial"/>
              </a:rPr>
              <a:t>buildpacks</a:t>
            </a:r>
            <a:endParaRPr sz="1000" b="0" i="0" dirty="0">
              <a:solidFill>
                <a:srgbClr val="202124"/>
              </a:solidFill>
              <a:latin typeface="Arial"/>
            </a:endParaRPr>
          </a:p>
        </p:txBody>
      </p:sp>
      <p:sp>
        <p:nvSpPr>
          <p:cNvPr id="126" name="arch_mod_0"/>
          <p:cNvSpPr/>
          <p:nvPr/>
        </p:nvSpPr>
        <p:spPr>
          <a:xfrm>
            <a:off x="45720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512064" y="2322576"/>
            <a:ext cx="11856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Web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12064" y="2724912"/>
            <a:ext cx="1185672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Customers, Risk Lens, uploads; loan-case push</a:t>
            </a:r>
          </a:p>
        </p:txBody>
      </p:sp>
      <p:sp>
        <p:nvSpPr>
          <p:cNvPr id="129" name="arch_mod_1"/>
          <p:cNvSpPr/>
          <p:nvPr/>
        </p:nvSpPr>
        <p:spPr>
          <a:xfrm>
            <a:off x="184404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1898904" y="2322576"/>
            <a:ext cx="11856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Extractor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98904" y="2724912"/>
            <a:ext cx="1185672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Page-parallel reading, re-read on failure</a:t>
            </a:r>
          </a:p>
        </p:txBody>
      </p:sp>
      <p:sp>
        <p:nvSpPr>
          <p:cNvPr id="132" name="arch_mod_2"/>
          <p:cNvSpPr/>
          <p:nvPr/>
        </p:nvSpPr>
        <p:spPr>
          <a:xfrm>
            <a:off x="323088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3285744" y="2322576"/>
            <a:ext cx="11856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Checks + network lens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285744" y="2724912"/>
            <a:ext cx="1185672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Nine checks, bank flags; links between customers</a:t>
            </a:r>
          </a:p>
        </p:txBody>
      </p:sp>
      <p:sp>
        <p:nvSpPr>
          <p:cNvPr id="135" name="arch_mod_3"/>
          <p:cNvSpPr/>
          <p:nvPr/>
        </p:nvSpPr>
        <p:spPr>
          <a:xfrm>
            <a:off x="461772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4672584" y="2322576"/>
            <a:ext cx="11856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Investigator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672584" y="2724912"/>
            <a:ext cx="1185672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Function calling, customer-scoped; claims verified</a:t>
            </a:r>
          </a:p>
        </p:txBody>
      </p:sp>
      <p:sp>
        <p:nvSpPr>
          <p:cNvPr id="138" name="arch_mod_4"/>
          <p:cNvSpPr/>
          <p:nvPr/>
        </p:nvSpPr>
        <p:spPr>
          <a:xfrm>
            <a:off x="600456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6059424" y="2322576"/>
            <a:ext cx="11856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Credit decision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59424" y="2724912"/>
            <a:ext cx="1185672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Capacity in code; Pro decides; figures verified</a:t>
            </a:r>
          </a:p>
        </p:txBody>
      </p:sp>
      <p:sp>
        <p:nvSpPr>
          <p:cNvPr id="141" name="arch_mod_5"/>
          <p:cNvSpPr/>
          <p:nvPr/>
        </p:nvSpPr>
        <p:spPr>
          <a:xfrm>
            <a:off x="7391400" y="2267712"/>
            <a:ext cx="129540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7446264" y="2322576"/>
            <a:ext cx="11856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Arial"/>
              </a:rPr>
              <a:t>Knowledge (RAG)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46264" y="2724912"/>
            <a:ext cx="1185672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F6368"/>
                </a:solidFill>
                <a:latin typeface="Arial"/>
              </a:rPr>
              <a:t>tsvector + HNSW, RRF, rerank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1691640" y="3538728"/>
            <a:ext cx="0" cy="210311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arch_svc_0"/>
          <p:cNvSpPr/>
          <p:nvPr/>
        </p:nvSpPr>
        <p:spPr>
          <a:xfrm>
            <a:off x="320040" y="3767328"/>
            <a:ext cx="2743200" cy="109728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6" name="arch_svc_0_circle"/>
          <p:cNvSpPr/>
          <p:nvPr/>
        </p:nvSpPr>
        <p:spPr>
          <a:xfrm>
            <a:off x="429768" y="38862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7" name="arch_svc_0_icon" descr="spar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235" y="3966667"/>
            <a:ext cx="204825" cy="204825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886968" y="38862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Vertex AI · Gemini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7200" y="4315968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 dirty="0">
                <a:solidFill>
                  <a:srgbClr val="202124"/>
                </a:solidFill>
                <a:latin typeface="Arial"/>
              </a:rPr>
              <a:t>Mumbai: </a:t>
            </a:r>
            <a:r>
              <a:rPr sz="950" b="0" i="0" dirty="0">
                <a:solidFill>
                  <a:srgbClr val="202124"/>
                </a:solidFill>
                <a:latin typeface="Arial"/>
              </a:rPr>
              <a:t>Flash extraction, embeddings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 dirty="0">
                <a:solidFill>
                  <a:srgbClr val="202124"/>
                </a:solidFill>
                <a:latin typeface="Arial"/>
              </a:rPr>
              <a:t>global: </a:t>
            </a:r>
            <a:r>
              <a:rPr sz="950" b="0" i="0" dirty="0">
                <a:solidFill>
                  <a:srgbClr val="202124"/>
                </a:solidFill>
                <a:latin typeface="Arial"/>
              </a:rPr>
              <a:t>Pro investigator and credit decision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4572000" y="3538728"/>
            <a:ext cx="0" cy="210311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arch_svc_1"/>
          <p:cNvSpPr/>
          <p:nvPr/>
        </p:nvSpPr>
        <p:spPr>
          <a:xfrm>
            <a:off x="3200400" y="3767328"/>
            <a:ext cx="2743200" cy="109728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2" name="arch_svc_1_circle"/>
          <p:cNvSpPr/>
          <p:nvPr/>
        </p:nvSpPr>
        <p:spPr>
          <a:xfrm>
            <a:off x="3310128" y="38862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3" name="arch_svc_1_icon" descr="db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595" y="3966667"/>
            <a:ext cx="204825" cy="204825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3767328" y="38862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02124"/>
                </a:solidFill>
                <a:latin typeface="Arial"/>
              </a:rPr>
              <a:t>Cloud SQL · PostgreSQL 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337560" y="4315968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02124"/>
                </a:solidFill>
                <a:latin typeface="Arial"/>
              </a:rPr>
              <a:t>pgvector + full-text: </a:t>
            </a:r>
            <a:r>
              <a:rPr sz="950" b="0" i="0">
                <a:solidFill>
                  <a:srgbClr val="202124"/>
                </a:solidFill>
                <a:latin typeface="Arial"/>
              </a:rPr>
              <a:t>assessments,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202124"/>
                </a:solidFill>
                <a:latin typeface="Arial"/>
              </a:rPr>
              <a:t>findings, credit decisions, knowledge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7452359" y="3538728"/>
            <a:ext cx="0" cy="210311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arch_svc_2"/>
          <p:cNvSpPr/>
          <p:nvPr/>
        </p:nvSpPr>
        <p:spPr>
          <a:xfrm>
            <a:off x="6080759" y="3767328"/>
            <a:ext cx="2743200" cy="109728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8" name="arch_svc_2_circle"/>
          <p:cNvSpPr/>
          <p:nvPr/>
        </p:nvSpPr>
        <p:spPr>
          <a:xfrm>
            <a:off x="6190488" y="38862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9" name="arch_svc_2_icon" descr="clou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0955" y="3966667"/>
            <a:ext cx="204825" cy="20482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6647688" y="38862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 dirty="0">
                <a:solidFill>
                  <a:srgbClr val="202124"/>
                </a:solidFill>
                <a:latin typeface="Arial"/>
              </a:rPr>
              <a:t>Cloud Storage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217920" y="4315968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 dirty="0">
                <a:solidFill>
                  <a:srgbClr val="202124"/>
                </a:solidFill>
                <a:latin typeface="Arial"/>
              </a:rPr>
              <a:t>uploads</a:t>
            </a:r>
            <a:r>
              <a:rPr sz="950" b="0" i="0" dirty="0">
                <a:solidFill>
                  <a:srgbClr val="202124"/>
                </a:solidFill>
                <a:latin typeface="Arial"/>
              </a:rPr>
              <a:t> </a:t>
            </a:r>
            <a:r>
              <a:rPr sz="950" b="1" i="0" dirty="0">
                <a:solidFill>
                  <a:srgbClr val="202124"/>
                </a:solidFill>
                <a:latin typeface="Arial"/>
              </a:rPr>
              <a:t>sources: </a:t>
            </a:r>
            <a:r>
              <a:rPr sz="950" b="0" i="0" dirty="0">
                <a:solidFill>
                  <a:srgbClr val="202124"/>
                </a:solidFill>
                <a:latin typeface="Arial"/>
              </a:rPr>
              <a:t>AA, GST, ITR</a:t>
            </a:r>
            <a:r>
              <a:rPr lang="en-US" sz="950" b="0" i="0" dirty="0">
                <a:solidFill>
                  <a:srgbClr val="202124"/>
                </a:solidFill>
                <a:latin typeface="Arial"/>
              </a:rPr>
              <a:t>, MCA, uploaded files and decision files</a:t>
            </a:r>
            <a:endParaRPr sz="950" b="0" i="0" dirty="0">
              <a:solidFill>
                <a:srgbClr val="20212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ch_0"/>
          <p:cNvSpPr/>
          <p:nvPr/>
        </p:nvSpPr>
        <p:spPr>
          <a:xfrm>
            <a:off x="320040" y="118872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tech_0_circle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2" name="tech_0_icon" descr="clou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0" y="1410370"/>
            <a:ext cx="215066" cy="215066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941832" y="1325880"/>
            <a:ext cx="3474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Google Cloud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200" y="1792224"/>
            <a:ext cx="393192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Vertex AI — Gemini 3.5 Flash (extraction), Gemini 3.1 Pro (investigator, credit decision), Gemini 3.8 Flash (re</a:t>
            </a:r>
            <a:r>
              <a:rPr lang="en-US" sz="1000" b="0" i="0" dirty="0">
                <a:solidFill>
                  <a:srgbClr val="202124"/>
                </a:solidFill>
                <a:latin typeface="Arial"/>
              </a:rPr>
              <a:t>-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rank), gemini-embedding-001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Cloud Run (</a:t>
            </a:r>
            <a:r>
              <a:rPr sz="1000" b="0" i="0" dirty="0" err="1">
                <a:solidFill>
                  <a:srgbClr val="202124"/>
                </a:solidFill>
                <a:latin typeface="Arial"/>
              </a:rPr>
              <a:t>buildpacks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, no </a:t>
            </a:r>
            <a:r>
              <a:rPr sz="1000" b="0" i="0" dirty="0" err="1">
                <a:solidFill>
                  <a:srgbClr val="202124"/>
                </a:solidFill>
                <a:latin typeface="Arial"/>
              </a:rPr>
              <a:t>Dockerfile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) · Cloud Build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Cloud SQL for PostgreSQL 16 + </a:t>
            </a:r>
            <a:r>
              <a:rPr sz="1000" b="0" i="0" dirty="0" err="1">
                <a:solidFill>
                  <a:srgbClr val="202124"/>
                </a:solidFill>
                <a:latin typeface="Arial"/>
              </a:rPr>
              <a:t>pgvector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 · Cloud Storage</a:t>
            </a:r>
            <a:endParaRPr lang="en-US" sz="1000" b="0" i="0" dirty="0">
              <a:solidFill>
                <a:srgbClr val="202124"/>
              </a:solidFill>
              <a:latin typeface="Arial"/>
            </a:endParaRP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IN" sz="1000" b="0" i="0" dirty="0">
                <a:solidFill>
                  <a:srgbClr val="202124"/>
                </a:solidFill>
                <a:latin typeface="Arial"/>
              </a:rPr>
              <a:t>Google Cloud Translation service</a:t>
            </a:r>
            <a:endParaRPr sz="1000" b="0" i="0" dirty="0">
              <a:solidFill>
                <a:srgbClr val="202124"/>
              </a:solidFill>
              <a:latin typeface="Arial"/>
            </a:endParaRPr>
          </a:p>
        </p:txBody>
      </p:sp>
      <p:sp>
        <p:nvSpPr>
          <p:cNvPr id="125" name="tech_1"/>
          <p:cNvSpPr/>
          <p:nvPr/>
        </p:nvSpPr>
        <p:spPr>
          <a:xfrm>
            <a:off x="4617720" y="118872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tech_1_circle"/>
          <p:cNvSpPr/>
          <p:nvPr/>
        </p:nvSpPr>
        <p:spPr>
          <a:xfrm>
            <a:off x="4754880" y="1325880"/>
            <a:ext cx="384048" cy="38404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7" name="tech_1_icon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9370" y="1410370"/>
            <a:ext cx="215066" cy="215066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5239512" y="1325880"/>
            <a:ext cx="3474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AI techniques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54880" y="1792224"/>
            <a:ext cx="393192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Multimodal structured output: PDF and image to a fixed schema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Function-calling agent with tools bound server-side to one customer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Grounding verifier · hybrid RAG: full-text + HNSW vectors, reciprocal rank fusion, LLM re</a:t>
            </a:r>
            <a:r>
              <a:rPr lang="en-US" sz="1000" b="0" i="0" dirty="0">
                <a:solidFill>
                  <a:srgbClr val="202124"/>
                </a:solidFill>
                <a:latin typeface="Arial"/>
              </a:rPr>
              <a:t>-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rank</a:t>
            </a:r>
          </a:p>
        </p:txBody>
      </p:sp>
      <p:sp>
        <p:nvSpPr>
          <p:cNvPr id="130" name="tech_2"/>
          <p:cNvSpPr/>
          <p:nvPr/>
        </p:nvSpPr>
        <p:spPr>
          <a:xfrm>
            <a:off x="320040" y="3081528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tech_2_circle"/>
          <p:cNvSpPr/>
          <p:nvPr/>
        </p:nvSpPr>
        <p:spPr>
          <a:xfrm>
            <a:off x="45720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2" name="tech_2_icon" descr="serv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690" y="3303178"/>
            <a:ext cx="215066" cy="215066"/>
          </a:xfrm>
          <a:prstGeom prst="rect">
            <a:avLst/>
          </a:prstGeom>
        </p:spPr>
      </p:pic>
      <p:sp>
        <p:nvSpPr>
          <p:cNvPr id="133" name="TextBox 132"/>
          <p:cNvSpPr txBox="1"/>
          <p:nvPr/>
        </p:nvSpPr>
        <p:spPr>
          <a:xfrm>
            <a:off x="941832" y="3218688"/>
            <a:ext cx="3474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Application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57200" y="3685032"/>
            <a:ext cx="393192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IN" sz="1000" b="0" i="0" dirty="0">
                <a:solidFill>
                  <a:srgbClr val="202124"/>
                </a:solidFill>
                <a:latin typeface="Arial"/>
              </a:rPr>
              <a:t>.NET 8 Core · .NET Core MVC · ML.NET · Razor + Bootstrap 5 + Chart.js  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IN" sz="1000" b="0" i="0" dirty="0">
                <a:solidFill>
                  <a:srgbClr val="202124"/>
                </a:solidFill>
                <a:latin typeface="Arial"/>
              </a:rPr>
              <a:t>EF Core 8 + </a:t>
            </a:r>
            <a:r>
              <a:rPr lang="en-IN" sz="1000" b="0" i="0" dirty="0" err="1">
                <a:solidFill>
                  <a:srgbClr val="202124"/>
                </a:solidFill>
                <a:latin typeface="Arial"/>
              </a:rPr>
              <a:t>Npgsql</a:t>
            </a:r>
            <a:r>
              <a:rPr lang="en-IN" sz="1000" b="0" i="0" dirty="0">
                <a:solidFill>
                  <a:srgbClr val="202124"/>
                </a:solidFill>
                <a:latin typeface="Arial"/>
              </a:rPr>
              <a:t> · </a:t>
            </a:r>
            <a:r>
              <a:rPr lang="en-IN" sz="1000" b="0" i="0" dirty="0" err="1">
                <a:solidFill>
                  <a:srgbClr val="202124"/>
                </a:solidFill>
                <a:latin typeface="Arial"/>
              </a:rPr>
              <a:t>Autofac</a:t>
            </a:r>
            <a:r>
              <a:rPr lang="en-IN" sz="1000" b="0" i="0" dirty="0">
                <a:solidFill>
                  <a:srgbClr val="202124"/>
                </a:solidFill>
                <a:latin typeface="Arial"/>
              </a:rPr>
              <a:t> · </a:t>
            </a:r>
            <a:r>
              <a:rPr lang="en-IN" sz="1000" b="0" i="0" dirty="0" err="1">
                <a:solidFill>
                  <a:srgbClr val="202124"/>
                </a:solidFill>
                <a:latin typeface="Arial"/>
              </a:rPr>
              <a:t>Serilog</a:t>
            </a:r>
            <a:endParaRPr lang="en-IN" sz="1000" b="0" i="0" dirty="0">
              <a:solidFill>
                <a:srgbClr val="202124"/>
              </a:solidFill>
              <a:latin typeface="Arial"/>
            </a:endParaRP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IN" sz="1000" b="0" i="0" dirty="0" err="1">
                <a:solidFill>
                  <a:srgbClr val="202124"/>
                </a:solidFill>
                <a:latin typeface="Arial"/>
              </a:rPr>
              <a:t>PdfPig</a:t>
            </a:r>
            <a:r>
              <a:rPr lang="en-IN" sz="1000" b="0" i="0" dirty="0">
                <a:solidFill>
                  <a:srgbClr val="202124"/>
                </a:solidFill>
                <a:latin typeface="Arial"/>
              </a:rPr>
              <a:t> (PDF metadata) · background worker · LOS, ULI (OCEN) and ONDC (</a:t>
            </a:r>
            <a:r>
              <a:rPr lang="en-IN" sz="1000" b="0" i="0" dirty="0" err="1">
                <a:solidFill>
                  <a:srgbClr val="202124"/>
                </a:solidFill>
                <a:latin typeface="Arial"/>
              </a:rPr>
              <a:t>beckn</a:t>
            </a:r>
            <a:r>
              <a:rPr lang="en-IN" sz="1000" b="0" i="0" dirty="0">
                <a:solidFill>
                  <a:srgbClr val="202124"/>
                </a:solidFill>
                <a:latin typeface="Arial"/>
              </a:rPr>
              <a:t>) payloads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IN" sz="1000" b="0" i="0" dirty="0" err="1">
                <a:solidFill>
                  <a:srgbClr val="202124"/>
                </a:solidFill>
                <a:latin typeface="Arial"/>
              </a:rPr>
              <a:t>xUnit</a:t>
            </a:r>
            <a:r>
              <a:rPr lang="en-IN" sz="1000" b="0" i="0" dirty="0">
                <a:solidFill>
                  <a:srgbClr val="202124"/>
                </a:solidFill>
                <a:latin typeface="Arial"/>
              </a:rPr>
              <a:t> (70 automated tests)</a:t>
            </a:r>
          </a:p>
        </p:txBody>
      </p:sp>
      <p:sp>
        <p:nvSpPr>
          <p:cNvPr id="135" name="tech_3"/>
          <p:cNvSpPr/>
          <p:nvPr/>
        </p:nvSpPr>
        <p:spPr>
          <a:xfrm>
            <a:off x="4617720" y="3081528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6" name="tech_3_circle"/>
          <p:cNvSpPr/>
          <p:nvPr/>
        </p:nvSpPr>
        <p:spPr>
          <a:xfrm>
            <a:off x="475488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7" name="tech_3_icon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9370" y="3303178"/>
            <a:ext cx="215066" cy="215066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5239512" y="3218688"/>
            <a:ext cx="3474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Data, quality and trust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754880" y="3685032"/>
            <a:ext cx="393192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Account Aggregator on the </a:t>
            </a:r>
            <a:r>
              <a:rPr sz="1000" b="0" i="0" dirty="0" err="1">
                <a:solidFill>
                  <a:srgbClr val="202124"/>
                </a:solidFill>
                <a:latin typeface="Arial"/>
              </a:rPr>
              <a:t>Finvu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 sandbox; </a:t>
            </a:r>
            <a:r>
              <a:rPr lang="en-IN" sz="1000" b="0" i="0" dirty="0">
                <a:solidFill>
                  <a:srgbClr val="202124"/>
                </a:solidFill>
                <a:latin typeface="Arial"/>
              </a:rPr>
              <a:t>Business Registry (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Udyam</a:t>
            </a:r>
            <a:r>
              <a:rPr lang="en-US" sz="1000" b="0" i="0" dirty="0">
                <a:solidFill>
                  <a:srgbClr val="202124"/>
                </a:solidFill>
                <a:latin typeface="Arial"/>
              </a:rPr>
              <a:t>)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, GST, ITR and MCA as sample data in the demo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 err="1">
                <a:solidFill>
                  <a:srgbClr val="202124"/>
                </a:solidFill>
                <a:latin typeface="Arial"/>
              </a:rPr>
              <a:t>QuestPDF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 synthetic documents with ground truth · 70 </a:t>
            </a:r>
            <a:r>
              <a:rPr sz="1000" b="0" i="0" dirty="0" err="1">
                <a:solidFill>
                  <a:srgbClr val="202124"/>
                </a:solidFill>
                <a:latin typeface="Arial"/>
              </a:rPr>
              <a:t>xUnit</a:t>
            </a:r>
            <a:r>
              <a:rPr sz="1000" b="0" i="0" dirty="0">
                <a:solidFill>
                  <a:srgbClr val="202124"/>
                </a:solidFill>
                <a:latin typeface="Arial"/>
              </a:rPr>
              <a:t> tests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00" b="0" i="0" dirty="0">
                <a:solidFill>
                  <a:srgbClr val="202124"/>
                </a:solidFill>
                <a:latin typeface="Arial"/>
              </a:rPr>
              <a:t>Secrets outside the public repo · encrypted DB connections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_once"/>
          <p:cNvSpPr/>
          <p:nvPr/>
        </p:nvSpPr>
        <p:spPr>
          <a:xfrm>
            <a:off x="320040" y="11887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429768" y="1280160"/>
            <a:ext cx="247802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 dirty="0">
                <a:solidFill>
                  <a:srgbClr val="7A1230"/>
                </a:solidFill>
                <a:latin typeface="Arial"/>
              </a:rPr>
              <a:t>₹ </a:t>
            </a:r>
            <a:r>
              <a:rPr lang="en-US" sz="2400" b="1" i="0" dirty="0">
                <a:solidFill>
                  <a:srgbClr val="7A1230"/>
                </a:solidFill>
                <a:latin typeface="Arial"/>
              </a:rPr>
              <a:t>25</a:t>
            </a:r>
            <a:r>
              <a:rPr sz="2400" b="1" i="0" dirty="0">
                <a:solidFill>
                  <a:srgbClr val="7A1230"/>
                </a:solidFill>
                <a:latin typeface="Arial"/>
              </a:rPr>
              <a:t> L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29768" y="1755648"/>
            <a:ext cx="2478024" cy="29260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One-time — production hardening, security and compliance audit</a:t>
            </a:r>
          </a:p>
        </p:txBody>
      </p:sp>
      <p:sp>
        <p:nvSpPr>
          <p:cNvPr id="131" name="cost_year"/>
          <p:cNvSpPr/>
          <p:nvPr/>
        </p:nvSpPr>
        <p:spPr>
          <a:xfrm>
            <a:off x="3218688" y="11887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328416" y="1280160"/>
            <a:ext cx="247802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 dirty="0">
                <a:solidFill>
                  <a:srgbClr val="7A1230"/>
                </a:solidFill>
                <a:latin typeface="Arial"/>
              </a:rPr>
              <a:t>₹ </a:t>
            </a:r>
            <a:r>
              <a:rPr lang="en-US" sz="2400" b="1" i="0" dirty="0">
                <a:solidFill>
                  <a:srgbClr val="7A1230"/>
                </a:solidFill>
                <a:latin typeface="Arial"/>
              </a:rPr>
              <a:t>65</a:t>
            </a:r>
            <a:r>
              <a:rPr sz="2400" b="1" i="0" dirty="0">
                <a:solidFill>
                  <a:srgbClr val="7A1230"/>
                </a:solidFill>
                <a:latin typeface="Arial"/>
              </a:rPr>
              <a:t> L / </a:t>
            </a:r>
            <a:r>
              <a:rPr sz="2400" b="1" i="0" dirty="0" err="1">
                <a:solidFill>
                  <a:srgbClr val="7A1230"/>
                </a:solidFill>
                <a:latin typeface="Arial"/>
              </a:rPr>
              <a:t>yr</a:t>
            </a:r>
            <a:endParaRPr sz="2400" b="1" i="0" dirty="0">
              <a:solidFill>
                <a:srgbClr val="7A1230"/>
              </a:solidFill>
              <a:latin typeface="Arial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3328416" y="1755648"/>
            <a:ext cx="2478024" cy="29260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Recurring — Google Cloud, Gemini usage, data access, support</a:t>
            </a:r>
          </a:p>
        </p:txBody>
      </p:sp>
      <p:sp>
        <p:nvSpPr>
          <p:cNvPr id="134" name="cost_tco"/>
          <p:cNvSpPr/>
          <p:nvPr/>
        </p:nvSpPr>
        <p:spPr>
          <a:xfrm>
            <a:off x="6126479" y="11887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236207" y="1280160"/>
            <a:ext cx="247802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 dirty="0">
                <a:solidFill>
                  <a:srgbClr val="7A1230"/>
                </a:solidFill>
                <a:latin typeface="Arial"/>
              </a:rPr>
              <a:t>~ ₹ </a:t>
            </a:r>
            <a:r>
              <a:rPr lang="en-US" sz="2400" b="1" i="0" dirty="0">
                <a:solidFill>
                  <a:srgbClr val="7A1230"/>
                </a:solidFill>
                <a:latin typeface="Arial"/>
              </a:rPr>
              <a:t>2</a:t>
            </a:r>
            <a:r>
              <a:rPr sz="2400" b="1" i="0" dirty="0">
                <a:solidFill>
                  <a:srgbClr val="7A1230"/>
                </a:solidFill>
                <a:latin typeface="Arial"/>
              </a:rPr>
              <a:t>.</a:t>
            </a:r>
            <a:r>
              <a:rPr lang="en-US" sz="2400" b="1" i="0" dirty="0">
                <a:solidFill>
                  <a:srgbClr val="7A1230"/>
                </a:solidFill>
                <a:latin typeface="Arial"/>
              </a:rPr>
              <a:t>2</a:t>
            </a:r>
            <a:r>
              <a:rPr sz="2400" b="1" i="0" dirty="0">
                <a:solidFill>
                  <a:srgbClr val="7A1230"/>
                </a:solidFill>
                <a:latin typeface="Arial"/>
              </a:rPr>
              <a:t> Cr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36207" y="1755648"/>
            <a:ext cx="2478024" cy="29260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3-year total cost of ownership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2221991"/>
            <a:ext cx="85039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 dirty="0">
                <a:solidFill>
                  <a:srgbClr val="7A1230"/>
                </a:solidFill>
                <a:latin typeface="Arial"/>
              </a:rPr>
              <a:t>Estimate</a:t>
            </a:r>
            <a:r>
              <a:rPr sz="1000" b="0" i="0" dirty="0">
                <a:solidFill>
                  <a:srgbClr val="5F6368"/>
                </a:solidFill>
                <a:latin typeface="Arial"/>
              </a:rPr>
              <a:t> for one lender, about 1 lakh customers assessed a year, on Google Clou</a:t>
            </a:r>
            <a:r>
              <a:rPr lang="en-US" sz="1000" b="0" i="0" dirty="0">
                <a:solidFill>
                  <a:srgbClr val="5F6368"/>
                </a:solidFill>
                <a:latin typeface="Arial"/>
              </a:rPr>
              <a:t>d</a:t>
            </a:r>
            <a:endParaRPr sz="1000" b="0" i="0" dirty="0">
              <a:solidFill>
                <a:srgbClr val="5F6368"/>
              </a:solidFill>
              <a:latin typeface="Arial"/>
            </a:endParaRPr>
          </a:p>
        </p:txBody>
      </p:sp>
      <p:graphicFrame>
        <p:nvGraphicFramePr>
          <p:cNvPr id="138" name="co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2938956"/>
              </p:ext>
            </p:extLst>
          </p:nvPr>
        </p:nvGraphicFramePr>
        <p:xfrm>
          <a:off x="320040" y="2514600"/>
          <a:ext cx="8503920" cy="2304288"/>
        </p:xfrm>
        <a:graphic>
          <a:graphicData uri="http://schemas.openxmlformats.org/drawingml/2006/table">
            <a:tbl>
              <a:tblPr firstRow="1"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Cost head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Estimate (INR)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Production hardening — </a:t>
                      </a:r>
                      <a:r>
                        <a:rPr lang="en-US" sz="1000" b="0" dirty="0">
                          <a:solidFill>
                            <a:srgbClr val="202124"/>
                          </a:solidFill>
                          <a:latin typeface="Arial"/>
                        </a:rPr>
                        <a:t>2 </a:t>
                      </a:r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member team, about </a:t>
                      </a:r>
                      <a:r>
                        <a:rPr lang="en-US" sz="1000" b="0" dirty="0">
                          <a:solidFill>
                            <a:srgbClr val="202124"/>
                          </a:solidFill>
                          <a:latin typeface="Arial"/>
                        </a:rPr>
                        <a:t>6</a:t>
                      </a:r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 months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One-time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₹ </a:t>
                      </a:r>
                      <a:r>
                        <a:rPr lang="en-US" sz="1000" b="0" dirty="0">
                          <a:solidFill>
                            <a:srgbClr val="202124"/>
                          </a:solidFill>
                          <a:latin typeface="Arial"/>
                        </a:rPr>
                        <a:t>20</a:t>
                      </a:r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Security testing and RBI / DPDP compliance audit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One-time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₹ </a:t>
                      </a:r>
                      <a:r>
                        <a:rPr lang="en-US" sz="1000" b="0" dirty="0">
                          <a:solidFill>
                            <a:srgbClr val="202124"/>
                          </a:solidFill>
                          <a:latin typeface="Arial"/>
                        </a:rPr>
                        <a:t>5</a:t>
                      </a:r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Google Cloud — Cloud Run (HA), Cloud SQL (HA), Cloud Storage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Annual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₹ </a:t>
                      </a:r>
                      <a:r>
                        <a:rPr lang="en-US" sz="1000" b="0" dirty="0">
                          <a:solidFill>
                            <a:srgbClr val="202124"/>
                          </a:solidFill>
                          <a:latin typeface="Arial"/>
                        </a:rPr>
                        <a:t>10</a:t>
                      </a:r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Vertex AI — Gemini extraction, investigation, credit decisions, embeddings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Annual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₹ </a:t>
                      </a:r>
                      <a:r>
                        <a:rPr lang="en-US" sz="1000" b="0" dirty="0">
                          <a:solidFill>
                            <a:srgbClr val="202124"/>
                          </a:solidFill>
                          <a:latin typeface="Arial"/>
                        </a:rPr>
                        <a:t>8</a:t>
                      </a:r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Data access — Account Aggregator and registry APIs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Annual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₹ 1</a:t>
                      </a:r>
                      <a:r>
                        <a:rPr lang="en-US" sz="1000" b="0" dirty="0">
                          <a:solidFill>
                            <a:srgbClr val="202124"/>
                          </a:solidFill>
                          <a:latin typeface="Arial"/>
                        </a:rPr>
                        <a:t>2</a:t>
                      </a:r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Maintenance, support and model re-evaluation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124"/>
                          </a:solidFill>
                          <a:latin typeface="Arial"/>
                        </a:rPr>
                        <a:t>Annual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₹ </a:t>
                      </a:r>
                      <a:r>
                        <a:rPr lang="en-US" sz="1000" b="0" dirty="0">
                          <a:solidFill>
                            <a:srgbClr val="202124"/>
                          </a:solidFill>
                          <a:latin typeface="Arial"/>
                        </a:rPr>
                        <a:t>10</a:t>
                      </a:r>
                      <a:r>
                        <a:rPr sz="1000" b="0" dirty="0">
                          <a:solidFill>
                            <a:srgbClr val="202124"/>
                          </a:solidFill>
                          <a:latin typeface="Arial"/>
                        </a:rPr>
                        <a:t> L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— the customer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20040" y="1146630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 dirty="0">
                <a:solidFill>
                  <a:srgbClr val="202124"/>
                </a:solidFill>
                <a:latin typeface="Arial"/>
              </a:rPr>
              <a:t>Home page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1384374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 dirty="0">
                <a:solidFill>
                  <a:srgbClr val="5F6368"/>
                </a:solidFill>
                <a:latin typeface="Arial"/>
              </a:rPr>
              <a:t>Customers start here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CB170E-C7C8-ECDC-5074-009377E9AC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350" y="1644724"/>
            <a:ext cx="4438791" cy="24968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C37EC2-A2B2-FCF7-2A00-905489F726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287" y="1612974"/>
            <a:ext cx="3869673" cy="33174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14CE809-8D68-439E-EFAF-0AFCF50F785B}"/>
              </a:ext>
            </a:extLst>
          </p:cNvPr>
          <p:cNvSpPr txBox="1"/>
          <p:nvPr/>
        </p:nvSpPr>
        <p:spPr>
          <a:xfrm>
            <a:off x="4954287" y="1119468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US" sz="1150" b="1" dirty="0">
                <a:solidFill>
                  <a:srgbClr val="202124"/>
                </a:solidFill>
              </a:rPr>
              <a:t>AI Product Assistant</a:t>
            </a:r>
            <a:endParaRPr sz="1150" b="1" i="0" dirty="0">
              <a:solidFill>
                <a:srgbClr val="202124"/>
              </a:solidFill>
              <a:latin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C4FE12-0C7E-EBCF-95C6-3F6219C9600A}"/>
              </a:ext>
            </a:extLst>
          </p:cNvPr>
          <p:cNvSpPr txBox="1"/>
          <p:nvPr/>
        </p:nvSpPr>
        <p:spPr>
          <a:xfrm>
            <a:off x="4954287" y="1357212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US" sz="1000" dirty="0">
                <a:solidFill>
                  <a:srgbClr val="5F6368"/>
                </a:solidFill>
              </a:rPr>
              <a:t>E</a:t>
            </a:r>
            <a:r>
              <a:rPr lang="en-US" sz="1000" b="0" i="0" dirty="0">
                <a:solidFill>
                  <a:srgbClr val="5F6368"/>
                </a:solidFill>
                <a:latin typeface="Arial"/>
              </a:rPr>
              <a:t>xplain about how to start, also explain about the product</a:t>
            </a:r>
            <a:endParaRPr sz="1000" b="0" i="0" dirty="0">
              <a:solidFill>
                <a:srgbClr val="5F6368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— the customer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320040" y="1185206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 dirty="0">
                <a:solidFill>
                  <a:srgbClr val="202124"/>
                </a:solidFill>
                <a:latin typeface="Arial"/>
              </a:rPr>
              <a:t>Customer dashboard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0040" y="1422950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After sign-in: connect each data source, upload documents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D854F6-C41C-9D63-7719-10824D6DBE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0040" y="1673237"/>
            <a:ext cx="4016103" cy="31835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9942BE-D2AB-F95C-4CBE-E3FBF250B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1670631"/>
            <a:ext cx="4215208" cy="32075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1848C7-1EAF-2FC0-5E35-1161CAE7CAD7}"/>
              </a:ext>
            </a:extLst>
          </p:cNvPr>
          <p:cNvSpPr txBox="1"/>
          <p:nvPr/>
        </p:nvSpPr>
        <p:spPr>
          <a:xfrm>
            <a:off x="4572000" y="1199974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US" sz="1150" b="1" dirty="0">
                <a:solidFill>
                  <a:srgbClr val="202124"/>
                </a:solidFill>
              </a:rPr>
              <a:t>AI Assistant</a:t>
            </a:r>
            <a:endParaRPr sz="1150" b="1" i="0" dirty="0">
              <a:solidFill>
                <a:srgbClr val="202124"/>
              </a:solidFill>
              <a:latin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4894B3-9A61-4C2C-D121-B01F05C17483}"/>
              </a:ext>
            </a:extLst>
          </p:cNvPr>
          <p:cNvSpPr txBox="1"/>
          <p:nvPr/>
        </p:nvSpPr>
        <p:spPr>
          <a:xfrm>
            <a:off x="4572001" y="1420344"/>
            <a:ext cx="451394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US" sz="1000" b="0" i="0" dirty="0">
                <a:solidFill>
                  <a:srgbClr val="5F6368"/>
                </a:solidFill>
                <a:latin typeface="Arial"/>
              </a:rPr>
              <a:t>Analyzes MSME data, detects risks, and recommends smarter lending decisions</a:t>
            </a:r>
            <a:endParaRPr sz="1000" b="0" i="0" dirty="0">
              <a:solidFill>
                <a:srgbClr val="5F6368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78633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— each source analysed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20040" y="1124860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Business Registration (Udyam)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1362604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The registration profile, from the Udyam record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329609" y="1124856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 dirty="0">
                <a:solidFill>
                  <a:srgbClr val="202124"/>
                </a:solidFill>
                <a:latin typeface="Arial"/>
              </a:rPr>
              <a:t>Banking Data (AA)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329609" y="1362600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The bank's own record, shared by consent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5C3BD5-C4EB-CB0E-8155-38293E427D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65350" y="1557639"/>
            <a:ext cx="3493850" cy="34519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49BC67-31D7-8334-34AB-FA8BB4755F7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287401" y="1832775"/>
            <a:ext cx="4567345" cy="2873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999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— each source analysed</a:t>
            </a: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20040" y="1240974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Bank statement risk indicators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147871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A flag only where the statement data supports it</a:t>
            </a:r>
          </a:p>
        </p:txBody>
      </p:sp>
      <p:pic>
        <p:nvPicPr>
          <p:cNvPr id="138" name="snap_c_aa_risk" descr="c_aa_ri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920240"/>
            <a:ext cx="4160520" cy="270328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1240974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Tax &amp; Sales Compliance (GST)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63440" y="147871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Filing and turnover analysis — sample data in the demo</a:t>
            </a:r>
          </a:p>
        </p:txBody>
      </p:sp>
      <p:pic>
        <p:nvPicPr>
          <p:cNvPr id="141" name="snap_c_gst"/>
          <p:cNvPicPr>
            <a:picLocks noChangeAspect="1"/>
          </p:cNvPicPr>
          <p:nvPr/>
        </p:nvPicPr>
        <p:blipFill rotWithShape="1">
          <a:blip r:embed="rId6"/>
          <a:srcRect b="52390"/>
          <a:stretch/>
        </p:blipFill>
        <p:spPr>
          <a:xfrm>
            <a:off x="4736850" y="1725606"/>
            <a:ext cx="3001333" cy="31630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</p:spTree>
    <p:extLst>
      <p:ext uri="{BB962C8B-B14F-4D97-AF65-F5344CB8AC3E}">
        <p14:creationId xmlns:p14="http://schemas.microsoft.com/office/powerpoint/2010/main" val="1732659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— each source analysed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20040" y="1182918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Income Tax Filing (ITR)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1420662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Income, tax and filing — sample data in the demo</a:t>
            </a:r>
          </a:p>
        </p:txBody>
      </p:sp>
      <p:pic>
        <p:nvPicPr>
          <p:cNvPr id="138" name="snap_c_itr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0039" y="1680341"/>
            <a:ext cx="3533503" cy="326112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1182918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Corporate Registry (MCA)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63440" y="1420662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Company, directors and charges — sample data in the demo</a:t>
            </a:r>
          </a:p>
        </p:txBody>
      </p:sp>
      <p:pic>
        <p:nvPicPr>
          <p:cNvPr id="141" name="snap_c_mca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663440" y="1647755"/>
            <a:ext cx="3693886" cy="329371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</p:spTree>
    <p:extLst>
      <p:ext uri="{BB962C8B-B14F-4D97-AF65-F5344CB8AC3E}">
        <p14:creationId xmlns:p14="http://schemas.microsoft.com/office/powerpoint/2010/main" val="4227007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— each source analysed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20040" y="1182918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IN" sz="1150" b="1" i="0" dirty="0">
                <a:solidFill>
                  <a:srgbClr val="202124"/>
                </a:solidFill>
                <a:latin typeface="Arial"/>
              </a:rPr>
              <a:t>Risk Lens (using RAG)</a:t>
            </a:r>
            <a:endParaRPr sz="1150" b="1" i="0" dirty="0">
              <a:solidFill>
                <a:srgbClr val="202124"/>
              </a:solidFill>
              <a:latin typeface="Arial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320040" y="1420662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US" sz="1000" b="0" i="0" dirty="0">
                <a:solidFill>
                  <a:srgbClr val="5F6368"/>
                </a:solidFill>
                <a:latin typeface="Arial"/>
              </a:rPr>
              <a:t>Automated Risk/fraud detection </a:t>
            </a:r>
            <a:r>
              <a:rPr sz="1000" b="0" i="0" dirty="0">
                <a:solidFill>
                  <a:srgbClr val="5F6368"/>
                </a:solidFill>
                <a:latin typeface="Arial"/>
              </a:rPr>
              <a:t>— sample data in the demo</a:t>
            </a:r>
          </a:p>
        </p:txBody>
      </p:sp>
      <p:pic>
        <p:nvPicPr>
          <p:cNvPr id="138" name="snap_c_itr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65350" y="1844199"/>
            <a:ext cx="4303153" cy="243621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1182918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IN" sz="1150" b="1" i="0" dirty="0">
                <a:solidFill>
                  <a:srgbClr val="202124"/>
                </a:solidFill>
                <a:latin typeface="Arial"/>
              </a:rPr>
              <a:t>Financial Health Card</a:t>
            </a:r>
            <a:endParaRPr sz="1150" b="1" i="0" dirty="0">
              <a:solidFill>
                <a:srgbClr val="202124"/>
              </a:solidFill>
              <a:latin typeface="Arial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663440" y="1420662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US" sz="1000" b="0" i="0" dirty="0">
                <a:solidFill>
                  <a:srgbClr val="5F6368"/>
                </a:solidFill>
                <a:latin typeface="Arial"/>
              </a:rPr>
              <a:t>AI-computed 6-dimension credit health score </a:t>
            </a:r>
            <a:r>
              <a:rPr sz="1000" b="0" i="0" dirty="0">
                <a:solidFill>
                  <a:srgbClr val="5F6368"/>
                </a:solidFill>
                <a:latin typeface="Arial"/>
              </a:rPr>
              <a:t>— sample data in the demo</a:t>
            </a:r>
          </a:p>
        </p:txBody>
      </p:sp>
      <p:pic>
        <p:nvPicPr>
          <p:cNvPr id="141" name="snap_c_mca"/>
          <p:cNvPicPr>
            <a:picLocks noChangeAspect="1"/>
          </p:cNvPicPr>
          <p:nvPr/>
        </p:nvPicPr>
        <p:blipFill rotWithShape="1">
          <a:blip r:embed="rId6"/>
          <a:srcRect b="64979"/>
          <a:stretch/>
        </p:blipFill>
        <p:spPr>
          <a:xfrm>
            <a:off x="4897165" y="1624743"/>
            <a:ext cx="3470321" cy="337703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</p:spTree>
    <p:extLst>
      <p:ext uri="{BB962C8B-B14F-4D97-AF65-F5344CB8AC3E}">
        <p14:creationId xmlns:p14="http://schemas.microsoft.com/office/powerpoint/2010/main" val="3712893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— each source analysed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8" name="snap_c_itr"/>
          <p:cNvPicPr>
            <a:picLocks noChangeAspect="1"/>
          </p:cNvPicPr>
          <p:nvPr/>
        </p:nvPicPr>
        <p:blipFill rotWithShape="1">
          <a:blip r:embed="rId5"/>
          <a:srcRect t="29864" b="34993"/>
          <a:stretch/>
        </p:blipFill>
        <p:spPr>
          <a:xfrm>
            <a:off x="320040" y="1639471"/>
            <a:ext cx="3370171" cy="329101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D3DEE64-D962-5478-2AFD-8B91B9756AFB}"/>
              </a:ext>
            </a:extLst>
          </p:cNvPr>
          <p:cNvSpPr txBox="1"/>
          <p:nvPr/>
        </p:nvSpPr>
        <p:spPr>
          <a:xfrm>
            <a:off x="320040" y="1151440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IN" sz="1150" b="1" i="0" dirty="0">
                <a:solidFill>
                  <a:srgbClr val="202124"/>
                </a:solidFill>
                <a:latin typeface="Arial"/>
              </a:rPr>
              <a:t>Financial Health Card</a:t>
            </a:r>
            <a:endParaRPr sz="1150" b="1" i="0" dirty="0">
              <a:solidFill>
                <a:srgbClr val="202124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5CC233-526D-7B4F-6FA3-744B00B08FB8}"/>
              </a:ext>
            </a:extLst>
          </p:cNvPr>
          <p:cNvSpPr txBox="1"/>
          <p:nvPr/>
        </p:nvSpPr>
        <p:spPr>
          <a:xfrm>
            <a:off x="320040" y="1389184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US" sz="1000" b="0" i="0" dirty="0">
                <a:solidFill>
                  <a:srgbClr val="5F6368"/>
                </a:solidFill>
                <a:latin typeface="Arial"/>
              </a:rPr>
              <a:t>AI-computed 6-dimension credit health score </a:t>
            </a:r>
            <a:r>
              <a:rPr sz="1000" b="0" i="0" dirty="0">
                <a:solidFill>
                  <a:srgbClr val="5F6368"/>
                </a:solidFill>
                <a:latin typeface="Arial"/>
              </a:rPr>
              <a:t>— sample data in the demo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D51DF8-004B-4CC4-2A01-3F7EED2DCDE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65676"/>
          <a:stretch/>
        </p:blipFill>
        <p:spPr>
          <a:xfrm>
            <a:off x="4736850" y="1367115"/>
            <a:ext cx="3625669" cy="3457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587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2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— the bank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20040" y="1132117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 dirty="0">
                <a:solidFill>
                  <a:srgbClr val="202124"/>
                </a:solidFill>
                <a:latin typeface="Arial"/>
              </a:rPr>
              <a:t>Bank dashboard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1369861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 dirty="0">
                <a:solidFill>
                  <a:srgbClr val="5F6368"/>
                </a:solidFill>
                <a:latin typeface="Arial"/>
              </a:rPr>
              <a:t>The onboarded portfolio at a glance</a:t>
            </a:r>
          </a:p>
        </p:txBody>
      </p:sp>
      <p:pic>
        <p:nvPicPr>
          <p:cNvPr id="138" name="snap_b_dashboard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65350" y="1694016"/>
            <a:ext cx="4023621" cy="320003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1132117"/>
            <a:ext cx="41605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02124"/>
                </a:solidFill>
                <a:latin typeface="Arial"/>
              </a:rPr>
              <a:t>One page per customer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63440" y="1369861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Opens on the Risk Lens; every source in its own tab</a:t>
            </a:r>
          </a:p>
        </p:txBody>
      </p:sp>
      <p:pic>
        <p:nvPicPr>
          <p:cNvPr id="141" name="snap_b_customer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36850" y="1596216"/>
            <a:ext cx="3150423" cy="3367016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2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— fraud detection per customer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snap_b_customers" descr="b_custom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188720"/>
            <a:ext cx="4480560" cy="190480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5029200" y="1691640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Customers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029200" y="1993392"/>
            <a:ext cx="3749039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F6368"/>
                </a:solidFill>
                <a:latin typeface="Arial"/>
              </a:rPr>
              <a:t>A risk status for every customer — Reddy Industries reads High risk</a:t>
            </a:r>
          </a:p>
        </p:txBody>
      </p:sp>
      <p:pic>
        <p:nvPicPr>
          <p:cNvPr id="139" name="snap_b_risklens" descr="b_riskl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127248"/>
            <a:ext cx="4480560" cy="190480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0" name="TextBox 139"/>
          <p:cNvSpPr txBox="1"/>
          <p:nvPr/>
        </p:nvSpPr>
        <p:spPr>
          <a:xfrm>
            <a:off x="5029200" y="3630168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Risk Lens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029200" y="3931920"/>
            <a:ext cx="3749039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F6368"/>
                </a:solidFill>
                <a:latin typeface="Arial"/>
              </a:rPr>
              <a:t>The verdict, then one section per source — Bank conduct is flagged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2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— fraud detection per customer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snap_b_finding" descr="b_fin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188720"/>
            <a:ext cx="4480560" cy="190480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5029200" y="1691640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 finding with its evidence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029200" y="1993392"/>
            <a:ext cx="3749039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F6368"/>
                </a:solidFill>
                <a:latin typeface="Arial"/>
              </a:rPr>
              <a:t>Read from the bank's own Account Aggregator record; the officer confirms or dismisses it</a:t>
            </a:r>
          </a:p>
        </p:txBody>
      </p:sp>
      <p:pic>
        <p:nvPicPr>
          <p:cNvPr id="139" name="snap_b_loancase" descr="b_loanc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127248"/>
            <a:ext cx="4480560" cy="190480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0" name="TextBox 139"/>
          <p:cNvSpPr txBox="1"/>
          <p:nvPr/>
        </p:nvSpPr>
        <p:spPr>
          <a:xfrm>
            <a:off x="5029200" y="3630168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Clear → loan case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029200" y="3931920"/>
            <a:ext cx="3749039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F6368"/>
                </a:solidFill>
                <a:latin typeface="Arial"/>
              </a:rPr>
              <a:t>A customer with nothing open goes on to the AI credit decision and the LOS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perf_0"/>
          <p:cNvSpPr/>
          <p:nvPr/>
        </p:nvSpPr>
        <p:spPr>
          <a:xfrm>
            <a:off x="320040" y="1188720"/>
            <a:ext cx="2011680" cy="10241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29768" y="1280160"/>
            <a:ext cx="179222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7A1230"/>
                </a:solidFill>
                <a:latin typeface="Arial"/>
              </a:rPr>
              <a:t>99.8–100%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9768" y="1755648"/>
            <a:ext cx="1792224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of 1,298 statement rows read exactly — two live runs</a:t>
            </a:r>
          </a:p>
        </p:txBody>
      </p:sp>
      <p:sp>
        <p:nvSpPr>
          <p:cNvPr id="147" name="perf_1"/>
          <p:cNvSpPr/>
          <p:nvPr/>
        </p:nvSpPr>
        <p:spPr>
          <a:xfrm>
            <a:off x="2487168" y="1188720"/>
            <a:ext cx="2011680" cy="10241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2596896" y="1280160"/>
            <a:ext cx="179222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7A1230"/>
                </a:solidFill>
                <a:latin typeface="Arial"/>
              </a:rPr>
              <a:t>20 / 20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96896" y="1755648"/>
            <a:ext cx="1792224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demo assessments raise exactly their expected findings</a:t>
            </a:r>
          </a:p>
        </p:txBody>
      </p:sp>
      <p:sp>
        <p:nvSpPr>
          <p:cNvPr id="150" name="perf_2"/>
          <p:cNvSpPr/>
          <p:nvPr/>
        </p:nvSpPr>
        <p:spPr>
          <a:xfrm>
            <a:off x="4654296" y="1188720"/>
            <a:ext cx="2011680" cy="10241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4764024" y="1280160"/>
            <a:ext cx="179222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1E8E3E"/>
                </a:solidFill>
                <a:latin typeface="Arial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64024" y="1755648"/>
            <a:ext cx="1792224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false alarms on genuine applicants — checks and AI</a:t>
            </a:r>
          </a:p>
        </p:txBody>
      </p:sp>
      <p:sp>
        <p:nvSpPr>
          <p:cNvPr id="153" name="perf_3"/>
          <p:cNvSpPr/>
          <p:nvPr/>
        </p:nvSpPr>
        <p:spPr>
          <a:xfrm>
            <a:off x="6821424" y="1188720"/>
            <a:ext cx="2011680" cy="10241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6931152" y="1280160"/>
            <a:ext cx="1792224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7A1230"/>
                </a:solidFill>
                <a:latin typeface="Arial"/>
              </a:rPr>
              <a:t>5 / 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31152" y="1755648"/>
            <a:ext cx="1792224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F6368"/>
                </a:solidFill>
                <a:latin typeface="Arial"/>
              </a:rPr>
              <a:t>expected AI findings found by the investigator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20040" y="2331720"/>
            <a:ext cx="85039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7A1230"/>
                </a:solidFill>
                <a:latin typeface="Arial"/>
              </a:rPr>
              <a:t>How it is measured: </a:t>
            </a:r>
            <a:r>
              <a:rPr sz="1000" b="0" i="0">
                <a:solidFill>
                  <a:srgbClr val="5F6368"/>
                </a:solidFill>
                <a:latin typeface="Arial"/>
              </a:rPr>
              <a:t>synthetic documents with known ground truth, read by live Gemini, scored row by row, checks run on Gemini's own reading</a:t>
            </a:r>
          </a:p>
        </p:txBody>
      </p:sp>
      <p:graphicFrame>
        <p:nvGraphicFramePr>
          <p:cNvPr id="157" name="bench_table"/>
          <p:cNvGraphicFramePr>
            <a:graphicFrameLocks noGrp="1"/>
          </p:cNvGraphicFramePr>
          <p:nvPr/>
        </p:nvGraphicFramePr>
        <p:xfrm>
          <a:off x="320040" y="2633472"/>
          <a:ext cx="8503920" cy="2112264"/>
        </p:xfrm>
        <a:graphic>
          <a:graphicData uri="http://schemas.openxmlformats.org/drawingml/2006/table">
            <a:tbl>
              <a:tblPr firstRow="1"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Manual review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FinRiskLens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Statement arithmetic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Spot-checked by eye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Every row and page: balance, carry-over, totals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Statement vs bank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Ask for a bank-certified copy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Automatic when Account Aggregator is linked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Edited files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Rarely examined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Producer, creator and edit dates read on upload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Links across customers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One customer at a time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Shared file, account, director or contacts; GST loops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Credit decision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FOIR worked out by hand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Capacity computed in code; every AI figure traced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Analyst time per file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10–60 s per statement · 12–43 s per investigation</a:t>
                      </a: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DADCE0"/>
                      </a:solidFill>
                      <a:prstDash val="soli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</a:t>
            </a: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fut_0"/>
          <p:cNvSpPr/>
          <p:nvPr/>
        </p:nvSpPr>
        <p:spPr>
          <a:xfrm>
            <a:off x="320040" y="118872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fut_0_circle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4" name="fut_0_icon" descr="fing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0" y="1410370"/>
            <a:ext cx="215066" cy="215066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41832" y="1325880"/>
            <a:ext cx="3474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Registry cross-checks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57200" y="1792224"/>
            <a:ext cx="393192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GST, ITR and bank turnover reconciled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Name, PAN and address across every source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Password-protected and scanned statements</a:t>
            </a:r>
          </a:p>
        </p:txBody>
      </p:sp>
      <p:sp>
        <p:nvSpPr>
          <p:cNvPr id="157" name="fut_1"/>
          <p:cNvSpPr/>
          <p:nvPr/>
        </p:nvSpPr>
        <p:spPr>
          <a:xfrm>
            <a:off x="4617720" y="118872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8" name="fut_1_circle"/>
          <p:cNvSpPr/>
          <p:nvPr/>
        </p:nvSpPr>
        <p:spPr>
          <a:xfrm>
            <a:off x="475488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9" name="fut_1_icon" descr="search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9370" y="1410370"/>
            <a:ext cx="215066" cy="215066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5239512" y="1325880"/>
            <a:ext cx="3474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Evidence highlighting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754880" y="1792224"/>
            <a:ext cx="393192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 dirty="0">
                <a:solidFill>
                  <a:srgbClr val="202124"/>
                </a:solidFill>
                <a:latin typeface="Arial"/>
              </a:rPr>
              <a:t>Highlight the exact row on the PDF page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 dirty="0">
                <a:solidFill>
                  <a:srgbClr val="202124"/>
                </a:solidFill>
                <a:latin typeface="Arial"/>
              </a:rPr>
              <a:t>Bounding boxes already in the extraction contract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 dirty="0">
                <a:solidFill>
                  <a:srgbClr val="202124"/>
                </a:solidFill>
                <a:latin typeface="Arial"/>
              </a:rPr>
              <a:t>Side-by-side PDF and bank record view</a:t>
            </a:r>
          </a:p>
        </p:txBody>
      </p:sp>
      <p:sp>
        <p:nvSpPr>
          <p:cNvPr id="162" name="fut_2"/>
          <p:cNvSpPr/>
          <p:nvPr/>
        </p:nvSpPr>
        <p:spPr>
          <a:xfrm>
            <a:off x="320040" y="3081528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3" name="fut_2_circle"/>
          <p:cNvSpPr/>
          <p:nvPr/>
        </p:nvSpPr>
        <p:spPr>
          <a:xfrm>
            <a:off x="45720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4" name="fut_2_icon" descr="boo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690" y="3303178"/>
            <a:ext cx="215066" cy="215066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41832" y="3218688"/>
            <a:ext cx="3474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Case memory and policy Q&amp;A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3685032"/>
            <a:ext cx="393192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Confirmed findings feed the knowledge base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Policy questions answered with citations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Arial"/>
              </a:rPr>
              <a:t>Refusal when the policy is silent</a:t>
            </a:r>
          </a:p>
        </p:txBody>
      </p:sp>
      <p:sp>
        <p:nvSpPr>
          <p:cNvPr id="167" name="fut_3"/>
          <p:cNvSpPr/>
          <p:nvPr/>
        </p:nvSpPr>
        <p:spPr>
          <a:xfrm>
            <a:off x="4617720" y="3081528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8" name="fut_3_circle"/>
          <p:cNvSpPr/>
          <p:nvPr/>
        </p:nvSpPr>
        <p:spPr>
          <a:xfrm>
            <a:off x="4754880" y="3218688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9" name="fut_3_icon" descr="lay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9370" y="3303178"/>
            <a:ext cx="215066" cy="215066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5239512" y="3218688"/>
            <a:ext cx="3474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Scale and integration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754880" y="3685032"/>
            <a:ext cx="3931920" cy="10881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 dirty="0">
                <a:solidFill>
                  <a:srgbClr val="202124"/>
                </a:solidFill>
                <a:latin typeface="Arial"/>
              </a:rPr>
              <a:t>Entity link tables for portfolio-scale customer links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 dirty="0">
                <a:solidFill>
                  <a:srgbClr val="202124"/>
                </a:solidFill>
                <a:latin typeface="Arial"/>
              </a:rPr>
              <a:t>Live GST, ITR, MCA and OFAC/AML screening via licensed providers</a:t>
            </a: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50" b="0" i="0" dirty="0">
                <a:solidFill>
                  <a:srgbClr val="202124"/>
                </a:solidFill>
                <a:latin typeface="Arial"/>
              </a:rPr>
              <a:t>Per-lender policies and thresholds</a:t>
            </a:r>
            <a:endParaRPr lang="en-US" sz="1150" b="0" i="0" dirty="0">
              <a:solidFill>
                <a:srgbClr val="202124"/>
              </a:solidFill>
              <a:latin typeface="Arial"/>
            </a:endParaRPr>
          </a:p>
          <a:p>
            <a:pPr marL="146304" indent="-14630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IN" sz="1150" b="0" i="0" dirty="0">
                <a:solidFill>
                  <a:srgbClr val="202124"/>
                </a:solidFill>
                <a:latin typeface="Arial"/>
              </a:rPr>
              <a:t>Google Cloud Translation service</a:t>
            </a:r>
            <a:endParaRPr sz="1150" b="0" i="0" dirty="0">
              <a:solidFill>
                <a:srgbClr val="20212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569483"/>
            <a:ext cx="8327107" cy="167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</a:t>
            </a:r>
            <a:r>
              <a:rPr dirty="0">
                <a:hlinkClick r:id="rId5"/>
              </a:rPr>
              <a:t>https://github.com/abhinavmukwane/FinRiskLensAI-RAG-V2</a:t>
            </a:r>
            <a:endParaRPr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indent="-317500">
              <a:buSzPts val="1400"/>
              <a:buFont typeface="Google Sans Flex Medium"/>
              <a:buChar char="●"/>
            </a:pPr>
            <a:endParaRPr lang="en-GB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indent="-317500">
              <a:buSzPts val="1400"/>
              <a:buFont typeface="Google Sans Flex Medium"/>
              <a:buChar char="●"/>
            </a:pPr>
            <a:r>
              <a:rPr lang="en-GB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</a:t>
            </a:r>
            <a:r>
              <a:rPr lang="en-IN" dirty="0">
                <a:hlinkClick r:id="rId6"/>
              </a:rPr>
              <a:t>https://video-ai-builder-cup.finrisklensai.com</a:t>
            </a:r>
            <a:endParaRPr dirty="0"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endParaRPr lang="en-GB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</a:t>
            </a:r>
            <a:r>
              <a:rPr dirty="0">
                <a:hlinkClick r:id="rId7"/>
              </a:rPr>
              <a:t>https://finrisklensai.cloud.run</a:t>
            </a:r>
            <a:endParaRPr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access_box"/>
          <p:cNvSpPr/>
          <p:nvPr/>
        </p:nvSpPr>
        <p:spPr>
          <a:xfrm>
            <a:off x="320040" y="2423159"/>
            <a:ext cx="8503920" cy="126346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1" name="access_circle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2" name="access_icon" descr="lo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690" y="2644810"/>
            <a:ext cx="215066" cy="215066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960119" y="2514599"/>
            <a:ext cx="7726680" cy="11937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 dirty="0">
                <a:solidFill>
                  <a:srgbClr val="202124"/>
                </a:solidFill>
                <a:latin typeface="Arial"/>
              </a:rPr>
              <a:t>For the evaluation panel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 dirty="0">
                <a:solidFill>
                  <a:srgbClr val="202124"/>
                </a:solidFill>
                <a:latin typeface="Arial"/>
              </a:rPr>
              <a:t>Bank portal: </a:t>
            </a:r>
            <a:r>
              <a:rPr sz="1050" b="1" i="0" dirty="0">
                <a:solidFill>
                  <a:srgbClr val="202124"/>
                </a:solidFill>
                <a:latin typeface="Arial"/>
                <a:hlinkClick r:id="rId9"/>
              </a:rPr>
              <a:t>https://finrisklensai.cloud.run/Auth/BankLogin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 — credentials are</a:t>
            </a:r>
            <a:r>
              <a:rPr lang="en-US" sz="1050" b="0" i="0" dirty="0">
                <a:solidFill>
                  <a:srgbClr val="202124"/>
                </a:solidFill>
                <a:latin typeface="Arial"/>
              </a:rPr>
              <a:t> User ID: </a:t>
            </a:r>
            <a:r>
              <a:rPr lang="en-US" sz="1050" b="1" i="0" dirty="0" err="1">
                <a:solidFill>
                  <a:srgbClr val="202124"/>
                </a:solidFill>
                <a:latin typeface="Arial"/>
              </a:rPr>
              <a:t>bankadmin</a:t>
            </a:r>
            <a:r>
              <a:rPr lang="en-US" sz="1050" dirty="0">
                <a:solidFill>
                  <a:srgbClr val="202124"/>
                </a:solidFill>
              </a:rPr>
              <a:t>, Password: </a:t>
            </a:r>
            <a:r>
              <a:rPr lang="en-US" sz="1050" b="1" dirty="0">
                <a:solidFill>
                  <a:srgbClr val="202124"/>
                </a:solidFill>
              </a:rPr>
              <a:t>Bank@123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 dirty="0">
                <a:solidFill>
                  <a:srgbClr val="5F6368"/>
                </a:solidFill>
                <a:latin typeface="Arial"/>
              </a:rPr>
              <a:t>All demo data is synthetic. GST, ITR and MCA are generated samples; OFAC/AML screening is a demo.</a:t>
            </a:r>
            <a:br>
              <a:rPr lang="en-US" sz="1050" b="0" i="0" dirty="0">
                <a:solidFill>
                  <a:srgbClr val="5F6368"/>
                </a:solidFill>
                <a:latin typeface="Arial"/>
              </a:rPr>
            </a:br>
            <a:br>
              <a:rPr lang="en-US" sz="1050" b="0" i="0" dirty="0">
                <a:solidFill>
                  <a:srgbClr val="5F6368"/>
                </a:solidFill>
                <a:latin typeface="Arial"/>
              </a:rPr>
            </a:br>
            <a:r>
              <a:rPr lang="en-IN" sz="1050" dirty="0">
                <a:solidFill>
                  <a:srgbClr val="202124"/>
                </a:solidFill>
              </a:rPr>
              <a:t>Business Registry (</a:t>
            </a:r>
            <a:r>
              <a:rPr lang="en-US" sz="1050" dirty="0">
                <a:solidFill>
                  <a:srgbClr val="202124"/>
                </a:solidFill>
              </a:rPr>
              <a:t>Udyam) Number for Demo Testing: </a:t>
            </a:r>
            <a:r>
              <a:rPr lang="en-US" sz="1050" b="1" dirty="0">
                <a:solidFill>
                  <a:srgbClr val="202124"/>
                </a:solidFill>
                <a:hlinkClick r:id="rId10"/>
              </a:rPr>
              <a:t>https://finrisklensai.cloud.run/Onboarding/CustOnboarding</a:t>
            </a:r>
            <a:endParaRPr lang="en-US" sz="1050" b="1" dirty="0">
              <a:solidFill>
                <a:srgbClr val="202124"/>
              </a:solidFill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n-US" sz="1050" b="1" i="0" dirty="0">
                <a:solidFill>
                  <a:srgbClr val="5F6368"/>
                </a:solidFill>
                <a:latin typeface="Arial"/>
              </a:rPr>
              <a:t>UDYAM-MH-20-0067888 / UDYAM-MH-20-0067111 / UDYAM-MH-20-0067394</a:t>
            </a:r>
            <a:r>
              <a:rPr lang="en-US" sz="1050" b="1" dirty="0">
                <a:solidFill>
                  <a:srgbClr val="5F6368"/>
                </a:solidFill>
              </a:rPr>
              <a:t> / </a:t>
            </a:r>
            <a:r>
              <a:rPr lang="en-US" sz="1050" b="1" i="0" dirty="0">
                <a:solidFill>
                  <a:srgbClr val="5F6368"/>
                </a:solidFill>
                <a:latin typeface="Arial"/>
              </a:rPr>
              <a:t>UDYAM-GJ-01-0275433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endParaRPr sz="1050" b="0" i="0" dirty="0">
              <a:solidFill>
                <a:srgbClr val="5F6368"/>
              </a:solidFill>
              <a:latin typeface="Arial"/>
            </a:endParaRPr>
          </a:p>
        </p:txBody>
      </p:sp>
      <p:sp>
        <p:nvSpPr>
          <p:cNvPr id="164" name="repo_box"/>
          <p:cNvSpPr/>
          <p:nvPr/>
        </p:nvSpPr>
        <p:spPr>
          <a:xfrm>
            <a:off x="320040" y="3878942"/>
            <a:ext cx="8503920" cy="1051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5" name="repo_circle"/>
          <p:cNvSpPr/>
          <p:nvPr/>
        </p:nvSpPr>
        <p:spPr>
          <a:xfrm>
            <a:off x="457200" y="3987074"/>
            <a:ext cx="384048" cy="384048"/>
          </a:xfrm>
          <a:prstGeom prst="ellipse">
            <a:avLst/>
          </a:prstGeom>
          <a:solidFill>
            <a:srgbClr val="20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6" name="repo_icon" descr="github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1690" y="4071564"/>
            <a:ext cx="215066" cy="215066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960119" y="3941354"/>
            <a:ext cx="772668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 dirty="0">
                <a:solidFill>
                  <a:srgbClr val="202124"/>
                </a:solidFill>
                <a:latin typeface="Arial"/>
              </a:rPr>
              <a:t>In the repository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 dirty="0">
                <a:solidFill>
                  <a:srgbClr val="202124"/>
                </a:solidFill>
                <a:latin typeface="Arial"/>
              </a:rPr>
              <a:t>README — how it works and every measurement · Doc/12_CUSTOMER_RISK_LENS.md — the customer flow · Doc/ARCHITECTURE.md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 dirty="0">
                <a:solidFill>
                  <a:srgbClr val="5F6368"/>
                </a:solidFill>
                <a:latin typeface="Arial"/>
              </a:rPr>
              <a:t>Run it yourself: dotnet test (70 tests) · </a:t>
            </a:r>
            <a:r>
              <a:rPr sz="1050" b="0" i="0" dirty="0" err="1">
                <a:solidFill>
                  <a:srgbClr val="5F6368"/>
                </a:solidFill>
                <a:latin typeface="Arial"/>
              </a:rPr>
              <a:t>DemoData</a:t>
            </a:r>
            <a:r>
              <a:rPr sz="1050" b="0" i="0" dirty="0">
                <a:solidFill>
                  <a:srgbClr val="5F6368"/>
                </a:solidFill>
                <a:latin typeface="Arial"/>
              </a:rPr>
              <a:t> eval (live extraction scored against ground truth)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Try it on the live site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8" name="try_customer"/>
          <p:cNvSpPr/>
          <p:nvPr/>
        </p:nvSpPr>
        <p:spPr>
          <a:xfrm>
            <a:off x="320040" y="1188720"/>
            <a:ext cx="4206240" cy="24231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9" name="try_customer_circle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0" name="try_customer_icon" descr="user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0" y="1410370"/>
            <a:ext cx="215066" cy="215066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941832" y="1325880"/>
            <a:ext cx="3474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As a customer (MSME)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57200" y="1792224"/>
            <a:ext cx="3931920" cy="1728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dirty="0">
                <a:solidFill>
                  <a:srgbClr val="7A1230"/>
                </a:solidFill>
                <a:latin typeface="Arial"/>
              </a:rPr>
              <a:t>1  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Start MSME Assessment on the home page: register with the </a:t>
            </a:r>
            <a:r>
              <a:rPr lang="en-IN" sz="1050" b="0" i="0" dirty="0">
                <a:solidFill>
                  <a:srgbClr val="202124"/>
                </a:solidFill>
                <a:latin typeface="Arial"/>
              </a:rPr>
              <a:t>Business Registry (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Udyam</a:t>
            </a:r>
            <a:r>
              <a:rPr lang="en-US" sz="1050" b="0" i="0" dirty="0">
                <a:solidFill>
                  <a:srgbClr val="202124"/>
                </a:solidFill>
                <a:latin typeface="Arial"/>
              </a:rPr>
              <a:t>)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 number, verify by email code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dirty="0">
                <a:solidFill>
                  <a:srgbClr val="7A1230"/>
                </a:solidFill>
                <a:latin typeface="Arial"/>
              </a:rPr>
              <a:t>2  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Connect data sources: bank data by Account Aggregator consent; GST, ITR</a:t>
            </a:r>
            <a:r>
              <a:rPr lang="en-US" sz="1050" b="0" i="0" dirty="0">
                <a:solidFill>
                  <a:srgbClr val="202124"/>
                </a:solidFill>
                <a:latin typeface="Arial"/>
              </a:rPr>
              <a:t>,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 MCA</a:t>
            </a:r>
            <a:r>
              <a:rPr lang="en-US" sz="1050" b="0" i="0" dirty="0">
                <a:solidFill>
                  <a:srgbClr val="202124"/>
                </a:solidFill>
                <a:latin typeface="Arial"/>
              </a:rPr>
              <a:t>, OFAC and AML</a:t>
            </a:r>
            <a:endParaRPr sz="1050" b="0" i="0" dirty="0">
              <a:solidFill>
                <a:srgbClr val="202124"/>
              </a:solidFill>
              <a:latin typeface="Arial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dirty="0">
                <a:solidFill>
                  <a:srgbClr val="7A1230"/>
                </a:solidFill>
                <a:latin typeface="Arial"/>
              </a:rPr>
              <a:t>3  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Upload bank statements or other documents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dirty="0">
                <a:solidFill>
                  <a:srgbClr val="7A1230"/>
                </a:solidFill>
                <a:latin typeface="Arial"/>
              </a:rPr>
              <a:t>4  </a:t>
            </a:r>
            <a:r>
              <a:rPr sz="1050" b="0" i="0" dirty="0">
                <a:solidFill>
                  <a:srgbClr val="202124"/>
                </a:solidFill>
                <a:latin typeface="Arial"/>
              </a:rPr>
              <a:t>Each source page explains the business's own data; the assistant answers questions on it</a:t>
            </a:r>
          </a:p>
        </p:txBody>
      </p:sp>
      <p:sp>
        <p:nvSpPr>
          <p:cNvPr id="173" name="try_bank"/>
          <p:cNvSpPr/>
          <p:nvPr/>
        </p:nvSpPr>
        <p:spPr>
          <a:xfrm>
            <a:off x="4617720" y="1188720"/>
            <a:ext cx="4206240" cy="24231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" name="try_bank_circle"/>
          <p:cNvSpPr/>
          <p:nvPr/>
        </p:nvSpPr>
        <p:spPr>
          <a:xfrm>
            <a:off x="4754880" y="1325880"/>
            <a:ext cx="384048" cy="384048"/>
          </a:xfrm>
          <a:prstGeom prst="ellipse">
            <a:avLst/>
          </a:prstGeom>
          <a:solidFill>
            <a:srgbClr val="7A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5" name="try_bank_icon" descr="ban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9370" y="1410370"/>
            <a:ext cx="215066" cy="215066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5239512" y="1325880"/>
            <a:ext cx="3474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Arial"/>
              </a:rPr>
              <a:t>As the bank (panel sign-in)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754880" y="1792224"/>
            <a:ext cx="3931920" cy="1728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7A1230"/>
                </a:solidFill>
                <a:latin typeface="Arial"/>
              </a:rPr>
              <a:t>1 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Dashboard: the onboarded portfolio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7A1230"/>
                </a:solidFill>
                <a:latin typeface="Arial"/>
              </a:rPr>
              <a:t>2 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Customers: a risk status for each — Clear, Review, High risk or Awaiting data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7A1230"/>
                </a:solidFill>
                <a:latin typeface="Arial"/>
              </a:rPr>
              <a:t>3 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Open a customer: the Risk Lens — verdict, a section per source, each finding with its evidence; confirm or dismiss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7A1230"/>
                </a:solidFill>
                <a:latin typeface="Arial"/>
              </a:rPr>
              <a:t>4  </a:t>
            </a:r>
            <a:r>
              <a:rPr sz="1050" b="0" i="0">
                <a:solidFill>
                  <a:srgbClr val="202124"/>
                </a:solidFill>
                <a:latin typeface="Arial"/>
              </a:rPr>
              <a:t>A Clear customer: the AI credit decision, then the loan case to LOS, ULI (OCEN) or ONDC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20040" y="3794760"/>
            <a:ext cx="85039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 dirty="0">
                <a:solidFill>
                  <a:srgbClr val="5F6368"/>
                </a:solidFill>
                <a:latin typeface="Arial"/>
              </a:rPr>
              <a:t>Demo data: </a:t>
            </a:r>
            <a:r>
              <a:rPr sz="950" b="0" i="0" dirty="0">
                <a:solidFill>
                  <a:srgbClr val="5F6368"/>
                </a:solidFill>
                <a:latin typeface="Arial"/>
              </a:rPr>
              <a:t>every business is synthetic; GST, ITR and MCA are generated samples; Account Aggregator runs on the </a:t>
            </a:r>
            <a:r>
              <a:rPr sz="950" b="0" i="0" dirty="0" err="1">
                <a:solidFill>
                  <a:srgbClr val="5F6368"/>
                </a:solidFill>
                <a:latin typeface="Arial"/>
              </a:rPr>
              <a:t>Finvu</a:t>
            </a:r>
            <a:r>
              <a:rPr sz="950" b="0" i="0" dirty="0">
                <a:solidFill>
                  <a:srgbClr val="5F6368"/>
                </a:solidFill>
                <a:latin typeface="Arial"/>
              </a:rPr>
              <a:t> sandbox; OFAC/AML screening is a demo. Bank sign-in details are on the links slide.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2807</Words>
  <Application>Microsoft Office PowerPoint</Application>
  <PresentationFormat>On-screen Show (16:9)</PresentationFormat>
  <Paragraphs>328</Paragraphs>
  <Slides>24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Google Sans Flex SemiBold</vt:lpstr>
      <vt:lpstr>Google Sans Flex Medium</vt:lpstr>
      <vt:lpstr>Google Sans Flex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Abhinav Mukwane</dc:creator>
  <cp:lastModifiedBy>Abhinav</cp:lastModifiedBy>
  <cp:revision>54</cp:revision>
  <dcterms:modified xsi:type="dcterms:W3CDTF">2026-10-18T17:30:17Z</dcterms:modified>
</cp:coreProperties>
</file>