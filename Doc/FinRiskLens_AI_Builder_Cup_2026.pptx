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74" r:id="rId30"/>
    <p:sldId id="273" r:id="rId29"/>
    <p:sldId id="272" r:id="rId28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13.xml"/><Relationship Id="rId29" Type="http://schemas.openxmlformats.org/officeDocument/2006/relationships/slide" Target="slides/slide12.xml"/><Relationship Id="rId30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FinRiskLens — evidence-based fraud detection and risk analysis for lending, built on Google Cloud by team ASM FinTech Developer.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RBI figures from the RBI Annual Report 2024-25 (released May 2025), date-of-reporting basis.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Steps 2–6 run off the request thread in a background worker; the case page refreshes until they finish.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Applicant documents are stored, read and embedded in Mumbai; only the Pro investigator, which sees extracted facts, runs on the global endpoint.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 figures are planning estimates, not quotes. Gemini usage scales with pages read and investigations run.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Extraction accuracy: two consecutive live runs on 14 cases (17 documents, 1,298 rows) scored 99.8% and 100%; the 6 ring cases scored 428/428. The eval also caught a model drift (95.6%) that day-first date guidance and an arithmetic-triggered re-read fixed.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6.png"/><Relationship Id="rId14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3.png"/><Relationship Id="rId6" Type="http://schemas.openxmlformats.org/officeDocument/2006/relationships/image" Target="../media/image9.png"/><Relationship Id="rId7" Type="http://schemas.openxmlformats.org/officeDocument/2006/relationships/image" Target="../media/image14.png"/><Relationship Id="rId8" Type="http://schemas.openxmlformats.org/officeDocument/2006/relationships/image" Target="../media/image3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abhinavmukwane/FinRiskLensAI-RAG-V2" TargetMode="External"/><Relationship Id="rId6" Type="http://schemas.openxmlformats.org/officeDocument/2006/relationships/hyperlink" Target="https://finrisklensai.cloud.run" TargetMode="External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b="1">
                <a:latin typeface="Google Sans Flex"/>
                <a:ea typeface="Google Sans Flex"/>
                <a:cs typeface="Google Sans Flex"/>
                <a:sym typeface="Google Sans Flex"/>
              </a:rPr>
              <a:t>ASM FinTech Developer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b="1">
                <a:latin typeface="Google Sans Flex"/>
                <a:ea typeface="Google Sans Flex"/>
                <a:cs typeface="Google Sans Flex"/>
                <a:sym typeface="Google Sans Flex"/>
              </a:rPr>
              <a:t>Abhinav Mukwane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600" b="1">
                <a:latin typeface="Google Sans Flex"/>
                <a:ea typeface="Google Sans Flex"/>
                <a:cs typeface="Google Sans Flex"/>
                <a:sym typeface="Google Sans Flex"/>
              </a:rPr>
              <a:t>Intelligent Risk, Fraud &amp; Financial Experiences (BFSI). </a:t>
            </a:r>
            <a:r>
              <a:rPr lang="en-GB" sz="1600" b="0">
                <a:latin typeface="Google Sans Flex"/>
                <a:ea typeface="Google Sans Flex"/>
                <a:cs typeface="Google Sans Flex"/>
                <a:sym typeface="Google Sans Flex"/>
              </a:rPr>
              <a:t>FinRiskLens — evidence-based detection of tampered loan documents and the fraud rings behind them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stat_fraud"/>
          <p:cNvSpPr/>
          <p:nvPr/>
        </p:nvSpPr>
        <p:spPr>
          <a:xfrm>
            <a:off x="320040" y="118872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429768" y="1280160"/>
            <a:ext cx="179222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C5221F"/>
                </a:solidFill>
                <a:latin typeface="Arial"/>
              </a:rPr>
              <a:t>₹36,014 cr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9768" y="1755648"/>
            <a:ext cx="1792224" cy="42976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involved in bank frauds in FY25</a:t>
            </a:r>
          </a:p>
        </p:txBody>
      </p:sp>
      <p:sp>
        <p:nvSpPr>
          <p:cNvPr id="75" name="stat_loans"/>
          <p:cNvSpPr/>
          <p:nvPr/>
        </p:nvSpPr>
        <p:spPr>
          <a:xfrm>
            <a:off x="2468880" y="118872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2578608" y="1280160"/>
            <a:ext cx="179222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C5221F"/>
                </a:solidFill>
                <a:latin typeface="Arial"/>
              </a:rPr>
              <a:t>₹33,148 cr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578608" y="1755648"/>
            <a:ext cx="1792224" cy="42976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of it in loans — the largest category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20040" y="2304288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5F6368"/>
                </a:solidFill>
                <a:latin typeface="Arial"/>
              </a:rPr>
              <a:t>Source: RBI Annual Report 2024-25 (date of reporting)</a:t>
            </a:r>
          </a:p>
        </p:txBody>
      </p:sp>
      <p:sp>
        <p:nvSpPr>
          <p:cNvPr id="79" name="brief_text"/>
          <p:cNvSpPr txBox="1"/>
          <p:nvPr/>
        </p:nvSpPr>
        <p:spPr>
          <a:xfrm>
            <a:off x="320040" y="2606040"/>
            <a:ext cx="4160520" cy="2331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202124"/>
                </a:solidFill>
                <a:latin typeface="Arial"/>
              </a:rPr>
              <a:t>Loans are decided on uploaded documents. </a:t>
            </a:r>
            <a:r>
              <a:rPr sz="1150" b="0" i="0">
                <a:solidFill>
                  <a:srgbClr val="202124"/>
                </a:solidFill>
                <a:latin typeface="Arial"/>
              </a:rPr>
              <a:t>A statement, salary slip or ITR can be edited in minutes, and one fabricator can supply many applicants.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7A1230"/>
                </a:solidFill>
                <a:latin typeface="Arial"/>
              </a:rPr>
              <a:t>FinRiskLens is an AI investigator for those documents. </a:t>
            </a:r>
            <a:r>
              <a:rPr sz="1150" b="0" i="0">
                <a:solidFill>
                  <a:srgbClr val="202124"/>
                </a:solidFill>
                <a:latin typeface="Arial"/>
              </a:rPr>
              <a:t>It reads every page with Gemini, checks the arithmetic, compares the statement with the bank's own Account Aggregator record, links applications that share a template, file or salary account, and lets a Gemini Pro agent investigate.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02124"/>
                </a:solidFill>
                <a:latin typeface="Arial"/>
              </a:rPr>
              <a:t>Every finding names the risk in rupees and links to the exact row, field or page — </a:t>
            </a:r>
            <a:r>
              <a:rPr sz="1150" b="1" i="0">
                <a:solidFill>
                  <a:srgbClr val="202124"/>
                </a:solidFill>
                <a:latin typeface="Arial"/>
              </a:rPr>
              <a:t>the credit officer confirms or dismisses it in one click.</a:t>
            </a:r>
          </a:p>
        </p:txBody>
      </p:sp>
      <p:sp>
        <p:nvSpPr>
          <p:cNvPr id="80" name="lens_0"/>
          <p:cNvSpPr/>
          <p:nvPr/>
        </p:nvSpPr>
        <p:spPr>
          <a:xfrm>
            <a:off x="4709160" y="1188720"/>
            <a:ext cx="4114800" cy="8229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lens_0_circle"/>
          <p:cNvSpPr/>
          <p:nvPr/>
        </p:nvSpPr>
        <p:spPr>
          <a:xfrm>
            <a:off x="4846320" y="1389888"/>
            <a:ext cx="420624" cy="420624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lens_0_icon" descr="doc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857" y="1482425"/>
            <a:ext cx="235549" cy="235549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5413248" y="129844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The document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13248" y="1572768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F6368"/>
                </a:solidFill>
                <a:latin typeface="Arial"/>
              </a:rPr>
              <a:t>Balances, page totals, slip arithmetic and file history</a:t>
            </a:r>
          </a:p>
        </p:txBody>
      </p:sp>
      <p:sp>
        <p:nvSpPr>
          <p:cNvPr id="85" name="lens_1"/>
          <p:cNvSpPr/>
          <p:nvPr/>
        </p:nvSpPr>
        <p:spPr>
          <a:xfrm>
            <a:off x="4709160" y="2130552"/>
            <a:ext cx="4114800" cy="8229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lens_1_circle"/>
          <p:cNvSpPr/>
          <p:nvPr/>
        </p:nvSpPr>
        <p:spPr>
          <a:xfrm>
            <a:off x="4846320" y="2331720"/>
            <a:ext cx="420624" cy="420624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lens_1_icon" descr="ban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8857" y="2424257"/>
            <a:ext cx="235549" cy="235549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5413248" y="224028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The bank's own record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13248" y="2514600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F6368"/>
                </a:solidFill>
                <a:latin typeface="Arial"/>
              </a:rPr>
              <a:t>The statement against the Account Aggregator feed</a:t>
            </a:r>
          </a:p>
        </p:txBody>
      </p:sp>
      <p:sp>
        <p:nvSpPr>
          <p:cNvPr id="90" name="lens_2"/>
          <p:cNvSpPr/>
          <p:nvPr/>
        </p:nvSpPr>
        <p:spPr>
          <a:xfrm>
            <a:off x="4709160" y="3072384"/>
            <a:ext cx="4114800" cy="8229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lens_2_circle"/>
          <p:cNvSpPr/>
          <p:nvPr/>
        </p:nvSpPr>
        <p:spPr>
          <a:xfrm>
            <a:off x="4846320" y="3273552"/>
            <a:ext cx="420624" cy="420624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lens_2_icon" descr="ring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8857" y="3366089"/>
            <a:ext cx="235549" cy="235549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413248" y="31821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The network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13248" y="3456432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F6368"/>
                </a:solidFill>
                <a:latin typeface="Arial"/>
              </a:rPr>
              <a:t>Shared files, templates and salary accounts form rings</a:t>
            </a:r>
          </a:p>
        </p:txBody>
      </p:sp>
      <p:sp>
        <p:nvSpPr>
          <p:cNvPr id="95" name="lens_3"/>
          <p:cNvSpPr/>
          <p:nvPr/>
        </p:nvSpPr>
        <p:spPr>
          <a:xfrm>
            <a:off x="4709160" y="4014215"/>
            <a:ext cx="4114800" cy="8229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lens_3_circle"/>
          <p:cNvSpPr/>
          <p:nvPr/>
        </p:nvSpPr>
        <p:spPr>
          <a:xfrm>
            <a:off x="4846320" y="4215383"/>
            <a:ext cx="420624" cy="420624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lens_3_icon" descr="bo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8857" y="4307921"/>
            <a:ext cx="235549" cy="235549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5413248" y="412394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AI judgement, grounded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413248" y="4398264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F6368"/>
                </a:solidFill>
                <a:latin typeface="Arial"/>
              </a:rPr>
              <a:t>Gemini Pro investigates; every claim cites the case's rows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5778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opp_0"/>
          <p:cNvSpPr/>
          <p:nvPr/>
        </p:nvSpPr>
        <p:spPr>
          <a:xfrm>
            <a:off x="320040" y="1188720"/>
            <a:ext cx="2743200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pp_0_circle"/>
          <p:cNvSpPr/>
          <p:nvPr/>
        </p:nvSpPr>
        <p:spPr>
          <a:xfrm>
            <a:off x="457200" y="132588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opp_0_icon" descr="search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690" y="1410370"/>
            <a:ext cx="215066" cy="215066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941832" y="1325880"/>
            <a:ext cx="201168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How it differs from existing tools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7200" y="1792224"/>
            <a:ext cx="2468880" cy="20939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>
                <a:solidFill>
                  <a:srgbClr val="202124"/>
                </a:solidFill>
                <a:latin typeface="Arial"/>
              </a:rPr>
              <a:t>Statement analysers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compute metrics for one application at a time — FinRiskLens returns findings, each with its evidence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>
                <a:solidFill>
                  <a:srgbClr val="202124"/>
                </a:solidFill>
                <a:latin typeface="Arial"/>
              </a:rPr>
              <a:t>Arithmetic checks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pass a careful forgery — FinRiskLens also compares it with the bank's own record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>
                <a:solidFill>
                  <a:srgbClr val="202124"/>
                </a:solidFill>
                <a:latin typeface="Arial"/>
              </a:rPr>
              <a:t>Single-case review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misses organised fraud — the network lens links applications into rings</a:t>
            </a:r>
          </a:p>
        </p:txBody>
      </p:sp>
      <p:sp>
        <p:nvSpPr>
          <p:cNvPr id="85" name="opp_1"/>
          <p:cNvSpPr/>
          <p:nvPr/>
        </p:nvSpPr>
        <p:spPr>
          <a:xfrm>
            <a:off x="3200400" y="1188720"/>
            <a:ext cx="2743200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pp_1_circle"/>
          <p:cNvSpPr/>
          <p:nvPr/>
        </p:nvSpPr>
        <p:spPr>
          <a:xfrm>
            <a:off x="3337560" y="132588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opp_1_icon" descr="za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2050" y="1410370"/>
            <a:ext cx="215066" cy="215066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3822191" y="1325880"/>
            <a:ext cx="201168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How it solves the problem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37560" y="1792224"/>
            <a:ext cx="2468880" cy="20939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>
                <a:solidFill>
                  <a:srgbClr val="202124"/>
                </a:solidFill>
                <a:latin typeface="Arial"/>
              </a:rPr>
              <a:t>Fast: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a statement is read and checked in under a minute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>
                <a:solidFill>
                  <a:srgbClr val="202124"/>
                </a:solidFill>
                <a:latin typeface="Arial"/>
              </a:rPr>
              <a:t>Verifiable: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every finding opens the document at its page and row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>
                <a:solidFill>
                  <a:srgbClr val="202124"/>
                </a:solidFill>
                <a:latin typeface="Arial"/>
              </a:rPr>
              <a:t>Decisive: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the officer confirms or dismisses each finding with a note; genuine applicants move on quickly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>
                <a:solidFill>
                  <a:srgbClr val="202124"/>
                </a:solidFill>
                <a:latin typeface="Arial"/>
              </a:rPr>
              <a:t>Policy-aware: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findings cite the lender's credit policy and fraud typology</a:t>
            </a:r>
          </a:p>
        </p:txBody>
      </p:sp>
      <p:sp>
        <p:nvSpPr>
          <p:cNvPr id="90" name="opp_2"/>
          <p:cNvSpPr/>
          <p:nvPr/>
        </p:nvSpPr>
        <p:spPr>
          <a:xfrm>
            <a:off x="6080759" y="1188720"/>
            <a:ext cx="2743200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pp_2_circle"/>
          <p:cNvSpPr/>
          <p:nvPr/>
        </p:nvSpPr>
        <p:spPr>
          <a:xfrm>
            <a:off x="6217920" y="132588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opp_2_icon" descr="targe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410" y="1410370"/>
            <a:ext cx="215066" cy="215066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6702551" y="1325880"/>
            <a:ext cx="201168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USP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17920" y="1792224"/>
            <a:ext cx="2468880" cy="20939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>
                <a:solidFill>
                  <a:srgbClr val="202124"/>
                </a:solidFill>
                <a:latin typeface="Arial"/>
              </a:rPr>
              <a:t>Grounded AI: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a claim that cannot point to rows of the case is set aside — and shown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>
                <a:solidFill>
                  <a:srgbClr val="202124"/>
                </a:solidFill>
                <a:latin typeface="Arial"/>
              </a:rPr>
              <a:t>Bank-record cross-check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through Account Aggregator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>
                <a:solidFill>
                  <a:srgbClr val="202124"/>
                </a:solidFill>
                <a:latin typeface="Arial"/>
              </a:rPr>
              <a:t>Fraud-ring discovery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across every application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>
                <a:solidFill>
                  <a:srgbClr val="202124"/>
                </a:solidFill>
                <a:latin typeface="Arial"/>
              </a:rPr>
              <a:t>Measured: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accuracy scored row by row against ground truth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>
                <a:solidFill>
                  <a:srgbClr val="202124"/>
                </a:solidFill>
                <a:latin typeface="Arial"/>
              </a:rPr>
              <a:t>Documents stay in India: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read and stored in Mumbai</a:t>
            </a:r>
          </a:p>
        </p:txBody>
      </p:sp>
      <p:sp>
        <p:nvSpPr>
          <p:cNvPr id="95" name="who_gains"/>
          <p:cNvSpPr/>
          <p:nvPr/>
        </p:nvSpPr>
        <p:spPr>
          <a:xfrm>
            <a:off x="320040" y="4114800"/>
            <a:ext cx="850392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457200" y="4178808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A1230"/>
                </a:solidFill>
                <a:latin typeface="Arial"/>
              </a:rPr>
              <a:t>Who gains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91640" y="42062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Credit officers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691640" y="444398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Findings with evidence, ready to act 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69080" y="42062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Fraud teams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69080" y="444398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Rings across the whole portfolio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46520" y="42062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Honest applicants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46520" y="444398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No findings — a faster decision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feat_0"/>
          <p:cNvSpPr/>
          <p:nvPr/>
        </p:nvSpPr>
        <p:spPr>
          <a:xfrm>
            <a:off x="320040" y="1188720"/>
            <a:ext cx="274320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feat_0_circle"/>
          <p:cNvSpPr/>
          <p:nvPr/>
        </p:nvSpPr>
        <p:spPr>
          <a:xfrm>
            <a:off x="457200" y="132588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feat_0_icon" descr="sca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690" y="1410370"/>
            <a:ext cx="215066" cy="215066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941832" y="1325880"/>
            <a:ext cx="201168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Document reading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7200" y="1792224"/>
            <a:ext cx="2468880" cy="10881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Gemini Flash in Mumbai reads every page in parallel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Numbers copied as printed, never corrected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A page that does not add up is read again with more thinking</a:t>
            </a:r>
          </a:p>
        </p:txBody>
      </p:sp>
      <p:sp>
        <p:nvSpPr>
          <p:cNvPr id="93" name="feat_1"/>
          <p:cNvSpPr/>
          <p:nvPr/>
        </p:nvSpPr>
        <p:spPr>
          <a:xfrm>
            <a:off x="3200400" y="1188720"/>
            <a:ext cx="274320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feat_1_circle"/>
          <p:cNvSpPr/>
          <p:nvPr/>
        </p:nvSpPr>
        <p:spPr>
          <a:xfrm>
            <a:off x="3337560" y="132588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feat_1_icon" descr="calc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2050" y="1410370"/>
            <a:ext cx="215066" cy="21506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3822191" y="1325880"/>
            <a:ext cx="201168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Nine deterministic checks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337560" y="1792224"/>
            <a:ext cx="2468880" cy="10881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Running balance, page carry-over, stated totals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Slip arithmetic, round-tripping, window dressing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Pass-through, PDF file history, bank record</a:t>
            </a:r>
          </a:p>
        </p:txBody>
      </p:sp>
      <p:sp>
        <p:nvSpPr>
          <p:cNvPr id="98" name="feat_2"/>
          <p:cNvSpPr/>
          <p:nvPr/>
        </p:nvSpPr>
        <p:spPr>
          <a:xfrm>
            <a:off x="6080759" y="1188720"/>
            <a:ext cx="274320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feat_2_circle"/>
          <p:cNvSpPr/>
          <p:nvPr/>
        </p:nvSpPr>
        <p:spPr>
          <a:xfrm>
            <a:off x="6217920" y="132588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feat_2_icon" descr="ban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410" y="1410370"/>
            <a:ext cx="215066" cy="215066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6702551" y="1325880"/>
            <a:ext cx="201168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Bank-record cross-check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1792224"/>
            <a:ext cx="2468880" cy="10881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Statement vs the bank's Account Aggregator feed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Changed amounts, added and missing transactions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Net effect on credits and debits in ₹</a:t>
            </a:r>
          </a:p>
        </p:txBody>
      </p:sp>
      <p:sp>
        <p:nvSpPr>
          <p:cNvPr id="103" name="feat_3"/>
          <p:cNvSpPr/>
          <p:nvPr/>
        </p:nvSpPr>
        <p:spPr>
          <a:xfrm>
            <a:off x="320040" y="3081528"/>
            <a:ext cx="274320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feat_3_circle"/>
          <p:cNvSpPr/>
          <p:nvPr/>
        </p:nvSpPr>
        <p:spPr>
          <a:xfrm>
            <a:off x="457200" y="3218688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feat_3_icon" descr="ring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690" y="3303178"/>
            <a:ext cx="215066" cy="215066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941832" y="3218688"/>
            <a:ext cx="201168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Fraud-ring discovery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7200" y="3685032"/>
            <a:ext cx="2468880" cy="10881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Same file, same template, same salary account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Union-find joins linked applications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Rings page and a finding on every member</a:t>
            </a:r>
          </a:p>
        </p:txBody>
      </p:sp>
      <p:sp>
        <p:nvSpPr>
          <p:cNvPr id="108" name="feat_4"/>
          <p:cNvSpPr/>
          <p:nvPr/>
        </p:nvSpPr>
        <p:spPr>
          <a:xfrm>
            <a:off x="3200400" y="3081528"/>
            <a:ext cx="274320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feat_4_circle"/>
          <p:cNvSpPr/>
          <p:nvPr/>
        </p:nvSpPr>
        <p:spPr>
          <a:xfrm>
            <a:off x="3337560" y="3218688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feat_4_icon" descr="bot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22050" y="3303178"/>
            <a:ext cx="215066" cy="215066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3822191" y="3218688"/>
            <a:ext cx="201168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AI investigator, grounded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337560" y="3685032"/>
            <a:ext cx="2468880" cy="10881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Gemini Pro with tools bound to one case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Every claim cites rows; amounts must trace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Rejected claims shown, never hidden</a:t>
            </a:r>
          </a:p>
        </p:txBody>
      </p:sp>
      <p:sp>
        <p:nvSpPr>
          <p:cNvPr id="113" name="feat_5"/>
          <p:cNvSpPr/>
          <p:nvPr/>
        </p:nvSpPr>
        <p:spPr>
          <a:xfrm>
            <a:off x="6080759" y="3081528"/>
            <a:ext cx="274320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feat_5_circle"/>
          <p:cNvSpPr/>
          <p:nvPr/>
        </p:nvSpPr>
        <p:spPr>
          <a:xfrm>
            <a:off x="6217920" y="3218688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5" name="feat_5_icon" descr="book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2410" y="3303178"/>
            <a:ext cx="215066" cy="215066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6702551" y="3218688"/>
            <a:ext cx="201168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Policy search and review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217920" y="3685032"/>
            <a:ext cx="2468880" cy="10881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Hybrid search: keyword + vector + Gemini rerank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Findings cite the credit-policy clause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Confirm, dismiss, reopen with notes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step_0"/>
          <p:cNvSpPr/>
          <p:nvPr/>
        </p:nvSpPr>
        <p:spPr>
          <a:xfrm>
            <a:off x="320040" y="1234440"/>
            <a:ext cx="1069848" cy="16916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step_0_circle"/>
          <p:cNvSpPr/>
          <p:nvPr/>
        </p:nvSpPr>
        <p:spPr>
          <a:xfrm>
            <a:off x="626364" y="1371600"/>
            <a:ext cx="457200" cy="457200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step_0_icon" descr="uploa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7" y="1472184"/>
            <a:ext cx="256032" cy="256032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374904" y="1901952"/>
            <a:ext cx="96011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1. Ingest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93192" y="2176272"/>
            <a:ext cx="923544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Type from the bytes, SHA-256, PDF metadata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408176" y="2075688"/>
            <a:ext cx="1325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step_1"/>
          <p:cNvSpPr/>
          <p:nvPr/>
        </p:nvSpPr>
        <p:spPr>
          <a:xfrm>
            <a:off x="1559052" y="1234440"/>
            <a:ext cx="1069848" cy="16916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step_1_circle"/>
          <p:cNvSpPr/>
          <p:nvPr/>
        </p:nvSpPr>
        <p:spPr>
          <a:xfrm>
            <a:off x="1865376" y="1371600"/>
            <a:ext cx="457200" cy="45720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step_1_icon" descr="sca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5960" y="1472184"/>
            <a:ext cx="256032" cy="25603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13916" y="1901952"/>
            <a:ext cx="96011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2. Extract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32204" y="2176272"/>
            <a:ext cx="923544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Gemini Flash reads every page in Mumbai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2647188" y="2075688"/>
            <a:ext cx="1325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step_2"/>
          <p:cNvSpPr/>
          <p:nvPr/>
        </p:nvSpPr>
        <p:spPr>
          <a:xfrm>
            <a:off x="2798064" y="1234440"/>
            <a:ext cx="1069848" cy="16916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step_2_circle"/>
          <p:cNvSpPr/>
          <p:nvPr/>
        </p:nvSpPr>
        <p:spPr>
          <a:xfrm>
            <a:off x="3104388" y="1371600"/>
            <a:ext cx="457200" cy="457200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step_2_icon" descr="calc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4972" y="1472184"/>
            <a:ext cx="256032" cy="256032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2852928" y="1901952"/>
            <a:ext cx="96011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3. Check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871216" y="2176272"/>
            <a:ext cx="923544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Nine deterministic checks incl. bank record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3886200" y="2075688"/>
            <a:ext cx="1325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step_3"/>
          <p:cNvSpPr/>
          <p:nvPr/>
        </p:nvSpPr>
        <p:spPr>
          <a:xfrm>
            <a:off x="4037075" y="1234440"/>
            <a:ext cx="1069848" cy="16916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step_3_circle"/>
          <p:cNvSpPr/>
          <p:nvPr/>
        </p:nvSpPr>
        <p:spPr>
          <a:xfrm>
            <a:off x="4343399" y="1371600"/>
            <a:ext cx="457200" cy="457200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step_3_icon" descr="ring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3983" y="1472184"/>
            <a:ext cx="256032" cy="256032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4091939" y="1901952"/>
            <a:ext cx="96011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4. Link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10227" y="2176272"/>
            <a:ext cx="923544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Shared file, template or salary account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5125211" y="2075688"/>
            <a:ext cx="1325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step_4"/>
          <p:cNvSpPr/>
          <p:nvPr/>
        </p:nvSpPr>
        <p:spPr>
          <a:xfrm>
            <a:off x="5276088" y="1234440"/>
            <a:ext cx="1069848" cy="16916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step_4_circle"/>
          <p:cNvSpPr/>
          <p:nvPr/>
        </p:nvSpPr>
        <p:spPr>
          <a:xfrm>
            <a:off x="5582412" y="1371600"/>
            <a:ext cx="457200" cy="45720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step_4_icon" descr="bot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82996" y="1472184"/>
            <a:ext cx="256032" cy="256032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5330951" y="1901952"/>
            <a:ext cx="96011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5. Investigate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349240" y="2176272"/>
            <a:ext cx="923544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Gemini Pro agent, case-scoped tools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364223" y="2075688"/>
            <a:ext cx="132589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step_5"/>
          <p:cNvSpPr/>
          <p:nvPr/>
        </p:nvSpPr>
        <p:spPr>
          <a:xfrm>
            <a:off x="6515100" y="1234440"/>
            <a:ext cx="1069848" cy="16916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step_5_circle"/>
          <p:cNvSpPr/>
          <p:nvPr/>
        </p:nvSpPr>
        <p:spPr>
          <a:xfrm>
            <a:off x="6821424" y="1371600"/>
            <a:ext cx="457200" cy="457200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8" name="step_5_icon" descr="shield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22008" y="1472184"/>
            <a:ext cx="256032" cy="256032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6569964" y="1901952"/>
            <a:ext cx="96011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6. Verify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88252" y="2176272"/>
            <a:ext cx="923544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Claims must cite rows; rupees must trace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7603236" y="2075688"/>
            <a:ext cx="1325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step_6"/>
          <p:cNvSpPr/>
          <p:nvPr/>
        </p:nvSpPr>
        <p:spPr>
          <a:xfrm>
            <a:off x="7754111" y="1234440"/>
            <a:ext cx="1069848" cy="16916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step_6_circle"/>
          <p:cNvSpPr/>
          <p:nvPr/>
        </p:nvSpPr>
        <p:spPr>
          <a:xfrm>
            <a:off x="8060435" y="1371600"/>
            <a:ext cx="457200" cy="457200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step_6_icon" descr="review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61019" y="1472184"/>
            <a:ext cx="256032" cy="256032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808975" y="1901952"/>
            <a:ext cx="96011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7. Review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27263" y="2176272"/>
            <a:ext cx="923544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Officer confirms or dismisses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0040" y="3063239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A73E8"/>
                </a:solidFill>
                <a:latin typeface="Arial"/>
              </a:rPr>
              <a:t>■ </a:t>
            </a:r>
            <a:r>
              <a:rPr sz="950" b="0" i="0">
                <a:solidFill>
                  <a:srgbClr val="5F6368"/>
                </a:solidFill>
                <a:latin typeface="Arial"/>
              </a:rPr>
              <a:t>Gemini on Vertex AI   </a:t>
            </a:r>
            <a:r>
              <a:rPr sz="950" b="0" i="0">
                <a:solidFill>
                  <a:srgbClr val="7A1230"/>
                </a:solidFill>
                <a:latin typeface="Arial"/>
              </a:rPr>
              <a:t>■ </a:t>
            </a:r>
            <a:r>
              <a:rPr sz="950" b="0" i="0">
                <a:solidFill>
                  <a:srgbClr val="5F6368"/>
                </a:solidFill>
                <a:latin typeface="Arial"/>
              </a:rPr>
              <a:t>Deterministic code</a:t>
            </a:r>
          </a:p>
        </p:txBody>
      </p:sp>
      <p:sp>
        <p:nvSpPr>
          <p:cNvPr id="138" name="actor_0"/>
          <p:cNvSpPr/>
          <p:nvPr/>
        </p:nvSpPr>
        <p:spPr>
          <a:xfrm>
            <a:off x="320040" y="342900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actor_0_circle"/>
          <p:cNvSpPr/>
          <p:nvPr/>
        </p:nvSpPr>
        <p:spPr>
          <a:xfrm>
            <a:off x="457200" y="3566160"/>
            <a:ext cx="384048" cy="384048"/>
          </a:xfrm>
          <a:prstGeom prst="ellipse">
            <a:avLst/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actor_0_icon" descr="users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1690" y="3650650"/>
            <a:ext cx="215066" cy="215066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941832" y="3566160"/>
            <a:ext cx="201168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Credit officer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57200" y="4023360"/>
            <a:ext cx="246888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02124"/>
                </a:solidFill>
                <a:latin typeface="Arial"/>
              </a:rPr>
              <a:t>Opens a case, uploads the applicant's documents, reviews each finding with its evidence</a:t>
            </a:r>
          </a:p>
        </p:txBody>
      </p:sp>
      <p:sp>
        <p:nvSpPr>
          <p:cNvPr id="143" name="actor_1"/>
          <p:cNvSpPr/>
          <p:nvPr/>
        </p:nvSpPr>
        <p:spPr>
          <a:xfrm>
            <a:off x="3200400" y="342900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actor_1_circle"/>
          <p:cNvSpPr/>
          <p:nvPr/>
        </p:nvSpPr>
        <p:spPr>
          <a:xfrm>
            <a:off x="3337560" y="3566160"/>
            <a:ext cx="384048" cy="384048"/>
          </a:xfrm>
          <a:prstGeom prst="ellipse">
            <a:avLst/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actor_1_icon" descr="bank_w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22050" y="3650650"/>
            <a:ext cx="215066" cy="215066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3822191" y="3566160"/>
            <a:ext cx="201168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Applicant (MSME)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337560" y="4023360"/>
            <a:ext cx="246888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02124"/>
                </a:solidFill>
                <a:latin typeface="Arial"/>
              </a:rPr>
              <a:t>Shares bank data through Account Aggregator consent; GST, ITR and Udyam are fetched to verify against</a:t>
            </a:r>
          </a:p>
        </p:txBody>
      </p:sp>
      <p:sp>
        <p:nvSpPr>
          <p:cNvPr id="148" name="actor_2"/>
          <p:cNvSpPr/>
          <p:nvPr/>
        </p:nvSpPr>
        <p:spPr>
          <a:xfrm>
            <a:off x="6080759" y="342900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actor_2_circle"/>
          <p:cNvSpPr/>
          <p:nvPr/>
        </p:nvSpPr>
        <p:spPr>
          <a:xfrm>
            <a:off x="6217920" y="3566160"/>
            <a:ext cx="384048" cy="384048"/>
          </a:xfrm>
          <a:prstGeom prst="ellipse">
            <a:avLst/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0" name="actor_2_icon" descr="alert_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02410" y="3650650"/>
            <a:ext cx="215066" cy="215066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6702551" y="3566160"/>
            <a:ext cx="201168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Fraud team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217920" y="4023360"/>
            <a:ext cx="246888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02124"/>
                </a:solidFill>
                <a:latin typeface="Arial"/>
              </a:rPr>
              <a:t>Works the Rings page: linked applications reviewed together before any is decided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 — anatomy of a finding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mock_card"/>
          <p:cNvSpPr/>
          <p:nvPr/>
        </p:nvSpPr>
        <p:spPr>
          <a:xfrm>
            <a:off x="320040" y="1188720"/>
            <a:ext cx="525780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mock_sev"/>
          <p:cNvSpPr/>
          <p:nvPr/>
        </p:nvSpPr>
        <p:spPr>
          <a:xfrm>
            <a:off x="548640" y="1353312"/>
            <a:ext cx="502920" cy="219456"/>
          </a:xfrm>
          <a:prstGeom prst="roundRect">
            <a:avLst>
              <a:gd name="adj" fmla="val 30000"/>
            </a:avLst>
          </a:prstGeom>
          <a:solidFill>
            <a:srgbClr val="C52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548640" y="1353312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HIGH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43000" y="1353312"/>
            <a:ext cx="42062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Tampering   STATEMENT_VS_AA_MISMATCH   Deterministic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8640" y="169164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02124"/>
                </a:solidFill>
                <a:latin typeface="Arial"/>
              </a:rPr>
              <a:t>Statement disagrees with the bank's own record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8640" y="2011680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02124"/>
                </a:solidFill>
                <a:latin typeface="Arial"/>
              </a:rPr>
              <a:t>91 of 93 rows agree with the bank's Account Aggregator record, with 2 amounts changed and 4 transactions left out. Net effect: ₹3,65,800 more in credits and ₹1,30,000 less in debits than the bank recorded.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48640" y="2670048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02124"/>
                </a:solidFill>
                <a:latin typeface="Arial"/>
              </a:rPr>
              <a:t>↳ </a:t>
            </a:r>
            <a:r>
              <a:rPr sz="1000" b="1" i="0">
                <a:solidFill>
                  <a:srgbClr val="202124"/>
                </a:solidFill>
                <a:latin typeface="Arial"/>
              </a:rPr>
              <a:t>Assess the application on the Account Aggregator data and ask the applicant to explain every difference.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48640" y="3291839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7A1230"/>
                </a:solidFill>
                <a:latin typeface="Arial"/>
              </a:rPr>
              <a:t>↗ </a:t>
            </a:r>
            <a:r>
              <a:rPr sz="950" b="0" i="0">
                <a:solidFill>
                  <a:srgbClr val="5F6368"/>
                </a:solidFill>
                <a:latin typeface="Arial"/>
              </a:rPr>
              <a:t>statement.pdf, p. 2 · row 28 — bank recorded ₹1,09,500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48640" y="3602735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7A1230"/>
                </a:solidFill>
                <a:latin typeface="Arial"/>
              </a:rPr>
              <a:t>↗ </a:t>
            </a:r>
            <a:r>
              <a:rPr sz="950" b="0" i="0">
                <a:solidFill>
                  <a:srgbClr val="5F6368"/>
                </a:solidFill>
                <a:latin typeface="Arial"/>
              </a:rPr>
              <a:t>statement.pdf, p. 3 · row 54 — bank recorded ₹73,400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48640" y="3913631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7A1230"/>
                </a:solidFill>
                <a:latin typeface="Arial"/>
              </a:rPr>
              <a:t>↗ </a:t>
            </a:r>
            <a:r>
              <a:rPr sz="950" b="0" i="0">
                <a:solidFill>
                  <a:srgbClr val="5F6368"/>
                </a:solidFill>
                <a:latin typeface="Arial"/>
              </a:rPr>
              <a:t>statement.pdf, p. 1 · 05 Jun NACH EMI ₹32,500 — not on the statement</a:t>
            </a:r>
          </a:p>
        </p:txBody>
      </p:sp>
      <p:sp>
        <p:nvSpPr>
          <p:cNvPr id="114" name="mock_note"/>
          <p:cNvSpPr/>
          <p:nvPr/>
        </p:nvSpPr>
        <p:spPr>
          <a:xfrm>
            <a:off x="548640" y="4343400"/>
            <a:ext cx="3291840" cy="3291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640080" y="4343400"/>
            <a:ext cx="310896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Note for the case file (optional)</a:t>
            </a:r>
          </a:p>
        </p:txBody>
      </p:sp>
      <p:sp>
        <p:nvSpPr>
          <p:cNvPr id="116" name="mock_confirm"/>
          <p:cNvSpPr/>
          <p:nvPr/>
        </p:nvSpPr>
        <p:spPr>
          <a:xfrm>
            <a:off x="3931920" y="4343400"/>
            <a:ext cx="731520" cy="329184"/>
          </a:xfrm>
          <a:prstGeom prst="roundRect">
            <a:avLst>
              <a:gd name="adj" fmla="val 6000"/>
            </a:avLst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3931920" y="4343400"/>
            <a:ext cx="73152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Confirm</a:t>
            </a:r>
          </a:p>
        </p:txBody>
      </p:sp>
      <p:sp>
        <p:nvSpPr>
          <p:cNvPr id="118" name="mock_dismiss"/>
          <p:cNvSpPr/>
          <p:nvPr/>
        </p:nvSpPr>
        <p:spPr>
          <a:xfrm>
            <a:off x="4736592" y="4343400"/>
            <a:ext cx="685800" cy="3291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4736592" y="4343400"/>
            <a:ext cx="68580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02124"/>
                </a:solidFill>
                <a:latin typeface="Arial"/>
              </a:rPr>
              <a:t>Dismiss</a:t>
            </a:r>
          </a:p>
        </p:txBody>
      </p:sp>
      <p:sp>
        <p:nvSpPr>
          <p:cNvPr id="120" name="callout_0"/>
          <p:cNvSpPr/>
          <p:nvPr/>
        </p:nvSpPr>
        <p:spPr>
          <a:xfrm>
            <a:off x="5806440" y="1444752"/>
            <a:ext cx="274320" cy="274320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5806440" y="144475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199632" y="1408176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Severity, category, type and source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199632" y="161848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Deterministic or AI · verified</a:t>
            </a:r>
          </a:p>
        </p:txBody>
      </p:sp>
      <p:cxnSp>
        <p:nvCxnSpPr>
          <p:cNvPr id="124" name="Connector 123"/>
          <p:cNvCxnSpPr/>
          <p:nvPr/>
        </p:nvCxnSpPr>
        <p:spPr>
          <a:xfrm flipH="1">
            <a:off x="5614416" y="1581912"/>
            <a:ext cx="173736" cy="0"/>
          </a:xfrm>
          <a:prstGeom prst="line">
            <a:avLst/>
          </a:prstGeom>
          <a:ln w="12700">
            <a:solidFill>
              <a:srgbClr val="DADCE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callout_1"/>
          <p:cNvSpPr/>
          <p:nvPr/>
        </p:nvSpPr>
        <p:spPr>
          <a:xfrm>
            <a:off x="5806440" y="2039112"/>
            <a:ext cx="274320" cy="274320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5806440" y="20391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199632" y="2002536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What is wrong, in rupees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9632" y="221284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Plain language a credit officer can act on</a:t>
            </a:r>
          </a:p>
        </p:txBody>
      </p:sp>
      <p:cxnSp>
        <p:nvCxnSpPr>
          <p:cNvPr id="129" name="Connector 128"/>
          <p:cNvCxnSpPr/>
          <p:nvPr/>
        </p:nvCxnSpPr>
        <p:spPr>
          <a:xfrm flipH="1">
            <a:off x="5614416" y="2176272"/>
            <a:ext cx="173736" cy="0"/>
          </a:xfrm>
          <a:prstGeom prst="line">
            <a:avLst/>
          </a:prstGeom>
          <a:ln w="12700">
            <a:solidFill>
              <a:srgbClr val="DADCE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callout_2"/>
          <p:cNvSpPr/>
          <p:nvPr/>
        </p:nvSpPr>
        <p:spPr>
          <a:xfrm>
            <a:off x="5806440" y="2688336"/>
            <a:ext cx="274320" cy="274320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5806440" y="268833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199632" y="265176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What to do next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99632" y="286207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Names the policy clause when one applies</a:t>
            </a:r>
          </a:p>
        </p:txBody>
      </p:sp>
      <p:cxnSp>
        <p:nvCxnSpPr>
          <p:cNvPr id="134" name="Connector 133"/>
          <p:cNvCxnSpPr/>
          <p:nvPr/>
        </p:nvCxnSpPr>
        <p:spPr>
          <a:xfrm flipH="1">
            <a:off x="5614416" y="2825496"/>
            <a:ext cx="173736" cy="0"/>
          </a:xfrm>
          <a:prstGeom prst="line">
            <a:avLst/>
          </a:prstGeom>
          <a:ln w="12700">
            <a:solidFill>
              <a:srgbClr val="DADCE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callout_3"/>
          <p:cNvSpPr/>
          <p:nvPr/>
        </p:nvSpPr>
        <p:spPr>
          <a:xfrm>
            <a:off x="5806440" y="3429000"/>
            <a:ext cx="274320" cy="274320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5806440" y="342900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199632" y="3392424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Evidence links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199632" y="360273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Open the document at that page; rows, fields or policy</a:t>
            </a:r>
          </a:p>
        </p:txBody>
      </p:sp>
      <p:cxnSp>
        <p:nvCxnSpPr>
          <p:cNvPr id="139" name="Connector 138"/>
          <p:cNvCxnSpPr/>
          <p:nvPr/>
        </p:nvCxnSpPr>
        <p:spPr>
          <a:xfrm flipH="1">
            <a:off x="5614416" y="3566160"/>
            <a:ext cx="173736" cy="0"/>
          </a:xfrm>
          <a:prstGeom prst="line">
            <a:avLst/>
          </a:prstGeom>
          <a:ln w="12700">
            <a:solidFill>
              <a:srgbClr val="DADCE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callout_4"/>
          <p:cNvSpPr/>
          <p:nvPr/>
        </p:nvSpPr>
        <p:spPr>
          <a:xfrm>
            <a:off x="5806440" y="4462272"/>
            <a:ext cx="274320" cy="274320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580644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199632" y="4425696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Review in one click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199632" y="463600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Confirmed and dismissed findings survive re-runs</a:t>
            </a:r>
          </a:p>
        </p:txBody>
      </p:sp>
      <p:cxnSp>
        <p:nvCxnSpPr>
          <p:cNvPr id="144" name="Connector 143"/>
          <p:cNvCxnSpPr/>
          <p:nvPr/>
        </p:nvCxnSpPr>
        <p:spPr>
          <a:xfrm flipH="1">
            <a:off x="5614416" y="4599432"/>
            <a:ext cx="173736" cy="0"/>
          </a:xfrm>
          <a:prstGeom prst="line">
            <a:avLst/>
          </a:prstGeom>
          <a:ln w="12700">
            <a:solidFill>
              <a:srgbClr val="DADCE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arch_user_0"/>
          <p:cNvSpPr/>
          <p:nvPr/>
        </p:nvSpPr>
        <p:spPr>
          <a:xfrm>
            <a:off x="320040" y="1188720"/>
            <a:ext cx="274320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411479" y="1225296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Credit officer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11479" y="1444752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Bank portal: Cases · Rings · Customer 360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1691640" y="1709928"/>
            <a:ext cx="0" cy="192024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arch_user_1"/>
          <p:cNvSpPr/>
          <p:nvPr/>
        </p:nvSpPr>
        <p:spPr>
          <a:xfrm>
            <a:off x="3200400" y="1188720"/>
            <a:ext cx="274320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3291840" y="1225296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Applicant (MSME)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291840" y="1444752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Onboarding · Account Aggregator consent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4572000" y="1709928"/>
            <a:ext cx="0" cy="192024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arch_user_2"/>
          <p:cNvSpPr/>
          <p:nvPr/>
        </p:nvSpPr>
        <p:spPr>
          <a:xfrm>
            <a:off x="6080759" y="1188720"/>
            <a:ext cx="274320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6172199" y="1225296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Source systems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172199" y="1444752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AA, GST, ITR, Udyam, MCA → ingest API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7452359" y="1709928"/>
            <a:ext cx="0" cy="192024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arch_run"/>
          <p:cNvSpPr/>
          <p:nvPr/>
        </p:nvSpPr>
        <p:spPr>
          <a:xfrm>
            <a:off x="320040" y="1920240"/>
            <a:ext cx="8503920" cy="16002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457200" y="1975104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Arial"/>
              </a:rPr>
              <a:t>Cloud Run · asia-south1 (Mumbai) — </a:t>
            </a:r>
            <a:r>
              <a:rPr sz="1000" b="0" i="0">
                <a:solidFill>
                  <a:srgbClr val="202124"/>
                </a:solidFill>
                <a:latin typeface="Arial"/>
              </a:rPr>
              <a:t>ASP.NET Core 8, one warm instance, built from source by buildpacks</a:t>
            </a:r>
          </a:p>
        </p:txBody>
      </p:sp>
      <p:sp>
        <p:nvSpPr>
          <p:cNvPr id="126" name="arch_mod_0"/>
          <p:cNvSpPr/>
          <p:nvPr/>
        </p:nvSpPr>
        <p:spPr>
          <a:xfrm>
            <a:off x="457200" y="2267712"/>
            <a:ext cx="1295400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512064" y="2322576"/>
            <a:ext cx="1185672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Arial"/>
              </a:rPr>
              <a:t>Web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12064" y="2724912"/>
            <a:ext cx="1185672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Cases, Rings, review; source-data ingest API</a:t>
            </a:r>
          </a:p>
        </p:txBody>
      </p:sp>
      <p:sp>
        <p:nvSpPr>
          <p:cNvPr id="129" name="arch_mod_1"/>
          <p:cNvSpPr/>
          <p:nvPr/>
        </p:nvSpPr>
        <p:spPr>
          <a:xfrm>
            <a:off x="1844040" y="2267712"/>
            <a:ext cx="1295400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1898904" y="2322576"/>
            <a:ext cx="1185672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Arial"/>
              </a:rPr>
              <a:t>Extractor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98904" y="2724912"/>
            <a:ext cx="1185672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Page-parallel reading, re-read on failure</a:t>
            </a:r>
          </a:p>
        </p:txBody>
      </p:sp>
      <p:sp>
        <p:nvSpPr>
          <p:cNvPr id="132" name="arch_mod_2"/>
          <p:cNvSpPr/>
          <p:nvPr/>
        </p:nvSpPr>
        <p:spPr>
          <a:xfrm>
            <a:off x="3230880" y="2267712"/>
            <a:ext cx="1295400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3285744" y="2322576"/>
            <a:ext cx="1185672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Arial"/>
              </a:rPr>
              <a:t>Checks + network lens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285744" y="2724912"/>
            <a:ext cx="1185672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Nine checks; rings by union-find</a:t>
            </a:r>
          </a:p>
        </p:txBody>
      </p:sp>
      <p:sp>
        <p:nvSpPr>
          <p:cNvPr id="135" name="arch_mod_3"/>
          <p:cNvSpPr/>
          <p:nvPr/>
        </p:nvSpPr>
        <p:spPr>
          <a:xfrm>
            <a:off x="4617720" y="2267712"/>
            <a:ext cx="1295400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4672584" y="2322576"/>
            <a:ext cx="1185672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Arial"/>
              </a:rPr>
              <a:t>Investigator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672584" y="2724912"/>
            <a:ext cx="1185672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Function calling, 8-turn cap, case-scoped</a:t>
            </a:r>
          </a:p>
        </p:txBody>
      </p:sp>
      <p:sp>
        <p:nvSpPr>
          <p:cNvPr id="138" name="arch_mod_4"/>
          <p:cNvSpPr/>
          <p:nvPr/>
        </p:nvSpPr>
        <p:spPr>
          <a:xfrm>
            <a:off x="6004560" y="2267712"/>
            <a:ext cx="1295400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6059424" y="2322576"/>
            <a:ext cx="1185672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Arial"/>
              </a:rPr>
              <a:t>Grounding verifier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59424" y="2724912"/>
            <a:ext cx="1185672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Rows must exist; amounts must trace</a:t>
            </a:r>
          </a:p>
        </p:txBody>
      </p:sp>
      <p:sp>
        <p:nvSpPr>
          <p:cNvPr id="141" name="arch_mod_5"/>
          <p:cNvSpPr/>
          <p:nvPr/>
        </p:nvSpPr>
        <p:spPr>
          <a:xfrm>
            <a:off x="7391400" y="2267712"/>
            <a:ext cx="1295400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7446264" y="2322576"/>
            <a:ext cx="1185672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Arial"/>
              </a:rPr>
              <a:t>Knowledge (RAG)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46264" y="2724912"/>
            <a:ext cx="1185672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tsvector + HNSW, RRF, rerank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1691640" y="3538728"/>
            <a:ext cx="0" cy="210311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arch_svc_0"/>
          <p:cNvSpPr/>
          <p:nvPr/>
        </p:nvSpPr>
        <p:spPr>
          <a:xfrm>
            <a:off x="320040" y="3767328"/>
            <a:ext cx="2743200" cy="109728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arch_svc_0_circle"/>
          <p:cNvSpPr/>
          <p:nvPr/>
        </p:nvSpPr>
        <p:spPr>
          <a:xfrm>
            <a:off x="429768" y="38862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7" name="arch_svc_0_icon" descr="spar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235" y="3966667"/>
            <a:ext cx="204825" cy="204825"/>
          </a:xfrm>
          <a:prstGeom prst="rect">
            <a:avLst/>
          </a:prstGeom>
        </p:spPr>
      </p:pic>
      <p:sp>
        <p:nvSpPr>
          <p:cNvPr id="148" name="TextBox 147"/>
          <p:cNvSpPr txBox="1"/>
          <p:nvPr/>
        </p:nvSpPr>
        <p:spPr>
          <a:xfrm>
            <a:off x="886968" y="38862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Vertex AI · Gemini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57200" y="431596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02124"/>
                </a:solidFill>
                <a:latin typeface="Arial"/>
              </a:rPr>
              <a:t>Mumbai: </a:t>
            </a:r>
            <a:r>
              <a:rPr sz="950" b="0" i="0">
                <a:solidFill>
                  <a:srgbClr val="202124"/>
                </a:solidFill>
                <a:latin typeface="Arial"/>
              </a:rPr>
              <a:t>Flash extraction, embeddings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02124"/>
                </a:solidFill>
                <a:latin typeface="Arial"/>
              </a:rPr>
              <a:t>global: </a:t>
            </a:r>
            <a:r>
              <a:rPr sz="950" b="0" i="0">
                <a:solidFill>
                  <a:srgbClr val="202124"/>
                </a:solidFill>
                <a:latin typeface="Arial"/>
              </a:rPr>
              <a:t>Pro investigator, Flash rerank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4572000" y="3538728"/>
            <a:ext cx="0" cy="210311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arch_svc_1"/>
          <p:cNvSpPr/>
          <p:nvPr/>
        </p:nvSpPr>
        <p:spPr>
          <a:xfrm>
            <a:off x="3200400" y="3767328"/>
            <a:ext cx="2743200" cy="109728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arch_svc_1_circle"/>
          <p:cNvSpPr/>
          <p:nvPr/>
        </p:nvSpPr>
        <p:spPr>
          <a:xfrm>
            <a:off x="3310128" y="38862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arch_svc_1_icon" descr="db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0595" y="3966667"/>
            <a:ext cx="204825" cy="204825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3767328" y="38862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Cloud SQL · PostgreSQL 16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337560" y="431596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02124"/>
                </a:solidFill>
                <a:latin typeface="Arial"/>
              </a:rPr>
              <a:t>pgvector + full-text: </a:t>
            </a:r>
            <a:r>
              <a:rPr sz="950" b="0" i="0">
                <a:solidFill>
                  <a:srgbClr val="202124"/>
                </a:solidFill>
                <a:latin typeface="Arial"/>
              </a:rPr>
              <a:t>cases, findings,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202124"/>
                </a:solidFill>
                <a:latin typeface="Arial"/>
              </a:rPr>
              <a:t>evidence, knowledge chunks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7452359" y="3538728"/>
            <a:ext cx="0" cy="210311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arch_svc_2"/>
          <p:cNvSpPr/>
          <p:nvPr/>
        </p:nvSpPr>
        <p:spPr>
          <a:xfrm>
            <a:off x="6080759" y="3767328"/>
            <a:ext cx="2743200" cy="109728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arch_svc_2_circle"/>
          <p:cNvSpPr/>
          <p:nvPr/>
        </p:nvSpPr>
        <p:spPr>
          <a:xfrm>
            <a:off x="6190488" y="38862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arch_svc_2_icon" descr="clou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0955" y="3966667"/>
            <a:ext cx="204825" cy="204825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6647688" y="38862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Cloud Storage · Mumbai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217920" y="431596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02124"/>
                </a:solidFill>
                <a:latin typeface="Arial"/>
              </a:rPr>
              <a:t>cases: </a:t>
            </a:r>
            <a:r>
              <a:rPr sz="950" b="0" i="0">
                <a:solidFill>
                  <a:srgbClr val="202124"/>
                </a:solidFill>
                <a:latin typeface="Arial"/>
              </a:rPr>
              <a:t>uploads · </a:t>
            </a:r>
            <a:r>
              <a:rPr sz="950" b="1" i="0">
                <a:solidFill>
                  <a:srgbClr val="202124"/>
                </a:solidFill>
                <a:latin typeface="Arial"/>
              </a:rPr>
              <a:t>sources: </a:t>
            </a:r>
            <a:r>
              <a:rPr sz="950" b="0" i="0">
                <a:solidFill>
                  <a:srgbClr val="202124"/>
                </a:solidFill>
                <a:latin typeface="Arial"/>
              </a:rPr>
              <a:t>AA, GST, ITR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02124"/>
                </a:solidFill>
                <a:latin typeface="Arial"/>
              </a:rPr>
              <a:t>keys: </a:t>
            </a:r>
            <a:r>
              <a:rPr sz="950" b="0" i="0">
                <a:solidFill>
                  <a:srgbClr val="202124"/>
                </a:solidFill>
                <a:latin typeface="Arial"/>
              </a:rPr>
              <a:t>sign-in keys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ch_0"/>
          <p:cNvSpPr/>
          <p:nvPr/>
        </p:nvSpPr>
        <p:spPr>
          <a:xfrm>
            <a:off x="320040" y="118872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ch_0_circle"/>
          <p:cNvSpPr/>
          <p:nvPr/>
        </p:nvSpPr>
        <p:spPr>
          <a:xfrm>
            <a:off x="457200" y="1325880"/>
            <a:ext cx="384048" cy="38404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tech_0_icon" descr="clou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690" y="1410370"/>
            <a:ext cx="215066" cy="215066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941832" y="1325880"/>
            <a:ext cx="347472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Google Cloud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57200" y="1792224"/>
            <a:ext cx="3931920" cy="10881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Vertex AI — Gemini 3.5 Flash (extraction), Gemini 3.1 Pro (investigator), Gemini 3.8 Flash (rerank), gemini-embedding-001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Cloud Run (buildpacks, no Dockerfile) · Cloud Build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Cloud SQL for PostgreSQL 16 + pgvector · Cloud Storage</a:t>
            </a:r>
          </a:p>
        </p:txBody>
      </p:sp>
      <p:sp>
        <p:nvSpPr>
          <p:cNvPr id="125" name="tech_1"/>
          <p:cNvSpPr/>
          <p:nvPr/>
        </p:nvSpPr>
        <p:spPr>
          <a:xfrm>
            <a:off x="4617720" y="118872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ch_1_circle"/>
          <p:cNvSpPr/>
          <p:nvPr/>
        </p:nvSpPr>
        <p:spPr>
          <a:xfrm>
            <a:off x="4754880" y="1325880"/>
            <a:ext cx="384048" cy="38404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tech_1_icon" descr="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9370" y="1410370"/>
            <a:ext cx="215066" cy="215066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5239512" y="1325880"/>
            <a:ext cx="347472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AI techniques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754880" y="1792224"/>
            <a:ext cx="3931920" cy="10881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Multimodal structured output: PDF and image to a fixed schema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Function-calling agent with tools bound server-side to one case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Grounding verifier · hybrid RAG: full-text + HNSW vectors, reciprocal rank fusion, LLM rerank</a:t>
            </a:r>
          </a:p>
        </p:txBody>
      </p:sp>
      <p:sp>
        <p:nvSpPr>
          <p:cNvPr id="130" name="tech_2"/>
          <p:cNvSpPr/>
          <p:nvPr/>
        </p:nvSpPr>
        <p:spPr>
          <a:xfrm>
            <a:off x="320040" y="3081528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ch_2_circle"/>
          <p:cNvSpPr/>
          <p:nvPr/>
        </p:nvSpPr>
        <p:spPr>
          <a:xfrm>
            <a:off x="457200" y="3218688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2" name="tech_2_icon" descr="server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690" y="3303178"/>
            <a:ext cx="215066" cy="215066"/>
          </a:xfrm>
          <a:prstGeom prst="rect">
            <a:avLst/>
          </a:prstGeom>
        </p:spPr>
      </p:pic>
      <p:sp>
        <p:nvSpPr>
          <p:cNvPr id="133" name="TextBox 132"/>
          <p:cNvSpPr txBox="1"/>
          <p:nvPr/>
        </p:nvSpPr>
        <p:spPr>
          <a:xfrm>
            <a:off x="941832" y="3218688"/>
            <a:ext cx="347472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Application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57200" y="3685032"/>
            <a:ext cx="3931920" cy="10881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.NET 8 · ASP.NET Core MVC · Razor + Bootstrap 5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EF Core 8 + Npgsql · Autofac · Serilog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PdfPig (PDF metadata and page split) · background worker on Channel&lt;T&gt;</a:t>
            </a:r>
          </a:p>
        </p:txBody>
      </p:sp>
      <p:sp>
        <p:nvSpPr>
          <p:cNvPr id="135" name="tech_3"/>
          <p:cNvSpPr/>
          <p:nvPr/>
        </p:nvSpPr>
        <p:spPr>
          <a:xfrm>
            <a:off x="4617720" y="3081528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ch_3_circle"/>
          <p:cNvSpPr/>
          <p:nvPr/>
        </p:nvSpPr>
        <p:spPr>
          <a:xfrm>
            <a:off x="4754880" y="3218688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tech_3_icon" descr="shield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9370" y="3303178"/>
            <a:ext cx="215066" cy="215066"/>
          </a:xfrm>
          <a:prstGeom prst="rect">
            <a:avLst/>
          </a:prstGeom>
        </p:spPr>
      </p:pic>
      <p:sp>
        <p:nvSpPr>
          <p:cNvPr id="138" name="TextBox 137"/>
          <p:cNvSpPr txBox="1"/>
          <p:nvPr/>
        </p:nvSpPr>
        <p:spPr>
          <a:xfrm>
            <a:off x="5239512" y="3218688"/>
            <a:ext cx="347472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Data, quality and trust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754880" y="3685032"/>
            <a:ext cx="3931920" cy="10881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Account Aggregator (Finvu) · GST · ITR · Udyam · MCA as sources of truth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QuestPDF synthetic cases with ground truth · 63 xUnit tests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Secrets outside the public repo · encrypted DB connections only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cost_once"/>
          <p:cNvSpPr/>
          <p:nvPr/>
        </p:nvSpPr>
        <p:spPr>
          <a:xfrm>
            <a:off x="320040" y="118872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429768" y="1280160"/>
            <a:ext cx="247802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7A1230"/>
                </a:solidFill>
                <a:latin typeface="Arial"/>
              </a:rPr>
              <a:t>₹ 18 L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29768" y="1755648"/>
            <a:ext cx="2478024" cy="2926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One-time — production hardening, security and compliance audit</a:t>
            </a:r>
          </a:p>
        </p:txBody>
      </p:sp>
      <p:sp>
        <p:nvSpPr>
          <p:cNvPr id="131" name="cost_year"/>
          <p:cNvSpPr/>
          <p:nvPr/>
        </p:nvSpPr>
        <p:spPr>
          <a:xfrm>
            <a:off x="3218688" y="118872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3328416" y="1280160"/>
            <a:ext cx="247802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7A1230"/>
                </a:solidFill>
                <a:latin typeface="Arial"/>
              </a:rPr>
              <a:t>₹ 32 L / yr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328416" y="1755648"/>
            <a:ext cx="2478024" cy="2926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Recurring — Google Cloud, Gemini usage, data access, support</a:t>
            </a:r>
          </a:p>
        </p:txBody>
      </p:sp>
      <p:sp>
        <p:nvSpPr>
          <p:cNvPr id="134" name="cost_tco"/>
          <p:cNvSpPr/>
          <p:nvPr/>
        </p:nvSpPr>
        <p:spPr>
          <a:xfrm>
            <a:off x="6126479" y="118872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6236207" y="1280160"/>
            <a:ext cx="247802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7A1230"/>
                </a:solidFill>
                <a:latin typeface="Arial"/>
              </a:rPr>
              <a:t>~ ₹ 1.14 Cr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36207" y="1755648"/>
            <a:ext cx="2478024" cy="2926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3-year total cost of ownership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0040" y="2221991"/>
            <a:ext cx="85039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7A1230"/>
                </a:solidFill>
                <a:latin typeface="Arial"/>
              </a:rPr>
              <a:t>Estimate</a:t>
            </a:r>
            <a:r>
              <a:rPr sz="1000" b="0" i="0">
                <a:solidFill>
                  <a:srgbClr val="5F6368"/>
                </a:solidFill>
                <a:latin typeface="Arial"/>
              </a:rPr>
              <a:t> for one lender, about 1 lakh applications a year, on Google Cloud in Mumbai</a:t>
            </a:r>
          </a:p>
        </p:txBody>
      </p:sp>
      <p:graphicFrame>
        <p:nvGraphicFramePr>
          <p:cNvPr id="138" name="cost_table"/>
          <p:cNvGraphicFramePr>
            <a:graphicFrameLocks noGrp="1"/>
          </p:cNvGraphicFramePr>
          <p:nvPr/>
        </p:nvGraphicFramePr>
        <p:xfrm>
          <a:off x="320040" y="2514600"/>
          <a:ext cx="8503920" cy="2304288"/>
        </p:xfrm>
        <a:graphic>
          <a:graphicData uri="http://schemas.openxmlformats.org/drawingml/2006/table">
            <a:tbl>
              <a:tblPr firstRow="1" bandRow="0"/>
              <a:tblGrid>
                <a:gridCol w="5120640"/>
                <a:gridCol w="1280160"/>
                <a:gridCol w="21031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Cost head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Estimate (INR)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20212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Production hardening — 3-member team, about 4 months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One-time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₹ 14 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Security testing and RBI / DPDP compliance audit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One-time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₹ 4 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Google Cloud — Cloud Run (HA), Cloud SQL (HA), Cloud Storage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Annual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₹ 8 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Vertex AI — Gemini extraction, investigation and embeddings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Annual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₹ 6 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Data access — Account Aggregator and registry APIs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Annual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₹ 10 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Maintenance, support and model re-evaluation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Annual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₹ 8 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20040" y="1371600"/>
            <a:ext cx="4160520" cy="2468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02124"/>
                </a:solidFill>
                <a:latin typeface="Arial"/>
              </a:rPr>
              <a:t>Home page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0040" y="1609344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What FinRiskLens does, with a real finding</a:t>
            </a:r>
          </a:p>
        </p:txBody>
      </p:sp>
      <p:pic>
        <p:nvPicPr>
          <p:cNvPr id="138" name="snap_home" descr="h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920240"/>
            <a:ext cx="4160520" cy="2869145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63440" y="1371600"/>
            <a:ext cx="4160520" cy="2468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02124"/>
                </a:solidFill>
                <a:latin typeface="Arial"/>
              </a:rPr>
              <a:t>Opening a case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663440" y="1609344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Application details, Udyam number and the documents</a:t>
            </a:r>
          </a:p>
        </p:txBody>
      </p:sp>
      <p:pic>
        <p:nvPicPr>
          <p:cNvPr id="141" name="snap_new_case" descr="new_c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920240"/>
            <a:ext cx="4160520" cy="2452572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20040" y="1371600"/>
            <a:ext cx="4160520" cy="2468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02124"/>
                </a:solidFill>
                <a:latin typeface="Arial"/>
              </a:rPr>
              <a:t>Statement vs the bank's own record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0040" y="1609344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A forgery that passes every arithmetic check</a:t>
            </a:r>
          </a:p>
        </p:txBody>
      </p:sp>
      <p:pic>
        <p:nvPicPr>
          <p:cNvPr id="138" name="snap_t04_aa" descr="t04_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920240"/>
            <a:ext cx="4160520" cy="2418302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63440" y="1371600"/>
            <a:ext cx="4160520" cy="2468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02124"/>
                </a:solidFill>
                <a:latin typeface="Arial"/>
              </a:rPr>
              <a:t>The document's own arithmetic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663440" y="1609344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A balance break and page totals that disagree</a:t>
            </a:r>
          </a:p>
        </p:txBody>
      </p:sp>
      <p:pic>
        <p:nvPicPr>
          <p:cNvPr id="141" name="snap_t01_tamper" descr="t01_tamp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1920240"/>
            <a:ext cx="4160520" cy="2418302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20040" y="1371600"/>
            <a:ext cx="4160520" cy="2468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02124"/>
                </a:solidFill>
                <a:latin typeface="Arial"/>
              </a:rPr>
              <a:t>AI investigator, grounded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0040" y="1609344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Undeclared EMIs and loan stacking, cited to rows and policy</a:t>
            </a:r>
          </a:p>
        </p:txBody>
      </p:sp>
      <p:pic>
        <p:nvPicPr>
          <p:cNvPr id="138" name="snap_a01_ai" descr="a01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920240"/>
            <a:ext cx="4160520" cy="2418302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63440" y="1371600"/>
            <a:ext cx="4160520" cy="2468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02124"/>
                </a:solidFill>
                <a:latin typeface="Arial"/>
              </a:rPr>
              <a:t>Verification sources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663440" y="1609344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Udyam, GST, Account Aggregator, ITR and MCA per MSME</a:t>
            </a:r>
          </a:p>
        </p:txBody>
      </p:sp>
      <p:pic>
        <p:nvPicPr>
          <p:cNvPr id="141" name="snap_customer360" descr="customer3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1920240"/>
            <a:ext cx="4160520" cy="24005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20040" y="1371600"/>
            <a:ext cx="4160520" cy="2468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02124"/>
                </a:solidFill>
                <a:latin typeface="Arial"/>
              </a:rPr>
              <a:t>Rings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0040" y="1609344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One template claiming five issuers; one salary account</a:t>
            </a:r>
          </a:p>
        </p:txBody>
      </p:sp>
      <p:pic>
        <p:nvPicPr>
          <p:cNvPr id="138" name="snap_rings" descr="r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920240"/>
            <a:ext cx="4160520" cy="2452572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63440" y="1371600"/>
            <a:ext cx="4160520" cy="2468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02124"/>
                </a:solidFill>
                <a:latin typeface="Arial"/>
              </a:rPr>
              <a:t>The ring finding on each member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663440" y="1609344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Its own documents and salary rows as evidence</a:t>
            </a:r>
          </a:p>
        </p:txBody>
      </p:sp>
      <p:pic>
        <p:nvPicPr>
          <p:cNvPr id="141" name="snap_r01_ring" descr="r01_r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1920240"/>
            <a:ext cx="4160520" cy="2418302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perf_0"/>
          <p:cNvSpPr/>
          <p:nvPr/>
        </p:nvSpPr>
        <p:spPr>
          <a:xfrm>
            <a:off x="320040" y="1188720"/>
            <a:ext cx="2011680" cy="102412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429768" y="1280160"/>
            <a:ext cx="179222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7A1230"/>
                </a:solidFill>
                <a:latin typeface="Arial"/>
              </a:rPr>
              <a:t>99.8–100%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29768" y="1755648"/>
            <a:ext cx="1792224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of 1,298 statement rows read exactly — two live runs</a:t>
            </a:r>
          </a:p>
        </p:txBody>
      </p:sp>
      <p:sp>
        <p:nvSpPr>
          <p:cNvPr id="147" name="perf_1"/>
          <p:cNvSpPr/>
          <p:nvPr/>
        </p:nvSpPr>
        <p:spPr>
          <a:xfrm>
            <a:off x="2487168" y="1188720"/>
            <a:ext cx="2011680" cy="102412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2596896" y="1280160"/>
            <a:ext cx="179222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7A1230"/>
                </a:solidFill>
                <a:latin typeface="Arial"/>
              </a:rPr>
              <a:t>20 / 20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96896" y="1755648"/>
            <a:ext cx="1792224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demo cases raise exactly their expected findings</a:t>
            </a:r>
          </a:p>
        </p:txBody>
      </p:sp>
      <p:sp>
        <p:nvSpPr>
          <p:cNvPr id="150" name="perf_2"/>
          <p:cNvSpPr/>
          <p:nvPr/>
        </p:nvSpPr>
        <p:spPr>
          <a:xfrm>
            <a:off x="4654296" y="1188720"/>
            <a:ext cx="2011680" cy="102412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4764024" y="1280160"/>
            <a:ext cx="179222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1E8E3E"/>
                </a:solidFill>
                <a:latin typeface="Arial"/>
              </a:rP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764024" y="1755648"/>
            <a:ext cx="1792224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false alarms on genuine applicants — checks and AI</a:t>
            </a:r>
          </a:p>
        </p:txBody>
      </p:sp>
      <p:sp>
        <p:nvSpPr>
          <p:cNvPr id="153" name="perf_3"/>
          <p:cNvSpPr/>
          <p:nvPr/>
        </p:nvSpPr>
        <p:spPr>
          <a:xfrm>
            <a:off x="6821424" y="1188720"/>
            <a:ext cx="2011680" cy="102412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6931152" y="1280160"/>
            <a:ext cx="179222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7A1230"/>
                </a:solidFill>
                <a:latin typeface="Arial"/>
              </a:rPr>
              <a:t>5 / 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31152" y="1755648"/>
            <a:ext cx="1792224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expected AI findings found by the investigator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20040" y="2331720"/>
            <a:ext cx="85039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7A1230"/>
                </a:solidFill>
                <a:latin typeface="Arial"/>
              </a:rPr>
              <a:t>How it is measured: </a:t>
            </a:r>
            <a:r>
              <a:rPr sz="1000" b="0" i="0">
                <a:solidFill>
                  <a:srgbClr val="5F6368"/>
                </a:solidFill>
                <a:latin typeface="Arial"/>
              </a:rPr>
              <a:t>synthetic documents with known ground truth, read by live Gemini, scored row by row, checks run on Gemini's own reading</a:t>
            </a:r>
          </a:p>
        </p:txBody>
      </p:sp>
      <p:graphicFrame>
        <p:nvGraphicFramePr>
          <p:cNvPr id="157" name="bench_table"/>
          <p:cNvGraphicFramePr>
            <a:graphicFrameLocks noGrp="1"/>
          </p:cNvGraphicFramePr>
          <p:nvPr/>
        </p:nvGraphicFramePr>
        <p:xfrm>
          <a:off x="320040" y="2633472"/>
          <a:ext cx="8503920" cy="2112264"/>
        </p:xfrm>
        <a:graphic>
          <a:graphicData uri="http://schemas.openxmlformats.org/drawingml/2006/table">
            <a:tbl>
              <a:tblPr firstRow="1" bandRow="0"/>
              <a:tblGrid>
                <a:gridCol w="2148840"/>
                <a:gridCol w="2743200"/>
                <a:gridCol w="3611880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Check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Manual review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FinRiskLens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2021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Statement arithmetic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Spot-checked by eye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Every row and page: balance, carry-over, totals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Statement vs bank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Ask for a bank-certified copy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Automatic when Account Aggregator is linked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Edited files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Rarely examined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Producer, creator and edit dates read on upload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Links across applications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One application at a time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Shared file, template or salary account → rings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AI reliability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Every claim cites rows; rejected claims shown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Analyst time per file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10–60 s per statement · 12–43 s per investigation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fut_0"/>
          <p:cNvSpPr/>
          <p:nvPr/>
        </p:nvSpPr>
        <p:spPr>
          <a:xfrm>
            <a:off x="320040" y="118872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fut_0_circle"/>
          <p:cNvSpPr/>
          <p:nvPr/>
        </p:nvSpPr>
        <p:spPr>
          <a:xfrm>
            <a:off x="457200" y="132588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fut_0_icon" descr="fing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690" y="1410370"/>
            <a:ext cx="215066" cy="215066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941832" y="1325880"/>
            <a:ext cx="347472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Registry cross-checks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57200" y="1792224"/>
            <a:ext cx="3931920" cy="10881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Arial"/>
              </a:rPr>
              <a:t>Uploaded ITR against the filed return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Arial"/>
              </a:rPr>
              <a:t>Claimed employer against the MCA register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Arial"/>
              </a:rPr>
              <a:t>Edge cases: password-protected and scanned statements</a:t>
            </a:r>
          </a:p>
        </p:txBody>
      </p:sp>
      <p:sp>
        <p:nvSpPr>
          <p:cNvPr id="157" name="fut_1"/>
          <p:cNvSpPr/>
          <p:nvPr/>
        </p:nvSpPr>
        <p:spPr>
          <a:xfrm>
            <a:off x="4617720" y="118872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fut_1_circle"/>
          <p:cNvSpPr/>
          <p:nvPr/>
        </p:nvSpPr>
        <p:spPr>
          <a:xfrm>
            <a:off x="4754880" y="132588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fut_1_icon" descr="search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9370" y="1410370"/>
            <a:ext cx="215066" cy="215066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5239512" y="1325880"/>
            <a:ext cx="347472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Evidence highlighting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754880" y="1792224"/>
            <a:ext cx="3931920" cy="10881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Arial"/>
              </a:rPr>
              <a:t>Highlight the exact row on the PDF page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Arial"/>
              </a:rPr>
              <a:t>Bounding boxes already in the extraction contract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Arial"/>
              </a:rPr>
              <a:t>Side-by-side PDF and bank record view</a:t>
            </a:r>
          </a:p>
        </p:txBody>
      </p:sp>
      <p:sp>
        <p:nvSpPr>
          <p:cNvPr id="162" name="fut_2"/>
          <p:cNvSpPr/>
          <p:nvPr/>
        </p:nvSpPr>
        <p:spPr>
          <a:xfrm>
            <a:off x="320040" y="3081528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fut_2_circle"/>
          <p:cNvSpPr/>
          <p:nvPr/>
        </p:nvSpPr>
        <p:spPr>
          <a:xfrm>
            <a:off x="457200" y="3218688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fut_2_icon" descr="boo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690" y="3303178"/>
            <a:ext cx="215066" cy="215066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941832" y="3218688"/>
            <a:ext cx="347472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Case memory and policy Q&amp;A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3685032"/>
            <a:ext cx="3931920" cy="10881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Arial"/>
              </a:rPr>
              <a:t>Confirmed findings feed the knowledge base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Arial"/>
              </a:rPr>
              <a:t>Policy questions answered with citations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Arial"/>
              </a:rPr>
              <a:t>Refusal when the policy is silent</a:t>
            </a:r>
          </a:p>
        </p:txBody>
      </p:sp>
      <p:sp>
        <p:nvSpPr>
          <p:cNvPr id="167" name="fut_3"/>
          <p:cNvSpPr/>
          <p:nvPr/>
        </p:nvSpPr>
        <p:spPr>
          <a:xfrm>
            <a:off x="4617720" y="3081528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fut_3_circle"/>
          <p:cNvSpPr/>
          <p:nvPr/>
        </p:nvSpPr>
        <p:spPr>
          <a:xfrm>
            <a:off x="4754880" y="3218688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fut_3_icon" descr="layer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9370" y="3303178"/>
            <a:ext cx="215066" cy="215066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5239512" y="3218688"/>
            <a:ext cx="347472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Scale and integration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754880" y="3685032"/>
            <a:ext cx="3931920" cy="10881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Arial"/>
              </a:rPr>
              <a:t>Entity link tables for portfolio-scale rings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Arial"/>
              </a:rPr>
              <a:t>Findings pushed to the LOS with the loan case</a:t>
            </a:r>
          </a:p>
          <a:p>
            <a:pPr algn="l" marL="146304" indent="-146304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Arial"/>
              </a:rPr>
              <a:t>Per-lender policies and thresholds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</a:t>
            </a:r>
            <a:r>
              <a:rPr>
                <a:hlinkClick r:id="rId5"/>
              </a:rPr>
              <a:t>https://github.com/abhinavmukwane/FinRiskLensAI-RAG-V2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</a:t>
            </a:r>
            <a:r>
              <a:rPr b="1">
                <a:solidFill>
                  <a:srgbClr val="B06000"/>
                </a:solidFill>
              </a:rPr>
              <a:t>add the link after uploading the video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</a:t>
            </a:r>
            <a:r>
              <a:rPr>
                <a:hlinkClick r:id="rId6"/>
              </a:rPr>
              <a:t>https://finrisklensai.cloud.run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access_box"/>
          <p:cNvSpPr/>
          <p:nvPr/>
        </p:nvSpPr>
        <p:spPr>
          <a:xfrm>
            <a:off x="320040" y="2423160"/>
            <a:ext cx="8503920" cy="8686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access_circle"/>
          <p:cNvSpPr/>
          <p:nvPr/>
        </p:nvSpPr>
        <p:spPr>
          <a:xfrm>
            <a:off x="457200" y="256032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2" name="access_icon" descr="lo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690" y="2644810"/>
            <a:ext cx="215066" cy="215066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960119" y="2514600"/>
            <a:ext cx="77266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For the evaluation panel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124"/>
                </a:solidFill>
                <a:latin typeface="Arial"/>
              </a:rPr>
              <a:t>Bank portal: https://finrisklensai.cloud.run/Auth/BankLogin — credentials are shared with the panel directly.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F6368"/>
                </a:solidFill>
                <a:latin typeface="Arial"/>
              </a:rPr>
              <a:t>Every case on the live site is synthetic: fictional banks, employers and applicants, each page stamped SYNTHETIC.</a:t>
            </a:r>
          </a:p>
        </p:txBody>
      </p:sp>
      <p:sp>
        <p:nvSpPr>
          <p:cNvPr id="164" name="repo_box"/>
          <p:cNvSpPr/>
          <p:nvPr/>
        </p:nvSpPr>
        <p:spPr>
          <a:xfrm>
            <a:off x="320040" y="3429000"/>
            <a:ext cx="8503920" cy="10515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repo_circle"/>
          <p:cNvSpPr/>
          <p:nvPr/>
        </p:nvSpPr>
        <p:spPr>
          <a:xfrm>
            <a:off x="457200" y="3566160"/>
            <a:ext cx="384048" cy="384048"/>
          </a:xfrm>
          <a:prstGeom prst="ellipse">
            <a:avLst/>
          </a:prstGeom>
          <a:solidFill>
            <a:srgbClr val="20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6" name="repo_icon" descr="githu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690" y="3650650"/>
            <a:ext cx="215066" cy="215066"/>
          </a:xfrm>
          <a:prstGeom prst="rect">
            <a:avLst/>
          </a:prstGeom>
        </p:spPr>
      </p:pic>
      <p:sp>
        <p:nvSpPr>
          <p:cNvPr id="167" name="TextBox 166"/>
          <p:cNvSpPr txBox="1"/>
          <p:nvPr/>
        </p:nvSpPr>
        <p:spPr>
          <a:xfrm>
            <a:off x="960119" y="3520440"/>
            <a:ext cx="77266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In the repository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124"/>
                </a:solidFill>
                <a:latin typeface="Arial"/>
              </a:rPr>
              <a:t>README — how it works and every measurement · Doc/ARCHITECTURE.md · Doc/10_FRAUD_LENS_BUILD.md — build plan, deploy command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F6368"/>
                </a:solidFill>
                <a:latin typeface="Arial"/>
              </a:rPr>
              <a:t>Run it yourself: dotnet test (63 tests) · DemoData eval (live extraction scored against ground truth)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cases on the live site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8" name="demo_table"/>
          <p:cNvGraphicFramePr>
            <a:graphicFrameLocks noGrp="1"/>
          </p:cNvGraphicFramePr>
          <p:nvPr/>
        </p:nvGraphicFramePr>
        <p:xfrm>
          <a:off x="320040" y="1188720"/>
          <a:ext cx="8503919" cy="3570732"/>
        </p:xfrm>
        <a:graphic>
          <a:graphicData uri="http://schemas.openxmlformats.org/drawingml/2006/table">
            <a:tbl>
              <a:tblPr firstRow="1" bandRow="0"/>
              <a:tblGrid>
                <a:gridCol w="1234440"/>
                <a:gridCol w="3520440"/>
                <a:gridCol w="3749039"/>
              </a:tblGrid>
              <a:tr h="3246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Case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What it is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What FinRiskLens finds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202124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DEMO-G01 … G05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Genuine applicants; G05 has Account Aggregator linked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Nothing — clean applicants move on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DEMO-T01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A receipt inflated tenfold in Word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Balance break, totals mismatch, file edited in Word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DEMO-T02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Page 3 swapped in from a healthier quarter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Page carry-over and balance breaks, merged in iLovePDF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DEMO-T03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Salary slip with net pay typed higher, made in Canva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Slip arithmetic; AI: slip vs salary actually credited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DEMO-T04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Careful forgery: receipts tripled, EMIs deleted, totals recomputed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Statement vs the bank's Account Aggregator record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DEMO-B01 … B03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Round-tripping · window dressing · pass-through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Each pattern, with the rows behind it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DEMO-A01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Monthly EMIs to two lenders never declared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AI: undeclared EMIs, loan stacking — cited to policy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DEMO-A02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Weekly betting, monthly crypto, a bounced EMI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AI: gambling and crypto exposure, the bounce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DEMO-R01 … R04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Four applicants from one fabricator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A ring: one template, one salary account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DEMO-R05, R06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One statement file in two applications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A ring: the same file, byte for byte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