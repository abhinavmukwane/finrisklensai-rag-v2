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78" r:id="rId6"/>
    <p:sldId id="260" r:id="rId7"/>
    <p:sldId id="262" r:id="rId8"/>
    <p:sldId id="263" r:id="rId9"/>
    <p:sldId id="272" r:id="rId10"/>
    <p:sldId id="264" r:id="rId11"/>
    <p:sldId id="265" r:id="rId12"/>
    <p:sldId id="273" r:id="rId13"/>
    <p:sldId id="274" r:id="rId14"/>
    <p:sldId id="279" r:id="rId15"/>
    <p:sldId id="275" r:id="rId16"/>
    <p:sldId id="276" r:id="rId17"/>
    <p:sldId id="277" r:id="rId18"/>
    <p:sldId id="280" r:id="rId19"/>
    <p:sldId id="281" r:id="rId20"/>
    <p:sldId id="282" r:id="rId21"/>
    <p:sldId id="266" r:id="rId22"/>
    <p:sldId id="267" r:id="rId23"/>
    <p:sldId id="268" r:id="rId24"/>
    <p:sldId id="270" r:id="rId2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021"/>
    <a:srgbClr val="00836C"/>
    <a:srgbClr val="02684F"/>
    <a:srgbClr val="FF4800"/>
    <a:srgbClr val="4FA9A7"/>
    <a:srgbClr val="037F61"/>
    <a:srgbClr val="03A5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5224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3259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14984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15400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inrisklensai.com/" TargetMode="External"/><Relationship Id="rId5" Type="http://schemas.openxmlformats.org/officeDocument/2006/relationships/hyperlink" Target="https://drive.google.com/file/d/1Np-XHCR8K5PcDptUsK_JRyiPNLkuStej/view?usp=sharing" TargetMode="External"/><Relationship Id="rId4" Type="http://schemas.openxmlformats.org/officeDocument/2006/relationships/hyperlink" Target="https://video.finrisklensai.com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3799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6.4 crore MSMEs contributing ~30% of GDP, yet 80%+ have no formal credit. New-to-Credit (NTC) and New-to-Bank (NTB) enterprises are rejected for missing paperwork — not for being bad borrowers.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— AI-powered MSME Financial Health Score platform (Top-5 Finalist build)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One consent, five sources: Udyam, GST (7 return types), ITR, bank statements via Account Aggregator, and MCA company &amp; director records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One score, six pillars: Financial Health Score 0–1000 from a rules engine + ML.NET LightGBM — every score comes with plain-language reasons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Financial Health Card: score gauge, 6-pillar radar, strengths &amp; risks, lending eligibility (working capital + term loan) and the right product (CGTMSE / MUDRA / standard)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b="1" dirty="0"/>
              <a:t>NEW — Score History: </a:t>
            </a:r>
            <a:r>
              <a:rPr lang="en-GB" sz="1200" dirty="0"/>
              <a:t>every analysis is saved, so the bank sees the trend, not just today’s number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b="1" dirty="0"/>
              <a:t>NEW — Bank Portal (Customer 360): </a:t>
            </a:r>
            <a:r>
              <a:rPr lang="en-GB" sz="1200" dirty="0"/>
              <a:t>one screen per MSME for the credit officer — score, GST, bank, ITR, MCA and directors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Integrity check: GST, ITR and bank credits are cross-checked; mismatches are flagged for officer review, not silently scored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Built for Bharat: 7 Indian languages (Bhashini), AI assistant, printable &amp; emailable Financial Report; score in seconds; API-ready for LOS / ULI / OCEN / ONDC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How is it different from existing solutions?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Bureau scores (CIBIL / Experian) need credit history — we score NTC / NTB MSMEs with none, from their own digital footprint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Five data sources in one consent flow — Udyam, GST, ITR, bank (AA) and MCA — instead of a single-source view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Score + score history + bank portal: a working system a credit officer can use today, not just a number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Cross-source check (GST vs ITR vs bank credits) as a built-in integrity signal — no existing tool does this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How does it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Ends the ‘no documents, no credit’ cycle — the MSME’s existing filings and statements are the documents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2–3 weeks of manual appraisal becomes an automated assessment in seconds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Every score carries dimension-level reasons — the officer sees why, not just what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first-time borrowers — missing history is not treated as bad history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Six-pillar score (Revenue, Cash Flow, Transactions, Compliance, Stability, Debt) — a far richer picture than any single metric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on India’s DPI stack — consent-based, no proprietary data, aligned with the DPDP Act 2023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Product recommender maps the score band to CGTMSE / MUDRA / standard loans — more approvals, safely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Score history gives IDBI post-disbursement monitoring — origination and monitoring from one platform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6194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875129"/>
            <a:ext cx="86264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 — 5 sources, one consent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Udyam registry · GST (GSTR-1 / 2A / 2B / 3B, HSN, credit notes, ITC) · ITR (ITR-4 / 5 / 6) · Account Aggregator bank statements (Finvu) · MCA company, charges &amp; DIN-verified directors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GST ↔ ITR ↔ bank-credit reconciliation with a cross-source anomaly flag for officer review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Six weighted pillars, 0–1000: Revenue Vitality 25% · Cash Flow Health 20% · Transaction Trust 15% · Compliance 15% · Business Stability 15% · Debt Serviceability 10%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Rules engine + ML.NET LightGBM calibration (0.6 / 0.4), SSA cash-flow trend, PFI explanations, neutral baseline when a source is missing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Financial Health Card &amp; Report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Score gauge, 6-pillar radar, top strengths &amp; risks, lending eligibility — working-capital limit (Nayak) + term-loan capacity, 14-ratio appraisal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Product recommendation (CGTMSE / MUDRA / standard), Score History trend, printable Financial Report, email delivery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Bank Portal — Customer 360 (new for the Finals)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Portfolio list with scores &amp; bands, bank dashboard, per-MSME tabs: Score, GST, Bank (AA deep analysis), ITR, MCA, Directors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Hand-off to the lender (new for the Finals)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Raise a scored MSME as a loan case — IDBI LOS (appraisal case) · ULI (OCEN 4.0 derived data packet) · ONDC (beckn FIS12); the officer previews the exact payload before confirming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Append-only push audit with score, band and eligibility frozen at the moment the case was raised; pointing a channel at a live endpoint is configuration, not code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Security &amp; Language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Email-OTP login, CSP security headers, source-IP fraud audit; 7 Indian languages via Bhashini; Groq AI assistant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What’s new since Round 1 — built for the Finals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2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2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6126480" y="1306475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Loan case → LOS · ULI · ONDC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Raise a scored MSME as a case from Customer 360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Preview the exact payload, then confirm — never one click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A live endpoint is configuration, not a code change</a:t>
            </a:r>
          </a:p>
        </p:txBody>
      </p:sp>
      <p:sp>
        <p:nvSpPr>
          <p:cNvPr id="134" name="fut_card"/>
          <p:cNvSpPr/>
          <p:nvPr/>
        </p:nvSpPr>
        <p:spPr>
          <a:xfrm>
            <a:off x="274320" y="132588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Score History &amp; Trend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Every analysis is saved (append-only), never overwritten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Trend chart on the Health Card and in the bank portal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The base for post-disbursement early warning</a:t>
            </a:r>
          </a:p>
        </p:txBody>
      </p:sp>
      <p:sp>
        <p:nvSpPr>
          <p:cNvPr id="135" name="fut_card"/>
          <p:cNvSpPr/>
          <p:nvPr/>
        </p:nvSpPr>
        <p:spPr>
          <a:xfrm>
            <a:off x="3195915" y="132588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Bank Portal · Customer 360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Portfolio list with scores &amp; bands, bank dashboard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Per-MSME tabs: Score, GST, Bank, ITR, MCA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Director drill-down with DIN verification</a:t>
            </a:r>
          </a:p>
        </p:txBody>
      </p:sp>
      <p:sp>
        <p:nvSpPr>
          <p:cNvPr id="136" name="fut_card"/>
          <p:cNvSpPr/>
          <p:nvPr/>
        </p:nvSpPr>
        <p:spPr>
          <a:xfrm>
            <a:off x="274320" y="310896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MCA + DIN — 5th data source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Company status, capital, charges &amp; AGM compliance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Directors verified against DIN with individual PAN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Follows entity type — shown only for companies</a:t>
            </a:r>
          </a:p>
        </p:txBody>
      </p:sp>
      <p:sp>
        <p:nvSpPr>
          <p:cNvPr id="137" name="fut_card"/>
          <p:cNvSpPr/>
          <p:nvPr/>
        </p:nvSpPr>
        <p:spPr>
          <a:xfrm>
            <a:off x="3200400" y="310896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ITR now inside the score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Filing timeliness, e-verification, tax paid ratio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44AB audit and tax-demand signals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GST ↔ ITR turnover reconciliation</a:t>
            </a:r>
          </a:p>
        </p:txBody>
      </p:sp>
      <p:sp>
        <p:nvSpPr>
          <p:cNvPr id="138" name="fut_card"/>
          <p:cNvSpPr/>
          <p:nvPr/>
        </p:nvSpPr>
        <p:spPr>
          <a:xfrm>
            <a:off x="6126480" y="310896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Lending, Report &amp; Access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Working-capital limit (Nayak) + term-loan capacity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14-ratio appraisal, printable report, email delivery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5 seeded demo MSMEs · 7 languages · IDBI palette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arch_label"/>
          <p:cNvSpPr txBox="1"/>
          <p:nvPr/>
        </p:nvSpPr>
        <p:spPr>
          <a:xfrm>
            <a:off x="27432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1 · Onboard &amp; log in</a:t>
            </a:r>
          </a:p>
        </p:txBody>
      </p:sp>
      <p:sp>
        <p:nvSpPr>
          <p:cNvPr id="336" name="arch_box"/>
          <p:cNvSpPr/>
          <p:nvPr/>
        </p:nvSpPr>
        <p:spPr>
          <a:xfrm>
            <a:off x="274320" y="12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1. Enter Udyam number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Udyam registry lookup fetches the enterprise profile</a:t>
            </a:r>
          </a:p>
        </p:txBody>
      </p:sp>
      <p:cxnSp>
        <p:nvCxnSpPr>
          <p:cNvPr id="337" name="arch_arrow"/>
          <p:cNvCxnSpPr/>
          <p:nvPr/>
        </p:nvCxnSpPr>
        <p:spPr>
          <a:xfrm>
            <a:off x="1297305" y="181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8" name="arch_box"/>
          <p:cNvSpPr/>
          <p:nvPr/>
        </p:nvSpPr>
        <p:spPr>
          <a:xfrm>
            <a:off x="274320" y="1930000"/>
            <a:ext cx="2045970" cy="700000"/>
          </a:xfrm>
          <a:prstGeom prst="roundRect">
            <a:avLst>
              <a:gd name="adj" fmla="val 10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2. Review &amp; consent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Owner confirms details, email + mobile, gives consent and registers (mobile seeded in the Finvu SimBanks sandbox)</a:t>
            </a:r>
          </a:p>
        </p:txBody>
      </p:sp>
      <p:cxnSp>
        <p:nvCxnSpPr>
          <p:cNvPr id="339" name="arch_arrow"/>
          <p:cNvCxnSpPr/>
          <p:nvPr/>
        </p:nvCxnSpPr>
        <p:spPr>
          <a:xfrm>
            <a:off x="1297305" y="263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0" name="arch_box"/>
          <p:cNvSpPr/>
          <p:nvPr/>
        </p:nvSpPr>
        <p:spPr>
          <a:xfrm>
            <a:off x="274320" y="27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3. Email OTP → dashboard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OTP verified, session starts, routed by status</a:t>
            </a:r>
          </a:p>
        </p:txBody>
      </p:sp>
      <p:sp>
        <p:nvSpPr>
          <p:cNvPr id="341" name="arch_box"/>
          <p:cNvSpPr/>
          <p:nvPr/>
        </p:nvSpPr>
        <p:spPr>
          <a:xfrm>
            <a:off x="274320" y="345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Existing MSME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/Auth/CustLogin → email → OTP → dashboard</a:t>
            </a:r>
          </a:p>
        </p:txBody>
      </p:sp>
      <p:cxnSp>
        <p:nvCxnSpPr>
          <p:cNvPr id="342" name="arch_arrow"/>
          <p:cNvCxnSpPr/>
          <p:nvPr/>
        </p:nvCxnSpPr>
        <p:spPr>
          <a:xfrm>
            <a:off x="2320290" y="1530000"/>
            <a:ext cx="137160" cy="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3" name="arch_label"/>
          <p:cNvSpPr txBox="1"/>
          <p:nvPr/>
        </p:nvSpPr>
        <p:spPr>
          <a:xfrm>
            <a:off x="245745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2 · Collect data (one button each)</a:t>
            </a:r>
          </a:p>
        </p:txBody>
      </p:sp>
      <p:sp>
        <p:nvSpPr>
          <p:cNvPr id="344" name="arch_box"/>
          <p:cNvSpPr/>
          <p:nvPr/>
        </p:nvSpPr>
        <p:spPr>
          <a:xfrm>
            <a:off x="2457450" y="12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4a. GST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12 months × 7 return files — GSTR-1, 2A, 2B, 3B, HSN, credit notes</a:t>
            </a:r>
          </a:p>
        </p:txBody>
      </p:sp>
      <p:cxnSp>
        <p:nvCxnSpPr>
          <p:cNvPr id="345" name="arch_arrow"/>
          <p:cNvCxnSpPr/>
          <p:nvPr/>
        </p:nvCxnSpPr>
        <p:spPr>
          <a:xfrm>
            <a:off x="3480435" y="181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6" name="arch_box"/>
          <p:cNvSpPr/>
          <p:nvPr/>
        </p:nvSpPr>
        <p:spPr>
          <a:xfrm>
            <a:off x="2457450" y="193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4b. Bank statements (AA)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Finvu consent → owner approves → FI fetch of the statement</a:t>
            </a:r>
          </a:p>
        </p:txBody>
      </p:sp>
      <p:cxnSp>
        <p:nvCxnSpPr>
          <p:cNvPr id="347" name="arch_arrow"/>
          <p:cNvCxnSpPr/>
          <p:nvPr/>
        </p:nvCxnSpPr>
        <p:spPr>
          <a:xfrm>
            <a:off x="3480435" y="249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8" name="arch_box"/>
          <p:cNvSpPr/>
          <p:nvPr/>
        </p:nvSpPr>
        <p:spPr>
          <a:xfrm>
            <a:off x="2457450" y="261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4c. ITR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Filing, income, tax paid, audit</a:t>
            </a:r>
          </a:p>
        </p:txBody>
      </p:sp>
      <p:cxnSp>
        <p:nvCxnSpPr>
          <p:cNvPr id="349" name="arch_arrow"/>
          <p:cNvCxnSpPr/>
          <p:nvPr/>
        </p:nvCxnSpPr>
        <p:spPr>
          <a:xfrm>
            <a:off x="3480435" y="307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0" name="arch_box"/>
          <p:cNvSpPr/>
          <p:nvPr/>
        </p:nvSpPr>
        <p:spPr>
          <a:xfrm>
            <a:off x="2457450" y="319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4d. MCA + DIN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Companies only — status, charges, directors</a:t>
            </a:r>
          </a:p>
        </p:txBody>
      </p:sp>
      <p:sp>
        <p:nvSpPr>
          <p:cNvPr id="351" name="arch_box"/>
          <p:cNvSpPr/>
          <p:nvPr/>
        </p:nvSpPr>
        <p:spPr>
          <a:xfrm>
            <a:off x="2457450" y="379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Stored per MSME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each source saved as JSON in the &lt;UAN&gt;/ blob folder; fetched sources are locked</a:t>
            </a:r>
          </a:p>
        </p:txBody>
      </p:sp>
      <p:cxnSp>
        <p:nvCxnSpPr>
          <p:cNvPr id="352" name="arch_arrow"/>
          <p:cNvCxnSpPr/>
          <p:nvPr/>
        </p:nvCxnSpPr>
        <p:spPr>
          <a:xfrm>
            <a:off x="4503420" y="1530000"/>
            <a:ext cx="137160" cy="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3" name="arch_label"/>
          <p:cNvSpPr txBox="1"/>
          <p:nvPr/>
        </p:nvSpPr>
        <p:spPr>
          <a:xfrm>
            <a:off x="464058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3 · Score</a:t>
            </a:r>
          </a:p>
        </p:txBody>
      </p:sp>
      <p:sp>
        <p:nvSpPr>
          <p:cNvPr id="354" name="arch_box"/>
          <p:cNvSpPr/>
          <p:nvPr/>
        </p:nvSpPr>
        <p:spPr>
          <a:xfrm>
            <a:off x="4640580" y="1250000"/>
            <a:ext cx="2045970" cy="70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7A4B00"/>
                </a:solidFill>
              </a:rPr>
              <a:t>5. Analyze</a:t>
            </a:r>
          </a:p>
          <a:p>
            <a:pPr algn="l"/>
            <a:r>
              <a:rPr lang="en-US" sz="750" dirty="0">
                <a:solidFill>
                  <a:srgbClr val="9C6510"/>
                </a:solidFill>
              </a:rPr>
              <a:t>Five extractors read every file; a missing source redistributes its weight (neutral baseline)</a:t>
            </a:r>
          </a:p>
        </p:txBody>
      </p:sp>
      <p:cxnSp>
        <p:nvCxnSpPr>
          <p:cNvPr id="355" name="arch_arrow"/>
          <p:cNvCxnSpPr/>
          <p:nvPr/>
        </p:nvCxnSpPr>
        <p:spPr>
          <a:xfrm>
            <a:off x="5663565" y="195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6" name="arch_box"/>
          <p:cNvSpPr/>
          <p:nvPr/>
        </p:nvSpPr>
        <p:spPr>
          <a:xfrm>
            <a:off x="4640580" y="2070000"/>
            <a:ext cx="2045970" cy="76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7A4B00"/>
                </a:solidFill>
              </a:rPr>
              <a:t>6. Rules 0.6 + LightGBM 0.4</a:t>
            </a:r>
          </a:p>
          <a:p>
            <a:pPr algn="l"/>
            <a:r>
              <a:rPr lang="en-US" sz="750" dirty="0">
                <a:solidFill>
                  <a:srgbClr val="9C6510"/>
                </a:solidFill>
              </a:rPr>
              <a:t>Six dimensions · 0–1000 · band · PFI reasons · GST-ITR-bank anomaly · lending eligibility &amp; products</a:t>
            </a:r>
          </a:p>
        </p:txBody>
      </p:sp>
      <p:cxnSp>
        <p:nvCxnSpPr>
          <p:cNvPr id="357" name="arch_arrow"/>
          <p:cNvCxnSpPr/>
          <p:nvPr/>
        </p:nvCxnSpPr>
        <p:spPr>
          <a:xfrm>
            <a:off x="5663565" y="283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8" name="arch_box"/>
          <p:cNvSpPr/>
          <p:nvPr/>
        </p:nvSpPr>
        <p:spPr>
          <a:xfrm>
            <a:off x="4640580" y="2950000"/>
            <a:ext cx="2045970" cy="62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7A4B00"/>
                </a:solidFill>
              </a:rPr>
              <a:t>7. Persist</a:t>
            </a:r>
          </a:p>
          <a:p>
            <a:pPr algn="l"/>
            <a:r>
              <a:rPr lang="en-US" sz="750" dirty="0">
                <a:solidFill>
                  <a:srgbClr val="9C6510"/>
                </a:solidFill>
              </a:rPr>
              <a:t>result.json → Blob · score summary → SQL · score history appended → SQL</a:t>
            </a:r>
          </a:p>
        </p:txBody>
      </p:sp>
      <p:sp>
        <p:nvSpPr>
          <p:cNvPr id="359" name="arch_box"/>
          <p:cNvSpPr/>
          <p:nvPr/>
        </p:nvSpPr>
        <p:spPr>
          <a:xfrm>
            <a:off x="4640580" y="371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Re-analyze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any time — re-runs 5–7 from the stored files; every run adds a history point</a:t>
            </a:r>
          </a:p>
        </p:txBody>
      </p:sp>
      <p:cxnSp>
        <p:nvCxnSpPr>
          <p:cNvPr id="360" name="arch_arrow"/>
          <p:cNvCxnSpPr/>
          <p:nvPr/>
        </p:nvCxnSpPr>
        <p:spPr>
          <a:xfrm>
            <a:off x="6686550" y="1530000"/>
            <a:ext cx="137160" cy="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1" name="arch_label"/>
          <p:cNvSpPr txBox="1"/>
          <p:nvPr/>
        </p:nvSpPr>
        <p:spPr>
          <a:xfrm>
            <a:off x="682371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4 · Use the score</a:t>
            </a:r>
          </a:p>
        </p:txBody>
      </p:sp>
      <p:sp>
        <p:nvSpPr>
          <p:cNvPr id="362" name="arch_box"/>
          <p:cNvSpPr/>
          <p:nvPr/>
        </p:nvSpPr>
        <p:spPr>
          <a:xfrm>
            <a:off x="6823710" y="12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8. Financial Health Card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Gauge, 6-pillar radar, strengths &amp; risks, products, Score History</a:t>
            </a:r>
          </a:p>
        </p:txBody>
      </p:sp>
      <p:cxnSp>
        <p:nvCxnSpPr>
          <p:cNvPr id="363" name="arch_arrow"/>
          <p:cNvCxnSpPr/>
          <p:nvPr/>
        </p:nvCxnSpPr>
        <p:spPr>
          <a:xfrm>
            <a:off x="7846695" y="181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4" name="arch_box"/>
          <p:cNvSpPr/>
          <p:nvPr/>
        </p:nvSpPr>
        <p:spPr>
          <a:xfrm>
            <a:off x="6823710" y="193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9. Financial Report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Printable appraisal — print or email</a:t>
            </a:r>
          </a:p>
        </p:txBody>
      </p:sp>
      <p:cxnSp>
        <p:nvCxnSpPr>
          <p:cNvPr id="365" name="arch_arrow"/>
          <p:cNvCxnSpPr/>
          <p:nvPr/>
        </p:nvCxnSpPr>
        <p:spPr>
          <a:xfrm>
            <a:off x="7846695" y="239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6" name="arch_box"/>
          <p:cNvSpPr/>
          <p:nvPr/>
        </p:nvSpPr>
        <p:spPr>
          <a:xfrm>
            <a:off x="6823710" y="2510000"/>
            <a:ext cx="2045970" cy="62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10. Bank Portal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Bank login → customer list → Customer 360: Score, GST, AA, ITR, MCA, Directors</a:t>
            </a:r>
          </a:p>
        </p:txBody>
      </p:sp>
      <p:cxnSp>
        <p:nvCxnSpPr>
          <p:cNvPr id="367" name="arch_arrow"/>
          <p:cNvCxnSpPr/>
          <p:nvPr/>
        </p:nvCxnSpPr>
        <p:spPr>
          <a:xfrm>
            <a:off x="7846695" y="313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8" name="arch_box"/>
          <p:cNvSpPr/>
          <p:nvPr/>
        </p:nvSpPr>
        <p:spPr>
          <a:xfrm>
            <a:off x="6823710" y="3250000"/>
            <a:ext cx="2045970" cy="62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11. Raise the loan case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Push to LOS · ULI (OCEN 4.0) · ONDC (beckn) — preview the payload, then confirm</a:t>
            </a:r>
          </a:p>
        </p:txBody>
      </p:sp>
      <p:sp>
        <p:nvSpPr>
          <p:cNvPr id="369" name="arch_box"/>
          <p:cNvSpPr/>
          <p:nvPr/>
        </p:nvSpPr>
        <p:spPr>
          <a:xfrm>
            <a:off x="6823710" y="401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Inbound API — planned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JWT + OpenAPI so the LOS pulls a score from us; the outbound push above is built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arch_label"/>
          <p:cNvSpPr txBox="1"/>
          <p:nvPr/>
        </p:nvSpPr>
        <p:spPr>
          <a:xfrm>
            <a:off x="274320" y="960000"/>
            <a:ext cx="859536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Data sources — one consent, pulled per MSME into its own blob folder</a:t>
            </a:r>
          </a:p>
        </p:txBody>
      </p:sp>
      <p:sp>
        <p:nvSpPr>
          <p:cNvPr id="301" name="arch_box"/>
          <p:cNvSpPr/>
          <p:nvPr/>
        </p:nvSpPr>
        <p:spPr>
          <a:xfrm>
            <a:off x="2743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Udyam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identity, NIC, vintage</a:t>
            </a:r>
          </a:p>
        </p:txBody>
      </p:sp>
      <p:cxnSp>
        <p:nvCxnSpPr>
          <p:cNvPr id="302" name="arch_arrow"/>
          <p:cNvCxnSpPr/>
          <p:nvPr/>
        </p:nvCxnSpPr>
        <p:spPr>
          <a:xfrm>
            <a:off x="9525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3" name="arch_box"/>
          <p:cNvSpPr/>
          <p:nvPr/>
        </p:nvSpPr>
        <p:spPr>
          <a:xfrm>
            <a:off x="17221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 fontScale="92500"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GST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7 return types · 12 months</a:t>
            </a:r>
          </a:p>
        </p:txBody>
      </p:sp>
      <p:cxnSp>
        <p:nvCxnSpPr>
          <p:cNvPr id="304" name="arch_arrow"/>
          <p:cNvCxnSpPr/>
          <p:nvPr/>
        </p:nvCxnSpPr>
        <p:spPr>
          <a:xfrm>
            <a:off x="24003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5" name="arch_box"/>
          <p:cNvSpPr/>
          <p:nvPr/>
        </p:nvSpPr>
        <p:spPr>
          <a:xfrm>
            <a:off x="31699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ITR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ITR-4 / 5 / 6 · filing &amp; tax</a:t>
            </a:r>
          </a:p>
        </p:txBody>
      </p:sp>
      <p:cxnSp>
        <p:nvCxnSpPr>
          <p:cNvPr id="306" name="arch_arrow"/>
          <p:cNvCxnSpPr/>
          <p:nvPr/>
        </p:nvCxnSpPr>
        <p:spPr>
          <a:xfrm>
            <a:off x="38481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7" name="arch_box"/>
          <p:cNvSpPr/>
          <p:nvPr/>
        </p:nvSpPr>
        <p:spPr>
          <a:xfrm>
            <a:off x="46177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 fontScale="92500"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Account Aggregator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Finvu · bank statements</a:t>
            </a:r>
          </a:p>
        </p:txBody>
      </p:sp>
      <p:cxnSp>
        <p:nvCxnSpPr>
          <p:cNvPr id="308" name="arch_arrow"/>
          <p:cNvCxnSpPr/>
          <p:nvPr/>
        </p:nvCxnSpPr>
        <p:spPr>
          <a:xfrm>
            <a:off x="52959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9" name="arch_box"/>
          <p:cNvSpPr/>
          <p:nvPr/>
        </p:nvSpPr>
        <p:spPr>
          <a:xfrm>
            <a:off x="60655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 fontScale="92500"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MCA + DIN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company, charges, directors</a:t>
            </a:r>
          </a:p>
        </p:txBody>
      </p:sp>
      <p:cxnSp>
        <p:nvCxnSpPr>
          <p:cNvPr id="310" name="arch_arrow"/>
          <p:cNvCxnSpPr/>
          <p:nvPr/>
        </p:nvCxnSpPr>
        <p:spPr>
          <a:xfrm>
            <a:off x="67437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1" name="arch_box"/>
          <p:cNvSpPr/>
          <p:nvPr/>
        </p:nvSpPr>
        <p:spPr>
          <a:xfrm>
            <a:off x="75133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7A766D"/>
                </a:solidFill>
              </a:rPr>
              <a:t>EPFO</a:t>
            </a:r>
          </a:p>
          <a:p>
            <a:pPr algn="ctr"/>
            <a:r>
              <a:rPr lang="en-US" sz="800" dirty="0">
                <a:solidFill>
                  <a:srgbClr val="8F8B82"/>
                </a:solidFill>
              </a:rPr>
              <a:t>planned — slot ready</a:t>
            </a:r>
          </a:p>
        </p:txBody>
      </p:sp>
      <p:cxnSp>
        <p:nvCxnSpPr>
          <p:cNvPr id="312" name="arch_arrow"/>
          <p:cNvCxnSpPr/>
          <p:nvPr/>
        </p:nvCxnSpPr>
        <p:spPr>
          <a:xfrm>
            <a:off x="81915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3" name="arch_box"/>
          <p:cNvSpPr/>
          <p:nvPr/>
        </p:nvSpPr>
        <p:spPr>
          <a:xfrm>
            <a:off x="274320" y="1750000"/>
            <a:ext cx="8595360" cy="2420000"/>
          </a:xfrm>
          <a:prstGeom prst="roundRect">
            <a:avLst>
              <a:gd name="adj" fmla="val 6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t">
            <a:normAutofit/>
          </a:bodyPr>
          <a:lstStyle/>
          <a:p>
            <a:pPr algn="l"/>
            <a:r>
              <a:rPr lang="en-US" sz="1000" b="1" dirty="0">
                <a:solidFill>
                  <a:srgbClr val="2E2C8A"/>
                </a:solidFill>
              </a:rPr>
              <a:t>FinRiskLensAI — ASP.NET Core 8 MVC · one deployable (Web + Services + ML.NET, no separate ML service)</a:t>
            </a:r>
          </a:p>
        </p:txBody>
      </p:sp>
      <p:sp>
        <p:nvSpPr>
          <p:cNvPr id="314" name="arch_box"/>
          <p:cNvSpPr/>
          <p:nvPr/>
        </p:nvSpPr>
        <p:spPr>
          <a:xfrm>
            <a:off x="365760" y="2000000"/>
            <a:ext cx="8412480" cy="380000"/>
          </a:xfrm>
          <a:prstGeom prst="roundRect">
            <a:avLst>
              <a:gd name="adj" fmla="val 10000"/>
            </a:avLst>
          </a:prstGeom>
          <a:solidFill>
            <a:srgbClr val="FBEAE4"/>
          </a:solidFill>
          <a:ln w="9525">
            <a:solidFill>
              <a:srgbClr val="B85A44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7A2E1E"/>
                </a:solidFill>
              </a:rPr>
              <a:t>Web — presentation</a:t>
            </a:r>
          </a:p>
          <a:p>
            <a:pPr algn="l"/>
            <a:r>
              <a:rPr lang="en-US" sz="800" dirty="0">
                <a:solidFill>
                  <a:srgbClr val="9B4A38"/>
                </a:solidFill>
              </a:rPr>
              <a:t>Customer dashboard · Financial Health Card · Bank Portal (Customer 360) · Score History · Financial Report · loan-case push · Bhashini (7 languages)</a:t>
            </a:r>
          </a:p>
        </p:txBody>
      </p:sp>
      <p:cxnSp>
        <p:nvCxnSpPr>
          <p:cNvPr id="315" name="arch_arrow"/>
          <p:cNvCxnSpPr/>
          <p:nvPr/>
        </p:nvCxnSpPr>
        <p:spPr>
          <a:xfrm>
            <a:off x="4572000" y="238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6" name="arch_box"/>
          <p:cNvSpPr/>
          <p:nvPr/>
        </p:nvSpPr>
        <p:spPr>
          <a:xfrm>
            <a:off x="365760" y="2440000"/>
            <a:ext cx="8412480" cy="380000"/>
          </a:xfrm>
          <a:prstGeom prst="roundRect">
            <a:avLst>
              <a:gd name="adj" fmla="val 10000"/>
            </a:avLst>
          </a:prstGeom>
          <a:solidFill>
            <a:srgbClr val="E4F3EB"/>
          </a:solidFill>
          <a:ln w="9525">
            <a:solidFill>
              <a:srgbClr val="2E8B6A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145A40"/>
                </a:solidFill>
              </a:rPr>
              <a:t>Services — application</a:t>
            </a:r>
          </a:p>
          <a:p>
            <a:pPr algn="l"/>
            <a:r>
              <a:rPr lang="en-US" sz="800" dirty="0">
                <a:solidFill>
                  <a:srgbClr val="2C7A5A"/>
                </a:solidFill>
              </a:rPr>
              <a:t>Onboarding &amp; OTP · Udyam / GST / ITR / AA / MCA connectors · blob analysis · score history · loan-case builders (LOS / ULI / ONDC) · Groq assistant</a:t>
            </a:r>
          </a:p>
        </p:txBody>
      </p:sp>
      <p:cxnSp>
        <p:nvCxnSpPr>
          <p:cNvPr id="317" name="arch_arrow"/>
          <p:cNvCxnSpPr/>
          <p:nvPr/>
        </p:nvCxnSpPr>
        <p:spPr>
          <a:xfrm>
            <a:off x="4572000" y="282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8" name="arch_box"/>
          <p:cNvSpPr/>
          <p:nvPr/>
        </p:nvSpPr>
        <p:spPr>
          <a:xfrm>
            <a:off x="365760" y="2880000"/>
            <a:ext cx="8412480" cy="38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7A4B00"/>
                </a:solidFill>
              </a:rPr>
              <a:t>ML.NET scoring engine</a:t>
            </a:r>
          </a:p>
          <a:p>
            <a:pPr algn="l"/>
            <a:r>
              <a:rPr lang="en-US" sz="800" dirty="0">
                <a:solidFill>
                  <a:srgbClr val="9C6510"/>
                </a:solidFill>
              </a:rPr>
              <a:t>Rules engine 0.6 + LightGBM 0.4 · SSA cash-flow trend · RandomizedPCA GST-ITR-bank anomaly · PFI reasons per dimension — in-process, no Python</a:t>
            </a:r>
          </a:p>
        </p:txBody>
      </p:sp>
      <p:cxnSp>
        <p:nvCxnSpPr>
          <p:cNvPr id="319" name="arch_arrow"/>
          <p:cNvCxnSpPr/>
          <p:nvPr/>
        </p:nvCxnSpPr>
        <p:spPr>
          <a:xfrm>
            <a:off x="4572000" y="326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20" name="arch_box"/>
          <p:cNvSpPr/>
          <p:nvPr/>
        </p:nvSpPr>
        <p:spPr>
          <a:xfrm>
            <a:off x="365760" y="3320000"/>
            <a:ext cx="4160520" cy="380000"/>
          </a:xfrm>
          <a:prstGeom prst="roundRect">
            <a:avLst>
              <a:gd name="adj" fmla="val 10000"/>
            </a:avLst>
          </a:prstGeom>
          <a:solidFill>
            <a:srgbClr val="E4F3EB"/>
          </a:solidFill>
          <a:ln w="9525">
            <a:solidFill>
              <a:srgbClr val="2E8B6A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145A40"/>
                </a:solidFill>
              </a:rPr>
              <a:t>Data — infrastructure</a:t>
            </a:r>
          </a:p>
          <a:p>
            <a:pPr algn="l"/>
            <a:r>
              <a:rPr lang="en-US" sz="800" dirty="0">
                <a:solidFill>
                  <a:srgbClr val="2C7A5A"/>
                </a:solidFill>
              </a:rPr>
              <a:t>EF Core 8 + SQL Server · repositories via convention scanning (Autofac)</a:t>
            </a:r>
          </a:p>
        </p:txBody>
      </p:sp>
      <p:sp>
        <p:nvSpPr>
          <p:cNvPr id="321" name="arch_box"/>
          <p:cNvSpPr/>
          <p:nvPr/>
        </p:nvSpPr>
        <p:spPr>
          <a:xfrm>
            <a:off x="4617720" y="3320000"/>
            <a:ext cx="4160520" cy="38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3B3833"/>
                </a:solidFill>
              </a:rPr>
              <a:t>Core — domain</a:t>
            </a:r>
          </a:p>
          <a:p>
            <a:pPr algn="l"/>
            <a:r>
              <a:rPr lang="en-US" sz="800" dirty="0">
                <a:solidFill>
                  <a:srgbClr val="5E5A52"/>
                </a:solidFill>
              </a:rPr>
              <a:t>Entities, view models, interfaces · no infrastructure dependencies</a:t>
            </a:r>
          </a:p>
        </p:txBody>
      </p:sp>
      <p:cxnSp>
        <p:nvCxnSpPr>
          <p:cNvPr id="322" name="arch_arrow"/>
          <p:cNvCxnSpPr/>
          <p:nvPr/>
        </p:nvCxnSpPr>
        <p:spPr>
          <a:xfrm>
            <a:off x="2446020" y="370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cxnSp>
        <p:nvCxnSpPr>
          <p:cNvPr id="323" name="arch_arrow"/>
          <p:cNvCxnSpPr/>
          <p:nvPr/>
        </p:nvCxnSpPr>
        <p:spPr>
          <a:xfrm>
            <a:off x="6697980" y="370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24" name="arch_box"/>
          <p:cNvSpPr/>
          <p:nvPr/>
        </p:nvSpPr>
        <p:spPr>
          <a:xfrm>
            <a:off x="365760" y="3760000"/>
            <a:ext cx="4160520" cy="360000"/>
          </a:xfrm>
          <a:prstGeom prst="roundRect">
            <a:avLst>
              <a:gd name="adj" fmla="val 10000"/>
            </a:avLst>
          </a:prstGeom>
          <a:solidFill>
            <a:srgbClr val="E0EFFB"/>
          </a:solidFill>
          <a:ln w="9525">
            <a:solidFill>
              <a:srgbClr val="4A90C8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154A78"/>
                </a:solidFill>
              </a:rPr>
              <a:t>SQL Server</a:t>
            </a:r>
          </a:p>
          <a:p>
            <a:pPr algn="ctr"/>
            <a:r>
              <a:rPr lang="en-US" sz="800" dirty="0">
                <a:solidFill>
                  <a:srgbClr val="2D6BA3"/>
                </a:solidFill>
              </a:rPr>
              <a:t>profiles · OTP &amp; consent · score summary · score history + push audit (append-only)</a:t>
            </a:r>
          </a:p>
        </p:txBody>
      </p:sp>
      <p:sp>
        <p:nvSpPr>
          <p:cNvPr id="325" name="arch_box"/>
          <p:cNvSpPr/>
          <p:nvPr/>
        </p:nvSpPr>
        <p:spPr>
          <a:xfrm>
            <a:off x="4617720" y="3760000"/>
            <a:ext cx="4160520" cy="360000"/>
          </a:xfrm>
          <a:prstGeom prst="roundRect">
            <a:avLst>
              <a:gd name="adj" fmla="val 10000"/>
            </a:avLst>
          </a:prstGeom>
          <a:solidFill>
            <a:srgbClr val="E0EFFB"/>
          </a:solidFill>
          <a:ln w="9525">
            <a:solidFill>
              <a:srgbClr val="4A90C8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154A78"/>
                </a:solidFill>
              </a:rPr>
              <a:t>Azure Blob Storage</a:t>
            </a:r>
          </a:p>
          <a:p>
            <a:pPr algn="ctr"/>
            <a:r>
              <a:rPr lang="en-US" sz="800" dirty="0">
                <a:solidFill>
                  <a:srgbClr val="2D6BA3"/>
                </a:solidFill>
              </a:rPr>
              <a:t>one folder per MSME · raw source JSON (up to 93 files) + result.json</a:t>
            </a:r>
          </a:p>
        </p:txBody>
      </p:sp>
      <p:sp>
        <p:nvSpPr>
          <p:cNvPr id="326" name="arch_label"/>
          <p:cNvSpPr txBox="1"/>
          <p:nvPr/>
        </p:nvSpPr>
        <p:spPr>
          <a:xfrm>
            <a:off x="274320" y="4180000"/>
            <a:ext cx="859536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Outputs</a:t>
            </a:r>
          </a:p>
        </p:txBody>
      </p:sp>
      <p:cxnSp>
        <p:nvCxnSpPr>
          <p:cNvPr id="327" name="arch_arrow"/>
          <p:cNvCxnSpPr/>
          <p:nvPr/>
        </p:nvCxnSpPr>
        <p:spPr>
          <a:xfrm>
            <a:off x="13144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28" name="arch_box"/>
          <p:cNvSpPr/>
          <p:nvPr/>
        </p:nvSpPr>
        <p:spPr>
          <a:xfrm>
            <a:off x="2743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Financial Health Card &amp; Report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on screen · print · email</a:t>
            </a:r>
          </a:p>
        </p:txBody>
      </p:sp>
      <p:cxnSp>
        <p:nvCxnSpPr>
          <p:cNvPr id="329" name="arch_arrow"/>
          <p:cNvCxnSpPr/>
          <p:nvPr/>
        </p:nvCxnSpPr>
        <p:spPr>
          <a:xfrm>
            <a:off x="34861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0" name="arch_box"/>
          <p:cNvSpPr/>
          <p:nvPr/>
        </p:nvSpPr>
        <p:spPr>
          <a:xfrm>
            <a:off x="24460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Bank Portal · Customer 360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credit-officer view per MSME</a:t>
            </a:r>
          </a:p>
        </p:txBody>
      </p:sp>
      <p:cxnSp>
        <p:nvCxnSpPr>
          <p:cNvPr id="331" name="arch_arrow"/>
          <p:cNvCxnSpPr/>
          <p:nvPr/>
        </p:nvCxnSpPr>
        <p:spPr>
          <a:xfrm>
            <a:off x="56578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2" name="arch_box"/>
          <p:cNvSpPr/>
          <p:nvPr/>
        </p:nvSpPr>
        <p:spPr>
          <a:xfrm>
            <a:off x="46177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 fontScale="92500" lnSpcReduction="20000"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Loan case → LOS · ULI · ONDC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preview the payload, then confirm · endpoint is config, not code</a:t>
            </a:r>
          </a:p>
        </p:txBody>
      </p:sp>
      <p:cxnSp>
        <p:nvCxnSpPr>
          <p:cNvPr id="333" name="arch_arrow"/>
          <p:cNvCxnSpPr/>
          <p:nvPr/>
        </p:nvCxnSpPr>
        <p:spPr>
          <a:xfrm>
            <a:off x="78295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prstDash val="dash"/>
            <a:tailEnd type="triangle" w="med" len="med"/>
          </a:ln>
        </p:spPr>
      </p:cxnSp>
      <p:sp>
        <p:nvSpPr>
          <p:cNvPr id="334" name="arch_box"/>
          <p:cNvSpPr/>
          <p:nvPr/>
        </p:nvSpPr>
        <p:spPr>
          <a:xfrm>
            <a:off x="67894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 fontScale="92500" lnSpcReduction="20000"/>
          </a:bodyPr>
          <a:lstStyle/>
          <a:p>
            <a:pPr algn="ctr"/>
            <a:r>
              <a:rPr lang="en-US" sz="1000" b="1" dirty="0">
                <a:solidFill>
                  <a:srgbClr val="7A766D"/>
                </a:solidFill>
              </a:rPr>
              <a:t>Inbound score API</a:t>
            </a:r>
          </a:p>
          <a:p>
            <a:pPr algn="ctr"/>
            <a:r>
              <a:rPr lang="en-US" sz="800" dirty="0">
                <a:solidFill>
                  <a:srgbClr val="8F8B82"/>
                </a:solidFill>
              </a:rPr>
              <a:t>planned — JWT + OpenAPI so the LOS pulls from 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 — connectors for Udyam, GST, ITR, Account Aggregator (Finvu), MCA / DIN; outbound loan-case push to LOS / ULI / ONDC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in-process — scoring, feature extraction and explanations in the same deployable;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 DI with convention scanning · Serilog structured logging · CSP security headers · DataProtection keys persisted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LightGBM calibration — final score = 0.6 rules engine + 0.4 ML model, trained on 3,000 MSME profiles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SSA time-series — 12-month cash-flow trend · RandomizedPCA — GST vs ITR vs bank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— per-dimension, audit-ready reasons · Groq LLM — AI assistant for questions on the score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 — MSME profiles, OTP &amp; consent, score summary, append-only score history and loan-case push audit; SQL-backed sessions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 — one folder per MSME: raw source JSON (up to 93 files) + result.json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deployable web app (modern monolith) — IIS / Azure App Service / AWS; GitHub source control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Planned: inbound JWT + OpenAPI spec for LOS score pull; Azure API Management as the ULI / OCEN gateway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lvl="0"/>
            <a:endParaRPr lang="en-US" sz="1200" b="1" dirty="0"/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views, Bootstrap 5 — server-rendered, responsive; two themes including IDBI’s official palette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 — score gauge, 6-pillar radar, score-history trend, cash-flow charts · ApexCharts — GST analysis; charts follow the theme switch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Bhashini website-translation plugin — English + Hindi, Marathi, Tamil, Gujarati, Konkani, Sanskrit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DPI &amp; Data Integrations</a:t>
            </a:r>
          </a:p>
          <a:p>
            <a:pPr lvl="0"/>
            <a:endParaRPr lang="en-US" sz="1200" b="1" dirty="0"/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(Finvu sandbox, SimBanks FIP) · GST System API · Udyam Registry · ITR · MCA 21 (company, charges, DIN)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Outbound loan case built — IDBI LOS · ULI (OCEN 4.0) · ONDC (beckn FIS12) · inbound DSP score API and EPFO — planned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Security</a:t>
            </a:r>
          </a:p>
          <a:p>
            <a:pPr lvl="0"/>
            <a:endParaRPr lang="en-US" sz="1200" b="1" dirty="0"/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Email-OTP customer login and separate bank-admin login, SQL session cache, CSP headers, source-IP fraud / VPN / Tor audit with geolocation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697221" cy="40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31 L / yr.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639149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37021"/>
                </a:solidFill>
              </a:rPr>
              <a:t>Cost breakdown  -  centralized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219178"/>
              </p:ext>
            </p:extLst>
          </p:nvPr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1814" y="1006289"/>
            <a:ext cx="1891169" cy="393205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448400" y="1006289"/>
            <a:ext cx="2780247" cy="18100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48399" y="3126925"/>
            <a:ext cx="2775806" cy="181005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399337" y="1006289"/>
            <a:ext cx="3614430" cy="393069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4420" y="1108068"/>
            <a:ext cx="2734034" cy="18056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064551" y="1192207"/>
            <a:ext cx="3191506" cy="160905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295112" y="1012489"/>
            <a:ext cx="2638431" cy="20763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98353" y="3327405"/>
            <a:ext cx="2796438" cy="14098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118521" y="3354615"/>
            <a:ext cx="2828332" cy="14259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070583" y="3327406"/>
            <a:ext cx="2937070" cy="1480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07EBB09-B799-655C-88EA-E3A4ADE33F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776" y="992072"/>
            <a:ext cx="3596338" cy="20394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B2B134-BEEB-CB98-5579-F13CEF696E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452" y="2988478"/>
            <a:ext cx="4064001" cy="20489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D67E83-BDBE-4E79-8BD2-F6B1F5F3A4F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5397" r="35555"/>
          <a:stretch/>
        </p:blipFill>
        <p:spPr>
          <a:xfrm>
            <a:off x="4630862" y="919557"/>
            <a:ext cx="2021028" cy="38919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BC723D-D73F-A69C-609A-4DD7FC3F791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34921" r="34841"/>
          <a:stretch/>
        </p:blipFill>
        <p:spPr>
          <a:xfrm>
            <a:off x="6805585" y="992072"/>
            <a:ext cx="2196429" cy="3488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F82965-8EEF-5DE7-836D-AA1DADB64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22" y="994529"/>
            <a:ext cx="4437613" cy="24961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15149C-AA62-6E7A-C1B1-2985F3FA39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8914" y="2546151"/>
            <a:ext cx="4296229" cy="2416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03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0869FE-2C89-17E9-D8C0-6EC3CB4F3F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716" y="921961"/>
            <a:ext cx="3588850" cy="20187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4D7D7E-3A58-F022-A9E8-BA29E41A06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916" y="645411"/>
            <a:ext cx="3960985" cy="22280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BAA74-0338-B94A-A4AE-1BC4F8D5B1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1983" y="2999881"/>
            <a:ext cx="3588850" cy="20187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C143FDA-CD00-AC62-3E05-1B50A0C7D5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716" y="2999881"/>
            <a:ext cx="3516196" cy="1977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7B64E38-1A96-00F4-6D8A-40F9334C7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9981" y="644949"/>
            <a:ext cx="2875759" cy="23377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7AA927-6BF1-3556-686E-8ED799A14D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7621" y="593476"/>
            <a:ext cx="2021069" cy="44905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70C5DE-C164-9499-A690-7C1CAE220A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50" y="904022"/>
            <a:ext cx="3580175" cy="22525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1C2EF11-CBB5-E556-FF8F-BFF89BFD0D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310" y="3238166"/>
            <a:ext cx="3197280" cy="179847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2470F47-6596-4D49-5B81-10D31EB091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33226" y="3238165"/>
            <a:ext cx="3080848" cy="173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BFEDA6-2831-8054-09AC-EA794B06D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6" y="994529"/>
            <a:ext cx="3045855" cy="32203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742D5-B054-D452-0E01-6A6C8EB4FF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9452" y="994529"/>
            <a:ext cx="2888043" cy="30279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69002E-B850-6BD9-4904-5BA213756F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8356" y="1008436"/>
            <a:ext cx="2888228" cy="309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1DA906E-2F0E-B5B9-A426-AE47F0820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03" y="961571"/>
            <a:ext cx="3150483" cy="3276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CF30D96-495E-EB0E-0628-C397EBA684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7874" y="632483"/>
            <a:ext cx="2483658" cy="2429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4B1602-DB5E-485F-AF5B-7AB5EC45B3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7874" y="3164193"/>
            <a:ext cx="3526612" cy="177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F2085F-82C0-EEA3-431D-F3D4C6651C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9328" y="1096911"/>
            <a:ext cx="3062687" cy="163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2122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291ADE-DC58-6F5A-31BF-202D66346D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940" y="954177"/>
            <a:ext cx="3811273" cy="18302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9E4130-1303-1977-9785-A97B69E6C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5600" y="688524"/>
            <a:ext cx="4230914" cy="43587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59F5A8-F498-5AB7-C033-A0E284AA1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940" y="2853669"/>
            <a:ext cx="3790200" cy="2131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414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C3CADD-FDC2-23D8-72A8-9C9B4E0407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66" y="2968235"/>
            <a:ext cx="3588280" cy="20184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6444BE-BB8F-F14B-4113-3ACF1EE9E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066" y="916812"/>
            <a:ext cx="3405818" cy="19157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8D93C-317E-BE08-672E-0FA1A5FCEB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6559" y="651410"/>
            <a:ext cx="3744686" cy="2106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E4B427-0A16-99E8-586A-170C7106A6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7159" y="2821994"/>
            <a:ext cx="3357127" cy="2164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7150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715/1000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Live score on a real MSME — 12 months of GST + bank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Data sources fused: Udyam · GST · ITR · AA · MCA</a:t>
            </a:r>
            <a:r>
              <a:rPr lang="en-US" sz="900" dirty="0">
                <a:solidFill>
                  <a:schemeClr val="bg1"/>
                </a:solidFill>
              </a:rPr>
              <a:t> (+ EPFO ready)</a:t>
            </a:r>
            <a:endParaRPr sz="900" dirty="0">
              <a:solidFill>
                <a:schemeClr val="bg1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MSME profiles the LightGBM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373371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FF4800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513165"/>
              </p:ext>
            </p:extLst>
          </p:nvPr>
        </p:nvGraphicFramePr>
        <p:xfrm>
          <a:off x="274320" y="2880000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</a:rPr>
                        <a:t>FinRiskLensAI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5 - Udyam, GST, ITR, AA, MCA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 EPFO ready)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GST-ITR-bank anomaly + MCA / DIN checks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Monitoring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 assessment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Score history + trend on every analysis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Hand-off to the lender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Manual file / PDF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LOS, ULI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/OCEN</a:t>
                      </a:r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 or ONDC payload in one action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Next Data Integrations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EPFO — employee count &amp; PF-remittance regularity (the feature slot is already built)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GST e-invoice / e-way bill signals and CERSAI collateral lookup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ONDC / GeM / UPI merchant-settlement data for micro-enterprises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Monitoring, Fraud &amp; Compliance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Early Warning System on score history — band drop, GST filing lapse, new MCA charge, bounce spike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Sanctions / PEP screening, RBI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DPDP consent ledger across all sources with customer-side revoke &amp; auto-purge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Lending Ecosystem &amp; Integration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Inbound API — JWT + OpenAPI so your LOS pulls a score from us (the outbound case push is already built)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ULI DSP + OCEN certification and a live ONDC subscriber ID; CIBIL / CRIF bureau blend for NTB borrowers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GST-invoice financing and co-lending workflows with NBFC partners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Decision &amp; Governance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Credit-policy console — Approve / Refer / Decline with editable product-wise cut-offs &amp; knock-outs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PDF Credit Appraisal Memo with data-provenance appendix (source, time, consent ID)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Model card &amp; governance page (RBI model-risk); portfolio analytics for IDBI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1730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r>
              <a:rPr lang="en-GB" dirty="0">
                <a:hlinkClick r:id="rId4"/>
              </a:rPr>
              <a:t>https://video.finrisklensai.com</a:t>
            </a:r>
            <a:r>
              <a:rPr lang="en-GB" dirty="0"/>
              <a:t> OR </a:t>
            </a:r>
            <a:r>
              <a:rPr lang="en-GB" dirty="0">
                <a:hlinkClick r:id="rId5"/>
              </a:rPr>
              <a:t>Google Drive Link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6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7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7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5FC94B-16A0-7AA0-B886-A4E00BA27A67}"/>
              </a:ext>
            </a:extLst>
          </p:cNvPr>
          <p:cNvSpPr txBox="1"/>
          <p:nvPr/>
        </p:nvSpPr>
        <p:spPr>
          <a:xfrm>
            <a:off x="292608" y="2743200"/>
            <a:ext cx="85953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000" b="1" dirty="0"/>
              <a:t>Demo accounts — customer login at /Auth/CustLogin (enter email → OTP is shown on screen) · bank portal at /Auth/</a:t>
            </a:r>
            <a:r>
              <a:rPr lang="en-US" sz="1000" b="1" dirty="0" err="1"/>
              <a:t>BankLogin</a:t>
            </a:r>
            <a:r>
              <a:rPr lang="en-US" sz="1000" b="1" dirty="0"/>
              <a:t>,</a:t>
            </a:r>
          </a:p>
          <a:p>
            <a:pPr lvl="0"/>
            <a:endParaRPr lang="en-US" sz="1000" b="1" dirty="0"/>
          </a:p>
          <a:p>
            <a:pPr lvl="0"/>
            <a:endParaRPr lang="en-GB" sz="500" dirty="0"/>
          </a:p>
          <a:p>
            <a:pPr lvl="0"/>
            <a:r>
              <a:rPr lang="en-US" sz="1000" b="1" dirty="0" err="1"/>
              <a:t>shreeji.precision@finrisklens.demo</a:t>
            </a:r>
            <a:r>
              <a:rPr lang="en-US" sz="1000" dirty="0"/>
              <a:t> : UDYAM-MH-20-0091447 · 813 Excellent · Shreeji Precision Components</a:t>
            </a:r>
          </a:p>
          <a:p>
            <a:pPr lvl="0"/>
            <a:r>
              <a:rPr lang="en-US" sz="1000" b="1" dirty="0" err="1"/>
              <a:t>sankalp.autotech@finrisklens.demo</a:t>
            </a:r>
            <a:r>
              <a:rPr lang="en-US" sz="1000" b="1" dirty="0"/>
              <a:t> </a:t>
            </a:r>
            <a:r>
              <a:rPr lang="en-US" sz="1000" dirty="0"/>
              <a:t>: UDYAM-MH-25-0042817 · 806 Excellent · Sankalp Autotech Pvt Ltd (full MCA + DIN)</a:t>
            </a:r>
          </a:p>
          <a:p>
            <a:pPr lvl="0"/>
            <a:r>
              <a:rPr lang="en-US" sz="1000" b="1" dirty="0" err="1"/>
              <a:t>ratnadeep.textiles@finrisklens.demo</a:t>
            </a:r>
            <a:r>
              <a:rPr lang="en-US" sz="1000" dirty="0"/>
              <a:t> : UDYAM-GJ-01-0044219 · 627 Fair · Ratnadeep Textile Traders</a:t>
            </a:r>
          </a:p>
          <a:p>
            <a:r>
              <a:rPr lang="en-US" sz="1000" b="1" dirty="0" err="1"/>
              <a:t>navdeep.autospares@finrisklens.demo</a:t>
            </a:r>
            <a:r>
              <a:rPr lang="en-US" sz="1000" b="1" dirty="0"/>
              <a:t> </a:t>
            </a:r>
            <a:r>
              <a:rPr lang="en-US" sz="1000" dirty="0"/>
              <a:t>: UDYAM-UP-28-0007733 · 376 At Risk · Navdeep Auto Spares</a:t>
            </a:r>
          </a:p>
          <a:p>
            <a:endParaRPr lang="en-GB" sz="500" dirty="0"/>
          </a:p>
          <a:p>
            <a:pPr lvl="0"/>
            <a:r>
              <a:rPr lang="en-US" sz="1000" dirty="0"/>
              <a:t>This together cover the whole score range — approve, judge, and decline — with every data tab populated.</a:t>
            </a:r>
            <a:br>
              <a:rPr lang="en-US" sz="1000" dirty="0"/>
            </a:br>
            <a:br>
              <a:rPr lang="en-US" sz="1000" dirty="0"/>
            </a:br>
            <a:r>
              <a:rPr lang="en-US" sz="1000" dirty="0"/>
              <a:t>Bank Login: User ID : </a:t>
            </a:r>
            <a:r>
              <a:rPr lang="en-US" sz="1000" b="1" dirty="0" err="1"/>
              <a:t>bankadmin</a:t>
            </a:r>
            <a:r>
              <a:rPr lang="en-US" sz="1000" b="1" dirty="0"/>
              <a:t> </a:t>
            </a:r>
            <a:r>
              <a:rPr lang="en-US" sz="1000" dirty="0"/>
              <a:t>|</a:t>
            </a:r>
            <a:r>
              <a:rPr lang="en-US" sz="1000" b="1" dirty="0"/>
              <a:t> </a:t>
            </a:r>
            <a:r>
              <a:rPr lang="en-US" sz="1000" dirty="0"/>
              <a:t>Password : </a:t>
            </a:r>
            <a:r>
              <a:rPr lang="en-US" sz="1000" b="1" dirty="0"/>
              <a:t>Bank@123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2848</Words>
  <Application>Microsoft Office PowerPoint</Application>
  <PresentationFormat>On-screen Show (16:9)</PresentationFormat>
  <Paragraphs>298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6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Abhinav Mukwane</dc:creator>
  <cp:keywords>IDBI Innovate 2026</cp:keywords>
  <cp:lastModifiedBy>Abhinav</cp:lastModifiedBy>
  <cp:revision>102</cp:revision>
  <dcterms:modified xsi:type="dcterms:W3CDTF">2026-09-19T18:44:43Z</dcterms:modified>
</cp:coreProperties>
</file>